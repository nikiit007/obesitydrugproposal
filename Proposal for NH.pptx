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523"/>
            <a:ext cx="12191999" cy="139141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1393190"/>
          </a:xfrm>
          <a:custGeom>
            <a:avLst/>
            <a:gdLst/>
            <a:ahLst/>
            <a:cxnLst/>
            <a:rect l="l" t="t" r="r" b="b"/>
            <a:pathLst>
              <a:path w="12192000" h="1393190">
                <a:moveTo>
                  <a:pt x="12192000" y="0"/>
                </a:moveTo>
                <a:lnTo>
                  <a:pt x="0" y="0"/>
                </a:lnTo>
                <a:lnTo>
                  <a:pt x="0" y="1392936"/>
                </a:lnTo>
                <a:lnTo>
                  <a:pt x="12192000" y="1392936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546A">
              <a:alpha val="7411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28224" y="554094"/>
            <a:ext cx="1686365" cy="32056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803892" y="204215"/>
            <a:ext cx="0" cy="984885"/>
          </a:xfrm>
          <a:custGeom>
            <a:avLst/>
            <a:gdLst/>
            <a:ahLst/>
            <a:cxnLst/>
            <a:rect l="l" t="t" r="r" b="b"/>
            <a:pathLst>
              <a:path w="0" h="984885">
                <a:moveTo>
                  <a:pt x="0" y="0"/>
                </a:moveTo>
                <a:lnTo>
                  <a:pt x="0" y="984376"/>
                </a:lnTo>
              </a:path>
            </a:pathLst>
          </a:custGeom>
          <a:ln w="635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430" y="203072"/>
            <a:ext cx="9029065" cy="952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7769" y="1705991"/>
            <a:ext cx="7272655" cy="4347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41" y="1854454"/>
            <a:ext cx="4333240" cy="2865755"/>
            <a:chOff x="424941" y="1854454"/>
            <a:chExt cx="4333240" cy="2865755"/>
          </a:xfrm>
        </p:grpSpPr>
        <p:sp>
          <p:nvSpPr>
            <p:cNvPr id="3" name="object 3"/>
            <p:cNvSpPr/>
            <p:nvPr/>
          </p:nvSpPr>
          <p:spPr>
            <a:xfrm>
              <a:off x="2570987" y="1860804"/>
              <a:ext cx="2181225" cy="2853055"/>
            </a:xfrm>
            <a:custGeom>
              <a:avLst/>
              <a:gdLst/>
              <a:ahLst/>
              <a:cxnLst/>
              <a:rect l="l" t="t" r="r" b="b"/>
              <a:pathLst>
                <a:path w="2181225" h="2853054">
                  <a:moveTo>
                    <a:pt x="2180843" y="0"/>
                  </a:moveTo>
                  <a:lnTo>
                    <a:pt x="0" y="0"/>
                  </a:lnTo>
                  <a:lnTo>
                    <a:pt x="0" y="2852928"/>
                  </a:lnTo>
                  <a:lnTo>
                    <a:pt x="2180843" y="2852928"/>
                  </a:lnTo>
                  <a:lnTo>
                    <a:pt x="2180843" y="0"/>
                  </a:lnTo>
                  <a:close/>
                </a:path>
              </a:pathLst>
            </a:custGeom>
            <a:solidFill>
              <a:srgbClr val="F2F2F2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70987" y="1860804"/>
              <a:ext cx="2181225" cy="2853055"/>
            </a:xfrm>
            <a:custGeom>
              <a:avLst/>
              <a:gdLst/>
              <a:ahLst/>
              <a:cxnLst/>
              <a:rect l="l" t="t" r="r" b="b"/>
              <a:pathLst>
                <a:path w="2181225" h="2853054">
                  <a:moveTo>
                    <a:pt x="0" y="2852928"/>
                  </a:moveTo>
                  <a:lnTo>
                    <a:pt x="2180843" y="2852928"/>
                  </a:lnTo>
                  <a:lnTo>
                    <a:pt x="2180843" y="0"/>
                  </a:lnTo>
                  <a:lnTo>
                    <a:pt x="0" y="0"/>
                  </a:lnTo>
                  <a:lnTo>
                    <a:pt x="0" y="2852928"/>
                  </a:lnTo>
                  <a:close/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31291" y="2244852"/>
              <a:ext cx="1836420" cy="2153920"/>
            </a:xfrm>
            <a:custGeom>
              <a:avLst/>
              <a:gdLst/>
              <a:ahLst/>
              <a:cxnLst/>
              <a:rect l="l" t="t" r="r" b="b"/>
              <a:pathLst>
                <a:path w="1836420" h="2153920">
                  <a:moveTo>
                    <a:pt x="1836420" y="0"/>
                  </a:moveTo>
                  <a:lnTo>
                    <a:pt x="0" y="0"/>
                  </a:lnTo>
                  <a:lnTo>
                    <a:pt x="0" y="2153412"/>
                  </a:lnTo>
                  <a:lnTo>
                    <a:pt x="1836420" y="2153412"/>
                  </a:lnTo>
                  <a:lnTo>
                    <a:pt x="1836420" y="0"/>
                  </a:lnTo>
                  <a:close/>
                </a:path>
              </a:pathLst>
            </a:custGeom>
            <a:solidFill>
              <a:srgbClr val="F2F2F2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1291" y="2244852"/>
              <a:ext cx="1836420" cy="2153920"/>
            </a:xfrm>
            <a:custGeom>
              <a:avLst/>
              <a:gdLst/>
              <a:ahLst/>
              <a:cxnLst/>
              <a:rect l="l" t="t" r="r" b="b"/>
              <a:pathLst>
                <a:path w="1836420" h="2153920">
                  <a:moveTo>
                    <a:pt x="0" y="2153412"/>
                  </a:moveTo>
                  <a:lnTo>
                    <a:pt x="1836420" y="2153412"/>
                  </a:lnTo>
                  <a:lnTo>
                    <a:pt x="1836420" y="0"/>
                  </a:lnTo>
                  <a:lnTo>
                    <a:pt x="0" y="0"/>
                  </a:lnTo>
                  <a:lnTo>
                    <a:pt x="0" y="2153412"/>
                  </a:lnTo>
                  <a:close/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583" y="3526536"/>
              <a:ext cx="565404" cy="53949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93291" y="2781300"/>
              <a:ext cx="943610" cy="477520"/>
            </a:xfrm>
            <a:custGeom>
              <a:avLst/>
              <a:gdLst/>
              <a:ahLst/>
              <a:cxnLst/>
              <a:rect l="l" t="t" r="r" b="b"/>
              <a:pathLst>
                <a:path w="943610" h="477520">
                  <a:moveTo>
                    <a:pt x="943356" y="0"/>
                  </a:moveTo>
                  <a:lnTo>
                    <a:pt x="0" y="0"/>
                  </a:lnTo>
                  <a:lnTo>
                    <a:pt x="0" y="477012"/>
                  </a:lnTo>
                  <a:lnTo>
                    <a:pt x="943356" y="477012"/>
                  </a:lnTo>
                  <a:lnTo>
                    <a:pt x="94335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65887" y="203072"/>
            <a:ext cx="8921750" cy="94106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Post</a:t>
            </a:r>
            <a:r>
              <a:rPr dirty="0" spc="-70"/>
              <a:t> </a:t>
            </a:r>
            <a:r>
              <a:rPr dirty="0"/>
              <a:t>Pilot,</a:t>
            </a:r>
            <a:r>
              <a:rPr dirty="0" spc="-95"/>
              <a:t> </a:t>
            </a:r>
            <a:r>
              <a:rPr dirty="0"/>
              <a:t>we</a:t>
            </a:r>
            <a:r>
              <a:rPr dirty="0" spc="-60"/>
              <a:t> </a:t>
            </a:r>
            <a:r>
              <a:rPr dirty="0"/>
              <a:t>propose</a:t>
            </a:r>
            <a:r>
              <a:rPr dirty="0" spc="-90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 spc="-200" b="1">
                <a:solidFill>
                  <a:srgbClr val="FFC000"/>
                </a:solidFill>
                <a:latin typeface="Tahoma"/>
                <a:cs typeface="Tahoma"/>
              </a:rPr>
              <a:t>Managed</a:t>
            </a:r>
            <a:r>
              <a:rPr dirty="0" spc="-65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95" b="1">
                <a:solidFill>
                  <a:srgbClr val="FFC000"/>
                </a:solidFill>
                <a:latin typeface="Tahoma"/>
                <a:cs typeface="Tahoma"/>
              </a:rPr>
              <a:t>Services</a:t>
            </a:r>
            <a:r>
              <a:rPr dirty="0" spc="-65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185" b="1">
                <a:solidFill>
                  <a:srgbClr val="FFC000"/>
                </a:solidFill>
                <a:latin typeface="Tahoma"/>
                <a:cs typeface="Tahoma"/>
              </a:rPr>
              <a:t>model</a:t>
            </a:r>
            <a:r>
              <a:rPr dirty="0" spc="-60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this</a:t>
            </a:r>
            <a:r>
              <a:rPr dirty="0" spc="-80"/>
              <a:t> </a:t>
            </a:r>
            <a:r>
              <a:rPr dirty="0" spc="-35"/>
              <a:t>engagement</a:t>
            </a:r>
            <a:r>
              <a:rPr dirty="0" spc="-95"/>
              <a:t> </a:t>
            </a:r>
            <a:r>
              <a:rPr dirty="0"/>
              <a:t>where</a:t>
            </a:r>
            <a:r>
              <a:rPr dirty="0" spc="-75"/>
              <a:t> </a:t>
            </a:r>
            <a:r>
              <a:rPr dirty="0" spc="-25"/>
              <a:t>an </a:t>
            </a:r>
            <a:r>
              <a:rPr dirty="0" spc="-200" b="1">
                <a:solidFill>
                  <a:srgbClr val="FFC000"/>
                </a:solidFill>
                <a:latin typeface="Tahoma"/>
                <a:cs typeface="Tahoma"/>
              </a:rPr>
              <a:t>engagement</a:t>
            </a:r>
            <a:r>
              <a:rPr dirty="0" spc="-70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160" b="1">
                <a:solidFill>
                  <a:srgbClr val="FFC000"/>
                </a:solidFill>
                <a:latin typeface="Tahoma"/>
                <a:cs typeface="Tahoma"/>
              </a:rPr>
              <a:t>lead</a:t>
            </a:r>
            <a:r>
              <a:rPr dirty="0" spc="-45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45"/>
              <a:t>and</a:t>
            </a:r>
            <a:r>
              <a:rPr dirty="0" spc="-90"/>
              <a:t> </a:t>
            </a:r>
            <a:r>
              <a:rPr dirty="0" spc="-165" b="1">
                <a:solidFill>
                  <a:srgbClr val="FFC000"/>
                </a:solidFill>
                <a:latin typeface="Tahoma"/>
                <a:cs typeface="Tahoma"/>
              </a:rPr>
              <a:t>identified</a:t>
            </a:r>
            <a:r>
              <a:rPr dirty="0" spc="-65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140" b="1">
                <a:solidFill>
                  <a:srgbClr val="FFC000"/>
                </a:solidFill>
                <a:latin typeface="Tahoma"/>
                <a:cs typeface="Tahoma"/>
              </a:rPr>
              <a:t>set</a:t>
            </a:r>
            <a:r>
              <a:rPr dirty="0" spc="-30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175" b="1">
                <a:solidFill>
                  <a:srgbClr val="FFC000"/>
                </a:solidFill>
                <a:latin typeface="Tahoma"/>
                <a:cs typeface="Tahoma"/>
              </a:rPr>
              <a:t>of</a:t>
            </a:r>
            <a:r>
              <a:rPr dirty="0" spc="-35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170" b="1">
                <a:solidFill>
                  <a:srgbClr val="FFC000"/>
                </a:solidFill>
                <a:latin typeface="Tahoma"/>
                <a:cs typeface="Tahoma"/>
              </a:rPr>
              <a:t>dedicated</a:t>
            </a:r>
            <a:r>
              <a:rPr dirty="0" spc="-70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 spc="-60" b="1">
                <a:solidFill>
                  <a:srgbClr val="FFC000"/>
                </a:solidFill>
                <a:latin typeface="Tahoma"/>
                <a:cs typeface="Tahoma"/>
              </a:rPr>
              <a:t>FTEs</a:t>
            </a:r>
            <a:r>
              <a:rPr dirty="0" spc="-35" b="1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dirty="0"/>
              <a:t>will</a:t>
            </a:r>
            <a:r>
              <a:rPr dirty="0" spc="-70"/>
              <a:t> </a:t>
            </a:r>
            <a:r>
              <a:rPr dirty="0" spc="-10"/>
              <a:t>support</a:t>
            </a:r>
            <a:r>
              <a:rPr dirty="0" spc="-90"/>
              <a:t> </a:t>
            </a:r>
            <a:r>
              <a:rPr dirty="0" spc="55"/>
              <a:t>NHS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 spc="-25"/>
              <a:t>the </a:t>
            </a:r>
            <a:r>
              <a:rPr dirty="0"/>
              <a:t>end-to-</a:t>
            </a:r>
            <a:r>
              <a:rPr dirty="0" spc="-40"/>
              <a:t>end</a:t>
            </a:r>
            <a:r>
              <a:rPr dirty="0" spc="-5"/>
              <a:t> </a:t>
            </a:r>
            <a:r>
              <a:rPr dirty="0" spc="-25"/>
              <a:t>implementation</a:t>
            </a:r>
            <a:r>
              <a:rPr dirty="0" spc="-30"/>
              <a:t> </a:t>
            </a:r>
            <a:r>
              <a:rPr dirty="0" spc="-35"/>
              <a:t>of</a:t>
            </a:r>
            <a:r>
              <a:rPr dirty="0" spc="5"/>
              <a:t> </a:t>
            </a:r>
            <a:r>
              <a:rPr dirty="0" spc="-35"/>
              <a:t>the</a:t>
            </a:r>
            <a:r>
              <a:rPr dirty="0" spc="5"/>
              <a:t> </a:t>
            </a:r>
            <a:r>
              <a:rPr dirty="0"/>
              <a:t>commercial</a:t>
            </a:r>
            <a:r>
              <a:rPr dirty="0" spc="-30"/>
              <a:t> </a:t>
            </a:r>
            <a:r>
              <a:rPr dirty="0"/>
              <a:t>intelligence</a:t>
            </a:r>
            <a:r>
              <a:rPr dirty="0" spc="-25"/>
              <a:t> </a:t>
            </a:r>
            <a:r>
              <a:rPr dirty="0" spc="-10"/>
              <a:t>solutions.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71777" y="2838069"/>
            <a:ext cx="71501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595959"/>
                </a:solidFill>
                <a:latin typeface="Tahoma"/>
                <a:cs typeface="Tahoma"/>
              </a:rPr>
              <a:t>Steering </a:t>
            </a:r>
            <a:r>
              <a:rPr dirty="0" sz="1100" spc="-85" b="1">
                <a:solidFill>
                  <a:srgbClr val="595959"/>
                </a:solidFill>
                <a:latin typeface="Tahoma"/>
                <a:cs typeface="Tahoma"/>
              </a:rPr>
              <a:t>Committee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99388" y="3546347"/>
            <a:ext cx="937260" cy="477520"/>
          </a:xfrm>
          <a:custGeom>
            <a:avLst/>
            <a:gdLst/>
            <a:ahLst/>
            <a:cxnLst/>
            <a:rect l="l" t="t" r="r" b="b"/>
            <a:pathLst>
              <a:path w="937260" h="477520">
                <a:moveTo>
                  <a:pt x="937260" y="0"/>
                </a:moveTo>
                <a:lnTo>
                  <a:pt x="0" y="0"/>
                </a:lnTo>
                <a:lnTo>
                  <a:pt x="0" y="477012"/>
                </a:lnTo>
                <a:lnTo>
                  <a:pt x="937260" y="477012"/>
                </a:lnTo>
                <a:lnTo>
                  <a:pt x="93726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78763" y="3687317"/>
            <a:ext cx="7797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0" b="1">
                <a:solidFill>
                  <a:srgbClr val="595959"/>
                </a:solidFill>
                <a:latin typeface="Tahoma"/>
                <a:cs typeface="Tahoma"/>
              </a:rPr>
              <a:t>Project</a:t>
            </a:r>
            <a:r>
              <a:rPr dirty="0" sz="11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5" b="1">
                <a:solidFill>
                  <a:srgbClr val="595959"/>
                </a:solidFill>
                <a:latin typeface="Tahoma"/>
                <a:cs typeface="Tahoma"/>
              </a:rPr>
              <a:t>PoC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7680" y="2329052"/>
            <a:ext cx="4180204" cy="2094864"/>
            <a:chOff x="487680" y="2329052"/>
            <a:chExt cx="4180204" cy="2094864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680" y="2691384"/>
              <a:ext cx="565404" cy="5669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48534" y="2338577"/>
              <a:ext cx="1910080" cy="1301750"/>
            </a:xfrm>
            <a:custGeom>
              <a:avLst/>
              <a:gdLst/>
              <a:ahLst/>
              <a:cxnLst/>
              <a:rect l="l" t="t" r="r" b="b"/>
              <a:pathLst>
                <a:path w="1910079" h="1301750">
                  <a:moveTo>
                    <a:pt x="1909571" y="0"/>
                  </a:moveTo>
                  <a:lnTo>
                    <a:pt x="0" y="0"/>
                  </a:lnTo>
                  <a:lnTo>
                    <a:pt x="0" y="1301496"/>
                  </a:lnTo>
                  <a:lnTo>
                    <a:pt x="1909571" y="1301496"/>
                  </a:lnTo>
                  <a:lnTo>
                    <a:pt x="190957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8534" y="2338577"/>
              <a:ext cx="1910080" cy="1301750"/>
            </a:xfrm>
            <a:custGeom>
              <a:avLst/>
              <a:gdLst/>
              <a:ahLst/>
              <a:cxnLst/>
              <a:rect l="l" t="t" r="r" b="b"/>
              <a:pathLst>
                <a:path w="1910079" h="1301750">
                  <a:moveTo>
                    <a:pt x="0" y="1301496"/>
                  </a:moveTo>
                  <a:lnTo>
                    <a:pt x="1909571" y="1301496"/>
                  </a:lnTo>
                  <a:lnTo>
                    <a:pt x="1909571" y="0"/>
                  </a:lnTo>
                  <a:lnTo>
                    <a:pt x="0" y="0"/>
                  </a:lnTo>
                  <a:lnTo>
                    <a:pt x="0" y="1301496"/>
                  </a:lnTo>
                  <a:close/>
                </a:path>
              </a:pathLst>
            </a:custGeom>
            <a:ln w="19050">
              <a:solidFill>
                <a:srgbClr val="4472C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44546" y="2967990"/>
              <a:ext cx="1668780" cy="1446530"/>
            </a:xfrm>
            <a:custGeom>
              <a:avLst/>
              <a:gdLst/>
              <a:ahLst/>
              <a:cxnLst/>
              <a:rect l="l" t="t" r="r" b="b"/>
              <a:pathLst>
                <a:path w="1668779" h="1446529">
                  <a:moveTo>
                    <a:pt x="1668780" y="0"/>
                  </a:moveTo>
                  <a:lnTo>
                    <a:pt x="0" y="0"/>
                  </a:lnTo>
                  <a:lnTo>
                    <a:pt x="0" y="1446275"/>
                  </a:lnTo>
                  <a:lnTo>
                    <a:pt x="1668780" y="1446275"/>
                  </a:lnTo>
                  <a:lnTo>
                    <a:pt x="166878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844546" y="2967990"/>
              <a:ext cx="1668780" cy="1446530"/>
            </a:xfrm>
            <a:custGeom>
              <a:avLst/>
              <a:gdLst/>
              <a:ahLst/>
              <a:cxnLst/>
              <a:rect l="l" t="t" r="r" b="b"/>
              <a:pathLst>
                <a:path w="1668779" h="1446529">
                  <a:moveTo>
                    <a:pt x="0" y="1446275"/>
                  </a:moveTo>
                  <a:lnTo>
                    <a:pt x="1668780" y="1446275"/>
                  </a:lnTo>
                  <a:lnTo>
                    <a:pt x="1668780" y="0"/>
                  </a:lnTo>
                  <a:lnTo>
                    <a:pt x="0" y="0"/>
                  </a:lnTo>
                  <a:lnTo>
                    <a:pt x="0" y="1446275"/>
                  </a:lnTo>
                  <a:close/>
                </a:path>
              </a:pathLst>
            </a:custGeom>
            <a:ln w="19050">
              <a:solidFill>
                <a:srgbClr val="ED7D31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9027" y="2341626"/>
            <a:ext cx="1040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NHS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85235" y="2527807"/>
            <a:ext cx="11277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5" b="1">
                <a:solidFill>
                  <a:srgbClr val="595959"/>
                </a:solidFill>
                <a:latin typeface="Tahoma"/>
                <a:cs typeface="Tahoma"/>
              </a:rPr>
              <a:t>Account</a:t>
            </a:r>
            <a:r>
              <a:rPr dirty="0" sz="1100" spc="-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65" b="1">
                <a:solidFill>
                  <a:srgbClr val="595959"/>
                </a:solidFill>
                <a:latin typeface="Tahoma"/>
                <a:cs typeface="Tahoma"/>
              </a:rPr>
              <a:t>Manager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18153" y="3083432"/>
            <a:ext cx="81534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1460" marR="5080" indent="-239395">
              <a:lnSpc>
                <a:spcPct val="100000"/>
              </a:lnSpc>
              <a:spcBef>
                <a:spcPts val="105"/>
              </a:spcBef>
            </a:pPr>
            <a:r>
              <a:rPr dirty="0" sz="1100" spc="-80" b="1">
                <a:solidFill>
                  <a:srgbClr val="595959"/>
                </a:solidFill>
                <a:latin typeface="Tahoma"/>
                <a:cs typeface="Tahoma"/>
              </a:rPr>
              <a:t>Engagement </a:t>
            </a:r>
            <a:r>
              <a:rPr dirty="0" sz="1100" spc="-20" b="1">
                <a:solidFill>
                  <a:srgbClr val="595959"/>
                </a:solidFill>
                <a:latin typeface="Tahoma"/>
                <a:cs typeface="Tahoma"/>
              </a:rPr>
              <a:t>Lead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42260" y="2485644"/>
            <a:ext cx="1193800" cy="1324610"/>
            <a:chOff x="2842260" y="2485644"/>
            <a:chExt cx="1193800" cy="132461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2260" y="2485644"/>
              <a:ext cx="355092" cy="31089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3784" y="3156204"/>
              <a:ext cx="356616" cy="31242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794760" y="3450336"/>
              <a:ext cx="241300" cy="360045"/>
            </a:xfrm>
            <a:custGeom>
              <a:avLst/>
              <a:gdLst/>
              <a:ahLst/>
              <a:cxnLst/>
              <a:rect l="l" t="t" r="r" b="b"/>
              <a:pathLst>
                <a:path w="241300" h="360045">
                  <a:moveTo>
                    <a:pt x="120395" y="0"/>
                  </a:moveTo>
                  <a:lnTo>
                    <a:pt x="0" y="120396"/>
                  </a:lnTo>
                  <a:lnTo>
                    <a:pt x="60198" y="120396"/>
                  </a:lnTo>
                  <a:lnTo>
                    <a:pt x="60198" y="239268"/>
                  </a:lnTo>
                  <a:lnTo>
                    <a:pt x="0" y="239268"/>
                  </a:lnTo>
                  <a:lnTo>
                    <a:pt x="120395" y="359663"/>
                  </a:lnTo>
                  <a:lnTo>
                    <a:pt x="240791" y="239268"/>
                  </a:lnTo>
                  <a:lnTo>
                    <a:pt x="180593" y="239268"/>
                  </a:lnTo>
                  <a:lnTo>
                    <a:pt x="180593" y="120396"/>
                  </a:lnTo>
                  <a:lnTo>
                    <a:pt x="240791" y="120396"/>
                  </a:lnTo>
                  <a:lnTo>
                    <a:pt x="120395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528059" y="3845052"/>
          <a:ext cx="1003300" cy="39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6465"/>
              </a:tblGrid>
              <a:tr h="197485">
                <a:tc>
                  <a:txBody>
                    <a:bodyPr/>
                    <a:lstStyle/>
                    <a:p>
                      <a:pPr algn="ctr" marL="1270">
                        <a:lnSpc>
                          <a:spcPts val="1225"/>
                        </a:lnSpc>
                        <a:spcBef>
                          <a:spcPts val="229"/>
                        </a:spcBef>
                      </a:pPr>
                      <a:r>
                        <a:rPr dirty="0" sz="1100" spc="-10" b="1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Dedicated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29209">
                    <a:solidFill>
                      <a:srgbClr val="FFD966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100" spc="-65" b="1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FTE</a:t>
                      </a:r>
                      <a:r>
                        <a:rPr dirty="0" sz="1100" spc="-15" b="1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Team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grpSp>
        <p:nvGrpSpPr>
          <p:cNvPr id="27" name="object 27"/>
          <p:cNvGrpSpPr/>
          <p:nvPr/>
        </p:nvGrpSpPr>
        <p:grpSpPr>
          <a:xfrm>
            <a:off x="2166873" y="2951733"/>
            <a:ext cx="1315720" cy="1270000"/>
            <a:chOff x="2166873" y="2951733"/>
            <a:chExt cx="1315720" cy="127000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9503" y="3933444"/>
              <a:ext cx="327660" cy="28803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4679" y="3933444"/>
              <a:ext cx="327659" cy="28803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173223" y="2958083"/>
              <a:ext cx="498475" cy="725805"/>
            </a:xfrm>
            <a:custGeom>
              <a:avLst/>
              <a:gdLst/>
              <a:ahLst/>
              <a:cxnLst/>
              <a:rect l="l" t="t" r="r" b="b"/>
              <a:pathLst>
                <a:path w="498475" h="725804">
                  <a:moveTo>
                    <a:pt x="249174" y="0"/>
                  </a:moveTo>
                  <a:lnTo>
                    <a:pt x="249174" y="181355"/>
                  </a:lnTo>
                  <a:lnTo>
                    <a:pt x="0" y="181355"/>
                  </a:lnTo>
                  <a:lnTo>
                    <a:pt x="0" y="544067"/>
                  </a:lnTo>
                  <a:lnTo>
                    <a:pt x="249174" y="544067"/>
                  </a:lnTo>
                  <a:lnTo>
                    <a:pt x="249174" y="725423"/>
                  </a:lnTo>
                  <a:lnTo>
                    <a:pt x="498348" y="3627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173223" y="2958083"/>
              <a:ext cx="498475" cy="725805"/>
            </a:xfrm>
            <a:custGeom>
              <a:avLst/>
              <a:gdLst/>
              <a:ahLst/>
              <a:cxnLst/>
              <a:rect l="l" t="t" r="r" b="b"/>
              <a:pathLst>
                <a:path w="498475" h="725804">
                  <a:moveTo>
                    <a:pt x="0" y="181355"/>
                  </a:moveTo>
                  <a:lnTo>
                    <a:pt x="249174" y="181355"/>
                  </a:lnTo>
                  <a:lnTo>
                    <a:pt x="249174" y="0"/>
                  </a:lnTo>
                  <a:lnTo>
                    <a:pt x="498348" y="362712"/>
                  </a:lnTo>
                  <a:lnTo>
                    <a:pt x="249174" y="725423"/>
                  </a:lnTo>
                  <a:lnTo>
                    <a:pt x="249174" y="544067"/>
                  </a:lnTo>
                  <a:lnTo>
                    <a:pt x="0" y="544067"/>
                  </a:lnTo>
                  <a:lnTo>
                    <a:pt x="0" y="18135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5013705" y="1813432"/>
            <a:ext cx="4909185" cy="3467100"/>
            <a:chOff x="5013705" y="1813432"/>
            <a:chExt cx="4909185" cy="3467100"/>
          </a:xfrm>
        </p:grpSpPr>
        <p:sp>
          <p:nvSpPr>
            <p:cNvPr id="33" name="object 33"/>
            <p:cNvSpPr/>
            <p:nvPr/>
          </p:nvSpPr>
          <p:spPr>
            <a:xfrm>
              <a:off x="5032247" y="1816607"/>
              <a:ext cx="4887595" cy="3460750"/>
            </a:xfrm>
            <a:custGeom>
              <a:avLst/>
              <a:gdLst/>
              <a:ahLst/>
              <a:cxnLst/>
              <a:rect l="l" t="t" r="r" b="b"/>
              <a:pathLst>
                <a:path w="4887595" h="3460750">
                  <a:moveTo>
                    <a:pt x="0" y="3116579"/>
                  </a:moveTo>
                  <a:lnTo>
                    <a:pt x="0" y="3345687"/>
                  </a:lnTo>
                </a:path>
                <a:path w="4887595" h="3460750">
                  <a:moveTo>
                    <a:pt x="0" y="0"/>
                  </a:moveTo>
                  <a:lnTo>
                    <a:pt x="0" y="323088"/>
                  </a:lnTo>
                </a:path>
                <a:path w="4887595" h="3460750">
                  <a:moveTo>
                    <a:pt x="338327" y="3116579"/>
                  </a:moveTo>
                  <a:lnTo>
                    <a:pt x="338327" y="3368548"/>
                  </a:lnTo>
                </a:path>
                <a:path w="4887595" h="3460750">
                  <a:moveTo>
                    <a:pt x="338327" y="22859"/>
                  </a:moveTo>
                  <a:lnTo>
                    <a:pt x="338327" y="323088"/>
                  </a:lnTo>
                </a:path>
                <a:path w="4887595" h="3460750">
                  <a:moveTo>
                    <a:pt x="2808731" y="71627"/>
                  </a:moveTo>
                  <a:lnTo>
                    <a:pt x="2808731" y="3368293"/>
                  </a:lnTo>
                </a:path>
                <a:path w="4887595" h="3460750">
                  <a:moveTo>
                    <a:pt x="4887468" y="71627"/>
                  </a:moveTo>
                  <a:lnTo>
                    <a:pt x="4887468" y="3460623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020055" y="2139695"/>
              <a:ext cx="364490" cy="2794000"/>
            </a:xfrm>
            <a:custGeom>
              <a:avLst/>
              <a:gdLst/>
              <a:ahLst/>
              <a:cxnLst/>
              <a:rect l="l" t="t" r="r" b="b"/>
              <a:pathLst>
                <a:path w="364489" h="2794000">
                  <a:moveTo>
                    <a:pt x="364236" y="0"/>
                  </a:moveTo>
                  <a:lnTo>
                    <a:pt x="0" y="0"/>
                  </a:lnTo>
                  <a:lnTo>
                    <a:pt x="0" y="2793491"/>
                  </a:lnTo>
                  <a:lnTo>
                    <a:pt x="364236" y="2793491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020055" y="2139695"/>
              <a:ext cx="364490" cy="2794000"/>
            </a:xfrm>
            <a:custGeom>
              <a:avLst/>
              <a:gdLst/>
              <a:ahLst/>
              <a:cxnLst/>
              <a:rect l="l" t="t" r="r" b="b"/>
              <a:pathLst>
                <a:path w="364489" h="2794000">
                  <a:moveTo>
                    <a:pt x="0" y="2793491"/>
                  </a:moveTo>
                  <a:lnTo>
                    <a:pt x="364236" y="2793491"/>
                  </a:lnTo>
                  <a:lnTo>
                    <a:pt x="364236" y="0"/>
                  </a:lnTo>
                  <a:lnTo>
                    <a:pt x="0" y="0"/>
                  </a:lnTo>
                  <a:lnTo>
                    <a:pt x="0" y="279349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/>
          <p:nvPr/>
        </p:nvSpPr>
        <p:spPr>
          <a:xfrm>
            <a:off x="12016740" y="1860804"/>
            <a:ext cx="0" cy="4578985"/>
          </a:xfrm>
          <a:custGeom>
            <a:avLst/>
            <a:gdLst/>
            <a:ahLst/>
            <a:cxnLst/>
            <a:rect l="l" t="t" r="r" b="b"/>
            <a:pathLst>
              <a:path w="0" h="4578985">
                <a:moveTo>
                  <a:pt x="0" y="0"/>
                </a:moveTo>
                <a:lnTo>
                  <a:pt x="0" y="4578718"/>
                </a:lnTo>
              </a:path>
            </a:pathLst>
          </a:custGeom>
          <a:ln w="63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91437" y="5699252"/>
            <a:ext cx="4730750" cy="450850"/>
          </a:xfrm>
          <a:custGeom>
            <a:avLst/>
            <a:gdLst/>
            <a:ahLst/>
            <a:cxnLst/>
            <a:rect l="l" t="t" r="r" b="b"/>
            <a:pathLst>
              <a:path w="4730750" h="450850">
                <a:moveTo>
                  <a:pt x="0" y="0"/>
                </a:moveTo>
                <a:lnTo>
                  <a:pt x="4730318" y="0"/>
                </a:lnTo>
              </a:path>
              <a:path w="4730750" h="450850">
                <a:moveTo>
                  <a:pt x="0" y="450418"/>
                </a:moveTo>
                <a:lnTo>
                  <a:pt x="4730318" y="450418"/>
                </a:lnTo>
              </a:path>
            </a:pathLst>
          </a:custGeom>
          <a:ln w="12700">
            <a:solidFill>
              <a:srgbClr val="BFBFB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65887" y="5739790"/>
            <a:ext cx="8445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C4A1A"/>
                </a:solidFill>
                <a:latin typeface="Tahoma"/>
                <a:cs typeface="Tahoma"/>
              </a:rPr>
              <a:t>Our </a:t>
            </a:r>
            <a:r>
              <a:rPr dirty="0" sz="1200" spc="-85" b="1">
                <a:solidFill>
                  <a:srgbClr val="FC4A1A"/>
                </a:solidFill>
                <a:latin typeface="Tahoma"/>
                <a:cs typeface="Tahoma"/>
              </a:rPr>
              <a:t>Governance </a:t>
            </a:r>
            <a:r>
              <a:rPr dirty="0" sz="1200" spc="-10" b="1">
                <a:solidFill>
                  <a:srgbClr val="FC4A1A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89022" y="5419471"/>
            <a:ext cx="14122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70" b="1">
                <a:solidFill>
                  <a:srgbClr val="090979"/>
                </a:solidFill>
                <a:latin typeface="Tahoma"/>
                <a:cs typeface="Tahoma"/>
              </a:rPr>
              <a:t>Governance</a:t>
            </a:r>
            <a:r>
              <a:rPr dirty="0" sz="1100" spc="-10" b="1">
                <a:solidFill>
                  <a:srgbClr val="090979"/>
                </a:solidFill>
                <a:latin typeface="Tahoma"/>
                <a:cs typeface="Tahoma"/>
              </a:rPr>
              <a:t> </a:t>
            </a:r>
            <a:r>
              <a:rPr dirty="0" sz="1100" spc="-85" b="1">
                <a:solidFill>
                  <a:srgbClr val="090979"/>
                </a:solidFill>
                <a:latin typeface="Tahoma"/>
                <a:cs typeface="Tahoma"/>
              </a:rPr>
              <a:t>between?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56226" y="5419471"/>
            <a:ext cx="5683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090979"/>
                </a:solidFill>
                <a:latin typeface="Tahoma"/>
                <a:cs typeface="Tahoma"/>
              </a:rPr>
              <a:t>Artifacts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70253" y="5744057"/>
            <a:ext cx="77597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65" b="1">
                <a:solidFill>
                  <a:srgbClr val="090979"/>
                </a:solidFill>
                <a:latin typeface="Tahoma"/>
                <a:cs typeface="Tahoma"/>
              </a:rPr>
              <a:t>Operational </a:t>
            </a:r>
            <a:r>
              <a:rPr dirty="0" sz="1100" spc="-75" b="1">
                <a:solidFill>
                  <a:srgbClr val="090979"/>
                </a:solidFill>
                <a:latin typeface="Tahoma"/>
                <a:cs typeface="Tahoma"/>
              </a:rPr>
              <a:t>Governance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09241" y="5751677"/>
            <a:ext cx="177228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10">
                <a:solidFill>
                  <a:srgbClr val="404040"/>
                </a:solidFill>
                <a:latin typeface="Tahoma"/>
                <a:cs typeface="Tahoma"/>
              </a:rPr>
              <a:t>Project</a:t>
            </a:r>
            <a:r>
              <a:rPr dirty="0" sz="1050" spc="-3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404040"/>
                </a:solidFill>
                <a:latin typeface="Tahoma"/>
                <a:cs typeface="Tahoma"/>
              </a:rPr>
              <a:t>Lead</a:t>
            </a:r>
            <a:r>
              <a:rPr dirty="0" sz="1050" spc="2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404040"/>
                </a:solidFill>
                <a:latin typeface="Tahoma"/>
                <a:cs typeface="Tahoma"/>
              </a:rPr>
              <a:t>at</a:t>
            </a:r>
            <a:r>
              <a:rPr dirty="0" sz="1050" spc="2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404040"/>
                </a:solidFill>
                <a:latin typeface="Tahoma"/>
                <a:cs typeface="Tahoma"/>
              </a:rPr>
              <a:t>Quantzig</a:t>
            </a:r>
            <a:r>
              <a:rPr dirty="0" sz="1050" spc="-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dirty="0" sz="1050" spc="7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client’s</a:t>
            </a:r>
            <a:r>
              <a:rPr dirty="0" sz="1050" spc="6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internal</a:t>
            </a:r>
            <a:r>
              <a:rPr dirty="0" sz="1050" spc="7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04040"/>
                </a:solidFill>
                <a:latin typeface="Tahoma"/>
                <a:cs typeface="Tahoma"/>
              </a:rPr>
              <a:t>team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38269" y="5751677"/>
            <a:ext cx="99250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Weekly</a:t>
            </a:r>
            <a:r>
              <a:rPr dirty="0" sz="1050" spc="-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04040"/>
                </a:solidFill>
                <a:latin typeface="Tahoma"/>
                <a:cs typeface="Tahoma"/>
              </a:rPr>
              <a:t>reviews, </a:t>
            </a:r>
            <a:r>
              <a:rPr dirty="0" sz="1050" spc="10">
                <a:solidFill>
                  <a:srgbClr val="404040"/>
                </a:solidFill>
                <a:latin typeface="Tahoma"/>
                <a:cs typeface="Tahoma"/>
              </a:rPr>
              <a:t>Project</a:t>
            </a:r>
            <a:r>
              <a:rPr dirty="0" sz="1050" spc="9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04040"/>
                </a:solidFill>
                <a:latin typeface="Tahoma"/>
                <a:cs typeface="Tahoma"/>
              </a:rPr>
              <a:t>Tracker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70253" y="6254902"/>
            <a:ext cx="815340" cy="361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75" b="1">
                <a:solidFill>
                  <a:srgbClr val="090979"/>
                </a:solidFill>
                <a:latin typeface="Tahoma"/>
                <a:cs typeface="Tahoma"/>
              </a:rPr>
              <a:t>Engagement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35" b="1">
                <a:solidFill>
                  <a:srgbClr val="090979"/>
                </a:solidFill>
                <a:latin typeface="Tahoma"/>
                <a:cs typeface="Tahoma"/>
              </a:rPr>
              <a:t>Governance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09241" y="6182664"/>
            <a:ext cx="174117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Delivery</a:t>
            </a:r>
            <a:r>
              <a:rPr dirty="0" sz="1050" spc="3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Lead,</a:t>
            </a:r>
            <a:r>
              <a:rPr dirty="0" sz="1050" spc="5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04040"/>
                </a:solidFill>
                <a:latin typeface="Tahoma"/>
                <a:cs typeface="Tahoma"/>
              </a:rPr>
              <a:t>Account </a:t>
            </a: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Manager</a:t>
            </a:r>
            <a:r>
              <a:rPr dirty="0" sz="1050" spc="4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Manager</a:t>
            </a:r>
            <a:r>
              <a:rPr dirty="0" sz="1050" spc="2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dirty="0" sz="1050" spc="5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04040"/>
                </a:solidFill>
                <a:latin typeface="Tahoma"/>
                <a:cs typeface="Tahoma"/>
              </a:rPr>
              <a:t>client </a:t>
            </a:r>
            <a:r>
              <a:rPr dirty="0" sz="1050" spc="-25">
                <a:solidFill>
                  <a:srgbClr val="404040"/>
                </a:solidFill>
                <a:latin typeface="Tahoma"/>
                <a:cs typeface="Tahoma"/>
              </a:rPr>
              <a:t>PoC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38269" y="6262522"/>
            <a:ext cx="113347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Monthly</a:t>
            </a:r>
            <a:r>
              <a:rPr dirty="0" sz="1050" spc="7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reviews</a:t>
            </a:r>
            <a:r>
              <a:rPr dirty="0" sz="1050" spc="6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04040"/>
                </a:solidFill>
                <a:latin typeface="Tahoma"/>
                <a:cs typeface="Tahoma"/>
              </a:rPr>
              <a:t>&amp;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404040"/>
                </a:solidFill>
                <a:latin typeface="Tahoma"/>
                <a:cs typeface="Tahoma"/>
              </a:rPr>
              <a:t>Quality</a:t>
            </a:r>
            <a:r>
              <a:rPr dirty="0" sz="1050" spc="1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04040"/>
                </a:solidFill>
                <a:latin typeface="Tahoma"/>
                <a:cs typeface="Tahoma"/>
              </a:rPr>
              <a:t>Tracker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58495" y="5276088"/>
            <a:ext cx="6443980" cy="1485900"/>
          </a:xfrm>
          <a:custGeom>
            <a:avLst/>
            <a:gdLst/>
            <a:ahLst/>
            <a:cxnLst/>
            <a:rect l="l" t="t" r="r" b="b"/>
            <a:pathLst>
              <a:path w="6443980" h="1485900">
                <a:moveTo>
                  <a:pt x="0" y="97409"/>
                </a:moveTo>
                <a:lnTo>
                  <a:pt x="7656" y="59471"/>
                </a:lnTo>
                <a:lnTo>
                  <a:pt x="28536" y="28511"/>
                </a:lnTo>
                <a:lnTo>
                  <a:pt x="59503" y="7647"/>
                </a:lnTo>
                <a:lnTo>
                  <a:pt x="97421" y="0"/>
                </a:lnTo>
                <a:lnTo>
                  <a:pt x="6346062" y="0"/>
                </a:lnTo>
                <a:lnTo>
                  <a:pt x="6384000" y="7647"/>
                </a:lnTo>
                <a:lnTo>
                  <a:pt x="6414960" y="28511"/>
                </a:lnTo>
                <a:lnTo>
                  <a:pt x="6435824" y="59471"/>
                </a:lnTo>
                <a:lnTo>
                  <a:pt x="6443472" y="97409"/>
                </a:lnTo>
                <a:lnTo>
                  <a:pt x="6443472" y="1388465"/>
                </a:lnTo>
                <a:lnTo>
                  <a:pt x="6435824" y="1426390"/>
                </a:lnTo>
                <a:lnTo>
                  <a:pt x="6414960" y="1457360"/>
                </a:lnTo>
                <a:lnTo>
                  <a:pt x="6384000" y="1478241"/>
                </a:lnTo>
                <a:lnTo>
                  <a:pt x="6346062" y="1485898"/>
                </a:lnTo>
                <a:lnTo>
                  <a:pt x="97421" y="1485898"/>
                </a:lnTo>
                <a:lnTo>
                  <a:pt x="59503" y="1478241"/>
                </a:lnTo>
                <a:lnTo>
                  <a:pt x="28536" y="1457360"/>
                </a:lnTo>
                <a:lnTo>
                  <a:pt x="7656" y="1426390"/>
                </a:lnTo>
                <a:lnTo>
                  <a:pt x="0" y="1388465"/>
                </a:lnTo>
                <a:lnTo>
                  <a:pt x="0" y="97409"/>
                </a:lnTo>
                <a:close/>
              </a:path>
            </a:pathLst>
          </a:custGeom>
          <a:ln w="12699">
            <a:solidFill>
              <a:srgbClr val="A6A6A6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619369" y="2006346"/>
            <a:ext cx="20123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KICKOFF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&amp;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CONTEXUALIZATION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19369" y="2372105"/>
            <a:ext cx="19792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Roadmap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documentation Objectives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documentation </a:t>
            </a:r>
            <a:r>
              <a:rPr dirty="0" sz="1200">
                <a:latin typeface="Calibri"/>
                <a:cs typeface="Calibri"/>
              </a:rPr>
              <a:t>Milestone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goals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agreement Architectural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discussions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19369" y="3469640"/>
            <a:ext cx="156210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Engagement</a:t>
            </a:r>
            <a:r>
              <a:rPr dirty="0" sz="1200">
                <a:latin typeface="Calibri"/>
                <a:cs typeface="Calibri"/>
              </a:rPr>
              <a:t> and </a:t>
            </a:r>
            <a:r>
              <a:rPr dirty="0" sz="1200" spc="-20">
                <a:latin typeface="Calibri"/>
                <a:cs typeface="Calibri"/>
              </a:rPr>
              <a:t>scrum </a:t>
            </a:r>
            <a:r>
              <a:rPr dirty="0" sz="1200">
                <a:latin typeface="Calibri"/>
                <a:cs typeface="Calibri"/>
              </a:rPr>
              <a:t>frequency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agreement Communication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protocol agreement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19369" y="4384294"/>
            <a:ext cx="1480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setup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discussion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28005" y="2681079"/>
            <a:ext cx="177800" cy="17132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DEPLOYMENT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2-4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Weeks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967853" y="2006346"/>
            <a:ext cx="1066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WEEKLY</a:t>
            </a:r>
            <a:r>
              <a:rPr dirty="0" sz="1200" spc="-10" b="1">
                <a:latin typeface="Calibri"/>
                <a:cs typeface="Calibri"/>
              </a:rPr>
              <a:t> REVIEW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967853" y="2372105"/>
            <a:ext cx="170815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Weekly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prioritization Weekly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productivity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review </a:t>
            </a:r>
            <a:r>
              <a:rPr dirty="0" sz="1200">
                <a:latin typeface="Calibri"/>
                <a:cs typeface="Calibri"/>
              </a:rPr>
              <a:t>Backlog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967853" y="3469640"/>
            <a:ext cx="11709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ARTIFACTS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tracker Resourcing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tracker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070718" y="2006346"/>
            <a:ext cx="1666239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56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MONTHLY </a:t>
            </a:r>
            <a:r>
              <a:rPr dirty="0" sz="1200" spc="-10" b="1">
                <a:latin typeface="Calibri"/>
                <a:cs typeface="Calibri"/>
              </a:rPr>
              <a:t>BUSINESS </a:t>
            </a:r>
            <a:r>
              <a:rPr dirty="0" sz="1200" b="1">
                <a:latin typeface="Calibri"/>
                <a:cs typeface="Calibri"/>
              </a:rPr>
              <a:t>REVIEW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/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QBR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Roadmap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ideas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technologies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solutions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overview,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new </a:t>
            </a:r>
            <a:r>
              <a:rPr dirty="0" sz="1200" spc="-10">
                <a:latin typeface="Calibri"/>
                <a:cs typeface="Calibri"/>
              </a:rPr>
              <a:t>innovations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 </a:t>
            </a:r>
            <a:r>
              <a:rPr dirty="0" sz="1200" spc="-10">
                <a:latin typeface="Calibri"/>
                <a:cs typeface="Calibri"/>
              </a:rPr>
              <a:t>Quantzig </a:t>
            </a:r>
            <a:r>
              <a:rPr dirty="0" sz="1200">
                <a:latin typeface="Calibri"/>
                <a:cs typeface="Calibri"/>
              </a:rPr>
              <a:t>thought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leadership </a:t>
            </a:r>
            <a:r>
              <a:rPr dirty="0" sz="1200" spc="-20">
                <a:latin typeface="Calibri"/>
                <a:cs typeface="Calibri"/>
              </a:rPr>
              <a:t>team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070718" y="3469640"/>
            <a:ext cx="11537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ARTIFACTS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Roadmap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Tracker Innovation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tracker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0763122" y="5704459"/>
            <a:ext cx="0" cy="960755"/>
          </a:xfrm>
          <a:custGeom>
            <a:avLst/>
            <a:gdLst/>
            <a:ahLst/>
            <a:cxnLst/>
            <a:rect l="l" t="t" r="r" b="b"/>
            <a:pathLst>
              <a:path w="0" h="960754">
                <a:moveTo>
                  <a:pt x="0" y="0"/>
                </a:moveTo>
                <a:lnTo>
                  <a:pt x="0" y="960691"/>
                </a:lnTo>
              </a:path>
            </a:pathLst>
          </a:custGeom>
          <a:ln w="12700">
            <a:solidFill>
              <a:srgbClr val="BFBFB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907530" y="5752896"/>
            <a:ext cx="3631565" cy="864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1100" spc="-10">
                <a:solidFill>
                  <a:srgbClr val="404040"/>
                </a:solidFill>
                <a:latin typeface="Tahoma"/>
                <a:cs typeface="Tahoma"/>
              </a:rPr>
              <a:t>We</a:t>
            </a:r>
            <a:r>
              <a:rPr dirty="0" sz="1100" spc="1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highly</a:t>
            </a:r>
            <a:r>
              <a:rPr dirty="0" sz="1100" spc="2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respect</a:t>
            </a:r>
            <a:r>
              <a:rPr dirty="0" sz="1100" spc="2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your</a:t>
            </a:r>
            <a:r>
              <a:rPr dirty="0" sz="1100" spc="4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data</a:t>
            </a:r>
            <a:r>
              <a:rPr dirty="0" sz="1100" spc="2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security</a:t>
            </a:r>
            <a:r>
              <a:rPr dirty="0" sz="1100" spc="1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concerns,</a:t>
            </a:r>
            <a:r>
              <a:rPr dirty="0" sz="1100" spc="2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dirty="0" sz="1100" spc="2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04040"/>
                </a:solidFill>
                <a:latin typeface="Tahoma"/>
                <a:cs typeface="Tahoma"/>
              </a:rPr>
              <a:t>we </a:t>
            </a:r>
            <a:r>
              <a:rPr dirty="0" sz="1100" spc="-25">
                <a:solidFill>
                  <a:srgbClr val="404040"/>
                </a:solidFill>
                <a:latin typeface="Tahoma"/>
                <a:cs typeface="Tahoma"/>
              </a:rPr>
              <a:t>	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are</a:t>
            </a:r>
            <a:r>
              <a:rPr dirty="0" sz="1100" spc="-4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04040"/>
                </a:solidFill>
                <a:latin typeface="Tahoma"/>
                <a:cs typeface="Tahoma"/>
              </a:rPr>
              <a:t>ISO</a:t>
            </a:r>
            <a:r>
              <a:rPr dirty="0" sz="1100" spc="-4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9001</a:t>
            </a:r>
            <a:r>
              <a:rPr dirty="0" sz="1100" spc="-3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dirty="0" sz="1100" spc="-4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04040"/>
                </a:solidFill>
                <a:latin typeface="Tahoma"/>
                <a:cs typeface="Tahoma"/>
              </a:rPr>
              <a:t>ISO</a:t>
            </a:r>
            <a:r>
              <a:rPr dirty="0" sz="1100" spc="-4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27001</a:t>
            </a:r>
            <a:r>
              <a:rPr dirty="0" sz="1100" spc="-3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404040"/>
                </a:solidFill>
                <a:latin typeface="Tahoma"/>
                <a:cs typeface="Tahoma"/>
              </a:rPr>
              <a:t>certified</a:t>
            </a:r>
            <a:endParaRPr sz="1100">
              <a:latin typeface="Tahoma"/>
              <a:cs typeface="Tahoma"/>
            </a:endParaRPr>
          </a:p>
          <a:p>
            <a:pPr marL="181610" marR="30480" indent="-16954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dirty="0" sz="1100" spc="-10">
                <a:solidFill>
                  <a:srgbClr val="404040"/>
                </a:solidFill>
                <a:latin typeface="Tahoma"/>
                <a:cs typeface="Tahoma"/>
              </a:rPr>
              <a:t>We</a:t>
            </a:r>
            <a:r>
              <a:rPr dirty="0" sz="1100" spc="-2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connect</a:t>
            </a:r>
            <a:r>
              <a:rPr dirty="0" sz="1100" spc="-1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dirty="0" sz="1100" spc="-1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your</a:t>
            </a:r>
            <a:r>
              <a:rPr dirty="0" sz="1100" spc="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data</a:t>
            </a:r>
            <a:r>
              <a:rPr dirty="0" sz="1100" spc="-1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using</a:t>
            </a:r>
            <a:r>
              <a:rPr dirty="0" sz="1100" spc="-1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VPNs,</a:t>
            </a:r>
            <a:r>
              <a:rPr dirty="0" sz="1100" spc="-1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VMs</a:t>
            </a:r>
            <a:r>
              <a:rPr dirty="0" sz="1100" spc="-2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dirty="0" sz="1100" spc="-1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404040"/>
                </a:solidFill>
                <a:latin typeface="Tahoma"/>
                <a:cs typeface="Tahoma"/>
              </a:rPr>
              <a:t>Remote </a:t>
            </a:r>
            <a:r>
              <a:rPr dirty="0" sz="1100" spc="-10">
                <a:solidFill>
                  <a:srgbClr val="404040"/>
                </a:solidFill>
                <a:latin typeface="Tahoma"/>
                <a:cs typeface="Tahoma"/>
              </a:rPr>
              <a:t>	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Desktop as</a:t>
            </a:r>
            <a:r>
              <a:rPr dirty="0" sz="1100" spc="1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dirty="0" sz="1100" spc="-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data</a:t>
            </a:r>
            <a:r>
              <a:rPr dirty="0" sz="1100" spc="1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continues</a:t>
            </a:r>
            <a:r>
              <a:rPr dirty="0" sz="1100" spc="-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to reside</a:t>
            </a:r>
            <a:r>
              <a:rPr dirty="0" sz="1100" spc="5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04040"/>
                </a:solidFill>
                <a:latin typeface="Tahoma"/>
                <a:cs typeface="Tahoma"/>
              </a:rPr>
              <a:t>in </a:t>
            </a:r>
            <a:r>
              <a:rPr dirty="0" sz="1100" spc="-20">
                <a:solidFill>
                  <a:srgbClr val="404040"/>
                </a:solidFill>
                <a:latin typeface="Tahoma"/>
                <a:cs typeface="Tahoma"/>
              </a:rPr>
              <a:t>your </a:t>
            </a:r>
            <a:r>
              <a:rPr dirty="0" sz="1100" spc="-20">
                <a:solidFill>
                  <a:srgbClr val="404040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404040"/>
                </a:solidFill>
                <a:latin typeface="Tahoma"/>
                <a:cs typeface="Tahoma"/>
              </a:rPr>
              <a:t>environment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899775" y="5989116"/>
            <a:ext cx="768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C4A1A"/>
                </a:solidFill>
                <a:latin typeface="Tahoma"/>
                <a:cs typeface="Tahoma"/>
              </a:rPr>
              <a:t>InfoSec </a:t>
            </a:r>
            <a:r>
              <a:rPr dirty="0" sz="1200" spc="-65" b="1">
                <a:solidFill>
                  <a:srgbClr val="FC4A1A"/>
                </a:solidFill>
                <a:latin typeface="Tahoma"/>
                <a:cs typeface="Tahoma"/>
              </a:rPr>
              <a:t>Adherence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944611" y="4224540"/>
            <a:ext cx="1781810" cy="1049020"/>
            <a:chOff x="7944611" y="4224540"/>
            <a:chExt cx="1781810" cy="1049020"/>
          </a:xfrm>
        </p:grpSpPr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4611" y="4224540"/>
              <a:ext cx="1781555" cy="104849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6051" y="4308347"/>
              <a:ext cx="1603248" cy="88544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8031225" y="4303521"/>
              <a:ext cx="1612900" cy="895350"/>
            </a:xfrm>
            <a:custGeom>
              <a:avLst/>
              <a:gdLst/>
              <a:ahLst/>
              <a:cxnLst/>
              <a:rect l="l" t="t" r="r" b="b"/>
              <a:pathLst>
                <a:path w="1612900" h="895350">
                  <a:moveTo>
                    <a:pt x="0" y="894969"/>
                  </a:moveTo>
                  <a:lnTo>
                    <a:pt x="1612773" y="894969"/>
                  </a:lnTo>
                  <a:lnTo>
                    <a:pt x="1612773" y="0"/>
                  </a:lnTo>
                  <a:lnTo>
                    <a:pt x="0" y="0"/>
                  </a:lnTo>
                  <a:lnTo>
                    <a:pt x="0" y="89496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6805930" y="4227588"/>
            <a:ext cx="5006975" cy="2452370"/>
            <a:chOff x="6805930" y="4227588"/>
            <a:chExt cx="5006975" cy="2452370"/>
          </a:xfrm>
        </p:grpSpPr>
        <p:sp>
          <p:nvSpPr>
            <p:cNvPr id="66" name="object 66"/>
            <p:cNvSpPr/>
            <p:nvPr/>
          </p:nvSpPr>
          <p:spPr>
            <a:xfrm>
              <a:off x="6812280" y="5660136"/>
              <a:ext cx="4994275" cy="1013460"/>
            </a:xfrm>
            <a:custGeom>
              <a:avLst/>
              <a:gdLst/>
              <a:ahLst/>
              <a:cxnLst/>
              <a:rect l="l" t="t" r="r" b="b"/>
              <a:pathLst>
                <a:path w="4994275" h="1013459">
                  <a:moveTo>
                    <a:pt x="0" y="66446"/>
                  </a:moveTo>
                  <a:lnTo>
                    <a:pt x="5216" y="40585"/>
                  </a:lnTo>
                  <a:lnTo>
                    <a:pt x="19446" y="19464"/>
                  </a:lnTo>
                  <a:lnTo>
                    <a:pt x="40558" y="5222"/>
                  </a:lnTo>
                  <a:lnTo>
                    <a:pt x="66421" y="0"/>
                  </a:lnTo>
                  <a:lnTo>
                    <a:pt x="4927727" y="0"/>
                  </a:lnTo>
                  <a:lnTo>
                    <a:pt x="4953589" y="5222"/>
                  </a:lnTo>
                  <a:lnTo>
                    <a:pt x="4974701" y="19464"/>
                  </a:lnTo>
                  <a:lnTo>
                    <a:pt x="4988931" y="40585"/>
                  </a:lnTo>
                  <a:lnTo>
                    <a:pt x="4994148" y="66446"/>
                  </a:lnTo>
                  <a:lnTo>
                    <a:pt x="4994148" y="947000"/>
                  </a:lnTo>
                  <a:lnTo>
                    <a:pt x="4988931" y="972869"/>
                  </a:lnTo>
                  <a:lnTo>
                    <a:pt x="4974701" y="993994"/>
                  </a:lnTo>
                  <a:lnTo>
                    <a:pt x="4953589" y="1008237"/>
                  </a:lnTo>
                  <a:lnTo>
                    <a:pt x="4927727" y="1013460"/>
                  </a:lnTo>
                  <a:lnTo>
                    <a:pt x="66421" y="1013460"/>
                  </a:lnTo>
                  <a:lnTo>
                    <a:pt x="40558" y="1008237"/>
                  </a:lnTo>
                  <a:lnTo>
                    <a:pt x="19446" y="993994"/>
                  </a:lnTo>
                  <a:lnTo>
                    <a:pt x="5216" y="972869"/>
                  </a:lnTo>
                  <a:lnTo>
                    <a:pt x="0" y="947000"/>
                  </a:lnTo>
                  <a:lnTo>
                    <a:pt x="0" y="66446"/>
                  </a:lnTo>
                  <a:close/>
                </a:path>
              </a:pathLst>
            </a:custGeom>
            <a:ln w="12699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77628" y="4227588"/>
              <a:ext cx="1613916" cy="139903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58400" y="4305300"/>
              <a:ext cx="1456944" cy="1248156"/>
            </a:xfrm>
            <a:prstGeom prst="rect">
              <a:avLst/>
            </a:prstGeom>
          </p:spPr>
        </p:pic>
      </p:grpSp>
      <p:sp>
        <p:nvSpPr>
          <p:cNvPr id="69" name="object 69"/>
          <p:cNvSpPr/>
          <p:nvPr/>
        </p:nvSpPr>
        <p:spPr>
          <a:xfrm>
            <a:off x="5032247" y="1659635"/>
            <a:ext cx="6746875" cy="216535"/>
          </a:xfrm>
          <a:custGeom>
            <a:avLst/>
            <a:gdLst/>
            <a:ahLst/>
            <a:cxnLst/>
            <a:rect l="l" t="t" r="r" b="b"/>
            <a:pathLst>
              <a:path w="6746875" h="216535">
                <a:moveTo>
                  <a:pt x="6638544" y="0"/>
                </a:moveTo>
                <a:lnTo>
                  <a:pt x="6638544" y="54101"/>
                </a:lnTo>
                <a:lnTo>
                  <a:pt x="0" y="54101"/>
                </a:lnTo>
                <a:lnTo>
                  <a:pt x="0" y="162305"/>
                </a:lnTo>
                <a:lnTo>
                  <a:pt x="6638544" y="162305"/>
                </a:lnTo>
                <a:lnTo>
                  <a:pt x="6638544" y="216408"/>
                </a:lnTo>
                <a:lnTo>
                  <a:pt x="6746748" y="108203"/>
                </a:lnTo>
                <a:lnTo>
                  <a:pt x="6638544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007100" y="1458595"/>
            <a:ext cx="840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Calibri"/>
                <a:cs typeface="Calibri"/>
              </a:rPr>
              <a:t>FIRST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MONTH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234308" y="1921255"/>
            <a:ext cx="903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QZ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806173" y="6490817"/>
            <a:ext cx="1631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latin typeface="Calibri"/>
                <a:cs typeface="Calibri"/>
              </a:rPr>
              <a:t>21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The</a:t>
            </a:r>
            <a:r>
              <a:rPr dirty="0" spc="35"/>
              <a:t> </a:t>
            </a:r>
            <a:r>
              <a:rPr dirty="0" spc="105">
                <a:solidFill>
                  <a:srgbClr val="FFC000"/>
                </a:solidFill>
              </a:rPr>
              <a:t>Proof-</a:t>
            </a:r>
            <a:r>
              <a:rPr dirty="0" spc="100">
                <a:solidFill>
                  <a:srgbClr val="FFC000"/>
                </a:solidFill>
              </a:rPr>
              <a:t>of-</a:t>
            </a:r>
            <a:r>
              <a:rPr dirty="0">
                <a:solidFill>
                  <a:srgbClr val="FFC000"/>
                </a:solidFill>
              </a:rPr>
              <a:t>concept</a:t>
            </a:r>
            <a:r>
              <a:rPr dirty="0" spc="-5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solution</a:t>
            </a:r>
            <a:r>
              <a:rPr dirty="0" spc="-15">
                <a:solidFill>
                  <a:srgbClr val="FFC000"/>
                </a:solidFill>
              </a:rPr>
              <a:t> </a:t>
            </a:r>
            <a:r>
              <a:rPr dirty="0"/>
              <a:t>can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50"/>
              <a:t> </a:t>
            </a:r>
            <a:r>
              <a:rPr dirty="0"/>
              <a:t>completed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60"/>
              <a:t> </a:t>
            </a:r>
            <a:r>
              <a:rPr dirty="0" spc="120"/>
              <a:t>6-</a:t>
            </a:r>
            <a:r>
              <a:rPr dirty="0"/>
              <a:t>8</a:t>
            </a:r>
            <a:r>
              <a:rPr dirty="0" spc="25"/>
              <a:t> </a:t>
            </a:r>
            <a:r>
              <a:rPr dirty="0"/>
              <a:t>week</a:t>
            </a:r>
            <a:r>
              <a:rPr dirty="0" spc="30"/>
              <a:t> </a:t>
            </a:r>
            <a:r>
              <a:rPr dirty="0"/>
              <a:t>period</a:t>
            </a:r>
            <a:r>
              <a:rPr dirty="0" spc="10"/>
              <a:t> </a:t>
            </a:r>
            <a:r>
              <a:rPr dirty="0" spc="-25"/>
              <a:t>to </a:t>
            </a:r>
            <a:r>
              <a:rPr dirty="0"/>
              <a:t>demonstrate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value</a:t>
            </a:r>
            <a:r>
              <a:rPr dirty="0" spc="-25"/>
              <a:t> </a:t>
            </a:r>
            <a:r>
              <a:rPr dirty="0"/>
              <a:t>through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prototype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we can</a:t>
            </a:r>
            <a:r>
              <a:rPr dirty="0" spc="10"/>
              <a:t> </a:t>
            </a:r>
            <a:r>
              <a:rPr dirty="0"/>
              <a:t>provide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 spc="60"/>
              <a:t>scale</a:t>
            </a:r>
            <a:r>
              <a:rPr dirty="0" spc="-10"/>
              <a:t> </a:t>
            </a:r>
            <a:r>
              <a:rPr dirty="0"/>
              <a:t>up</a:t>
            </a:r>
            <a:r>
              <a:rPr dirty="0" spc="-5"/>
              <a:t> </a:t>
            </a:r>
            <a:r>
              <a:rPr dirty="0" spc="-20"/>
              <a:t>plan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 spc="45"/>
              <a:t>operationalize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initial</a:t>
            </a:r>
            <a:r>
              <a:rPr dirty="0" spc="-45"/>
              <a:t> </a:t>
            </a:r>
            <a:r>
              <a:rPr dirty="0" spc="-10"/>
              <a:t>solution.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10627" y="4272762"/>
            <a:ext cx="3999865" cy="361950"/>
            <a:chOff x="7810627" y="4272762"/>
            <a:chExt cx="3999865" cy="361950"/>
          </a:xfrm>
        </p:grpSpPr>
        <p:sp>
          <p:nvSpPr>
            <p:cNvPr id="4" name="object 4"/>
            <p:cNvSpPr/>
            <p:nvPr/>
          </p:nvSpPr>
          <p:spPr>
            <a:xfrm>
              <a:off x="7810627" y="4272762"/>
              <a:ext cx="1353820" cy="361950"/>
            </a:xfrm>
            <a:custGeom>
              <a:avLst/>
              <a:gdLst/>
              <a:ahLst/>
              <a:cxnLst/>
              <a:rect l="l" t="t" r="r" b="b"/>
              <a:pathLst>
                <a:path w="1353820" h="361950">
                  <a:moveTo>
                    <a:pt x="1353693" y="0"/>
                  </a:moveTo>
                  <a:lnTo>
                    <a:pt x="0" y="0"/>
                  </a:lnTo>
                  <a:lnTo>
                    <a:pt x="0" y="361848"/>
                  </a:lnTo>
                  <a:lnTo>
                    <a:pt x="1353693" y="361848"/>
                  </a:lnTo>
                  <a:lnTo>
                    <a:pt x="1353693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164447" y="4272762"/>
              <a:ext cx="2646045" cy="361950"/>
            </a:xfrm>
            <a:custGeom>
              <a:avLst/>
              <a:gdLst/>
              <a:ahLst/>
              <a:cxnLst/>
              <a:rect l="l" t="t" r="r" b="b"/>
              <a:pathLst>
                <a:path w="2646045" h="361950">
                  <a:moveTo>
                    <a:pt x="2646045" y="0"/>
                  </a:moveTo>
                  <a:lnTo>
                    <a:pt x="0" y="0"/>
                  </a:lnTo>
                  <a:lnTo>
                    <a:pt x="0" y="361848"/>
                  </a:lnTo>
                  <a:lnTo>
                    <a:pt x="2646045" y="361848"/>
                  </a:lnTo>
                  <a:lnTo>
                    <a:pt x="2646045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902067" y="4362195"/>
              <a:ext cx="1928495" cy="182880"/>
            </a:xfrm>
            <a:custGeom>
              <a:avLst/>
              <a:gdLst/>
              <a:ahLst/>
              <a:cxnLst/>
              <a:rect l="l" t="t" r="r" b="b"/>
              <a:pathLst>
                <a:path w="1928495" h="182879">
                  <a:moveTo>
                    <a:pt x="1159764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159764" y="182880"/>
                  </a:lnTo>
                  <a:lnTo>
                    <a:pt x="1159764" y="0"/>
                  </a:lnTo>
                  <a:close/>
                </a:path>
                <a:path w="1928495" h="182879">
                  <a:moveTo>
                    <a:pt x="1928368" y="0"/>
                  </a:moveTo>
                  <a:lnTo>
                    <a:pt x="1603756" y="0"/>
                  </a:lnTo>
                  <a:lnTo>
                    <a:pt x="1522984" y="0"/>
                  </a:lnTo>
                  <a:lnTo>
                    <a:pt x="1353820" y="0"/>
                  </a:lnTo>
                  <a:lnTo>
                    <a:pt x="1353820" y="182880"/>
                  </a:lnTo>
                  <a:lnTo>
                    <a:pt x="1522984" y="182880"/>
                  </a:lnTo>
                  <a:lnTo>
                    <a:pt x="1603756" y="182880"/>
                  </a:lnTo>
                  <a:lnTo>
                    <a:pt x="1928368" y="182880"/>
                  </a:lnTo>
                  <a:lnTo>
                    <a:pt x="192836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809039" y="1710753"/>
          <a:ext cx="4079240" cy="439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3820"/>
                <a:gridCol w="2646045"/>
              </a:tblGrid>
              <a:tr h="457200">
                <a:tc>
                  <a:txBody>
                    <a:bodyPr/>
                    <a:lstStyle/>
                    <a:p>
                      <a:pPr marL="92075" marR="4254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14" b="1">
                          <a:latin typeface="Tahoma"/>
                          <a:cs typeface="Tahoma"/>
                        </a:rPr>
                        <a:t>Engagement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Duration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200" spc="-35" b="1">
                          <a:latin typeface="Tahoma"/>
                          <a:cs typeface="Tahoma"/>
                        </a:rPr>
                        <a:t>6-</a:t>
                      </a:r>
                      <a:r>
                        <a:rPr dirty="0" sz="1200" spc="-135" b="1">
                          <a:latin typeface="Tahoma"/>
                          <a:cs typeface="Tahoma"/>
                        </a:rPr>
                        <a:t>8</a:t>
                      </a:r>
                      <a:r>
                        <a:rPr dirty="0" sz="1200" spc="-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Weeks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135890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DEEB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2075" marR="3905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0" b="1">
                          <a:latin typeface="Tahoma"/>
                          <a:cs typeface="Tahoma"/>
                        </a:rPr>
                        <a:t>Tools</a:t>
                      </a:r>
                      <a:r>
                        <a:rPr dirty="0" sz="1200" spc="-6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5" b="1"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200" spc="-100" b="1">
                          <a:latin typeface="Tahoma"/>
                          <a:cs typeface="Tahoma"/>
                        </a:rPr>
                        <a:t>Technologies 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Used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60" b="1">
                          <a:latin typeface="Tahoma"/>
                          <a:cs typeface="Tahoma"/>
                        </a:rPr>
                        <a:t>(To</a:t>
                      </a:r>
                      <a:r>
                        <a:rPr dirty="0" sz="1200" spc="-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20" b="1">
                          <a:latin typeface="Tahoma"/>
                          <a:cs typeface="Tahoma"/>
                        </a:rPr>
                        <a:t>be</a:t>
                      </a:r>
                      <a:r>
                        <a:rPr dirty="0" sz="12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70" b="1">
                          <a:latin typeface="Tahoma"/>
                          <a:cs typeface="Tahoma"/>
                        </a:rPr>
                        <a:t>discussed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4" b="1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NHS)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DEEBF7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Tahoma"/>
                          <a:cs typeface="Tahoma"/>
                        </a:rPr>
                        <a:t>Deliverables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144145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65430" indent="-173355">
                        <a:lnSpc>
                          <a:spcPct val="100000"/>
                        </a:lnSpc>
                        <a:spcBef>
                          <a:spcPts val="350"/>
                        </a:spcBef>
                        <a:buFont typeface="Arial"/>
                        <a:buChar char="•"/>
                        <a:tabLst>
                          <a:tab pos="265430" algn="l"/>
                        </a:tabLst>
                      </a:pPr>
                      <a:r>
                        <a:rPr dirty="0" sz="1200" spc="-90" b="1">
                          <a:latin typeface="Tahoma"/>
                          <a:cs typeface="Tahoma"/>
                        </a:rPr>
                        <a:t>Proto</a:t>
                      </a:r>
                      <a:r>
                        <a:rPr dirty="0" sz="1200" spc="-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20" b="1">
                          <a:latin typeface="Tahoma"/>
                          <a:cs typeface="Tahoma"/>
                        </a:rPr>
                        <a:t>type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0" b="1">
                          <a:latin typeface="Tahoma"/>
                          <a:cs typeface="Tahoma"/>
                        </a:rPr>
                        <a:t>Dashboard</a:t>
                      </a:r>
                      <a:r>
                        <a:rPr dirty="0" sz="1200" spc="-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4" b="1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user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26479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Tahoma"/>
                          <a:cs typeface="Tahoma"/>
                        </a:rPr>
                        <a:t>acceptance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264795" marR="494665" indent="-1727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200" spc="-114" b="1">
                          <a:latin typeface="Tahoma"/>
                          <a:cs typeface="Tahoma"/>
                        </a:rPr>
                        <a:t>Documentation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2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85" b="1">
                          <a:latin typeface="Tahoma"/>
                          <a:cs typeface="Tahoma"/>
                        </a:rPr>
                        <a:t>Approach, </a:t>
                      </a:r>
                      <a:r>
                        <a:rPr dirty="0" sz="1200" spc="-90" b="1">
                          <a:latin typeface="Tahoma"/>
                          <a:cs typeface="Tahoma"/>
                        </a:rPr>
                        <a:t>Design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20" b="1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200" spc="-3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5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20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65" b="1">
                          <a:latin typeface="Tahoma"/>
                          <a:cs typeface="Tahoma"/>
                        </a:rPr>
                        <a:t>scale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5" b="1">
                          <a:latin typeface="Tahoma"/>
                          <a:cs typeface="Tahoma"/>
                        </a:rPr>
                        <a:t>up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DEEB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2075" marR="8382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spc="-90" b="1">
                          <a:latin typeface="Tahoma"/>
                          <a:cs typeface="Tahoma"/>
                        </a:rPr>
                        <a:t>Project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95" b="1">
                          <a:latin typeface="Tahoma"/>
                          <a:cs typeface="Tahoma"/>
                        </a:rPr>
                        <a:t>Execution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Environment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136525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092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200" spc="-75" b="1">
                          <a:latin typeface="Tahoma"/>
                          <a:cs typeface="Tahoma"/>
                        </a:rPr>
                        <a:t>NHS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04" b="1"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0" b="1">
                          <a:latin typeface="Tahoma"/>
                          <a:cs typeface="Tahoma"/>
                        </a:rPr>
                        <a:t>environment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0" b="1">
                          <a:latin typeface="Tahoma"/>
                          <a:cs typeface="Tahoma"/>
                        </a:rPr>
                        <a:t>(either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5" b="1">
                          <a:latin typeface="Tahoma"/>
                          <a:cs typeface="Tahoma"/>
                        </a:rPr>
                        <a:t>VM </a:t>
                      </a:r>
                      <a:r>
                        <a:rPr dirty="0" sz="1200" spc="-95" b="1"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1200" spc="-5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75" b="1"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90" b="1">
                          <a:latin typeface="Tahoma"/>
                          <a:cs typeface="Tahoma"/>
                        </a:rPr>
                        <a:t>Cloud</a:t>
                      </a:r>
                      <a:r>
                        <a:rPr dirty="0" sz="1200" spc="-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65" b="1">
                          <a:latin typeface="Tahoma"/>
                          <a:cs typeface="Tahoma"/>
                        </a:rPr>
                        <a:t>service</a:t>
                      </a:r>
                      <a:r>
                        <a:rPr dirty="0" sz="1200" spc="-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70" b="1">
                          <a:latin typeface="Tahoma"/>
                          <a:cs typeface="Tahoma"/>
                        </a:rPr>
                        <a:t>like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55" b="1">
                          <a:latin typeface="Tahoma"/>
                          <a:cs typeface="Tahoma"/>
                        </a:rPr>
                        <a:t>Azure </a:t>
                      </a:r>
                      <a:r>
                        <a:rPr dirty="0" sz="1200" spc="-25" b="1">
                          <a:latin typeface="Tahoma"/>
                          <a:cs typeface="Tahoma"/>
                        </a:rPr>
                        <a:t>ML)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DEEB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200" spc="-80" b="1"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200" spc="-6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Execution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8900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200" spc="-160" b="1" strike="sngStrike">
                          <a:latin typeface="Tahoma"/>
                          <a:cs typeface="Tahoma"/>
                        </a:rPr>
                        <a:t>~$20000</a:t>
                      </a:r>
                      <a:r>
                        <a:rPr dirty="0" sz="1200" spc="-45" b="1" strike="noStrike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4" b="1" strike="noStrike">
                          <a:latin typeface="Tahoma"/>
                          <a:cs typeface="Tahoma"/>
                        </a:rPr>
                        <a:t>(No</a:t>
                      </a:r>
                      <a:r>
                        <a:rPr dirty="0" sz="1200" spc="-40" b="1" strike="noStrike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0" b="1" strike="noStrike">
                          <a:latin typeface="Tahoma"/>
                          <a:cs typeface="Tahoma"/>
                        </a:rPr>
                        <a:t>cost)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8900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92075" marR="3175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20" b="1">
                          <a:latin typeface="Tahoma"/>
                          <a:cs typeface="Tahoma"/>
                        </a:rPr>
                        <a:t>Data </a:t>
                      </a:r>
                      <a:r>
                        <a:rPr dirty="0" sz="1200" spc="-100" b="1">
                          <a:latin typeface="Tahoma"/>
                          <a:cs typeface="Tahoma"/>
                        </a:rPr>
                        <a:t>Requirements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30" b="1">
                          <a:latin typeface="Tahoma"/>
                          <a:cs typeface="Tahoma"/>
                        </a:rPr>
                        <a:t>“data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5" b="1">
                          <a:latin typeface="Tahoma"/>
                          <a:cs typeface="Tahoma"/>
                        </a:rPr>
                        <a:t>requirements”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4" b="1">
                          <a:latin typeface="Tahoma"/>
                          <a:cs typeface="Tahoma"/>
                        </a:rPr>
                        <a:t>document</a:t>
                      </a:r>
                      <a:r>
                        <a:rPr dirty="0" sz="1200" spc="-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will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20" b="1">
                          <a:latin typeface="Tahoma"/>
                          <a:cs typeface="Tahoma"/>
                        </a:rPr>
                        <a:t>be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85" b="1">
                          <a:latin typeface="Tahoma"/>
                          <a:cs typeface="Tahoma"/>
                        </a:rPr>
                        <a:t>shared</a:t>
                      </a:r>
                      <a:r>
                        <a:rPr dirty="0" sz="1200" spc="-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85" b="1">
                          <a:latin typeface="Tahoma"/>
                          <a:cs typeface="Tahoma"/>
                        </a:rPr>
                        <a:t>once</a:t>
                      </a:r>
                      <a:r>
                        <a:rPr dirty="0" sz="1200" spc="-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80" b="1">
                          <a:latin typeface="Tahoma"/>
                          <a:cs typeface="Tahoma"/>
                        </a:rPr>
                        <a:t>use</a:t>
                      </a:r>
                      <a:r>
                        <a:rPr dirty="0" sz="1200" spc="-3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60" b="1">
                          <a:latin typeface="Tahoma"/>
                          <a:cs typeface="Tahoma"/>
                        </a:rPr>
                        <a:t>case</a:t>
                      </a:r>
                      <a:r>
                        <a:rPr dirty="0" sz="1200" spc="-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finalized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DEEBF7"/>
                    </a:solidFill>
                  </a:tcPr>
                </a:tc>
              </a:tr>
              <a:tr h="1005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 marR="4591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0" b="1">
                          <a:latin typeface="Tahoma"/>
                          <a:cs typeface="Tahoma"/>
                        </a:rPr>
                        <a:t>Governance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Cadence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144145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55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dirty="0" sz="1200" spc="-20" b="1">
                          <a:latin typeface="Tahoma"/>
                          <a:cs typeface="Tahoma"/>
                        </a:rPr>
                        <a:t>Pre-</a:t>
                      </a:r>
                      <a:r>
                        <a:rPr dirty="0" sz="1200" spc="-85" b="1">
                          <a:latin typeface="Tahoma"/>
                          <a:cs typeface="Tahoma"/>
                        </a:rPr>
                        <a:t>kick</a:t>
                      </a:r>
                      <a:r>
                        <a:rPr dirty="0" sz="1200" spc="-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5" b="1">
                          <a:latin typeface="Tahoma"/>
                          <a:cs typeface="Tahoma"/>
                        </a:rPr>
                        <a:t>off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5" b="1">
                          <a:latin typeface="Tahoma"/>
                          <a:cs typeface="Tahoma"/>
                        </a:rPr>
                        <a:t>workshop</a:t>
                      </a:r>
                      <a:r>
                        <a:rPr dirty="0" sz="1200" spc="-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25" b="1">
                          <a:latin typeface="Tahoma"/>
                          <a:cs typeface="Tahoma"/>
                        </a:rPr>
                        <a:t>for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379095">
                        <a:lnSpc>
                          <a:spcPct val="100000"/>
                        </a:lnSpc>
                      </a:pPr>
                      <a:r>
                        <a:rPr dirty="0" sz="1200" spc="-90" b="1">
                          <a:latin typeface="Tahoma"/>
                          <a:cs typeface="Tahoma"/>
                        </a:rPr>
                        <a:t>finalization</a:t>
                      </a:r>
                      <a:r>
                        <a:rPr dirty="0" sz="12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200" spc="-20" b="1">
                          <a:latin typeface="Tahoma"/>
                          <a:cs typeface="Tahoma"/>
                        </a:rPr>
                        <a:t> scope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dirty="0" sz="1200" spc="-114" b="1">
                          <a:latin typeface="Tahoma"/>
                          <a:cs typeface="Tahoma"/>
                        </a:rPr>
                        <a:t>Weekly</a:t>
                      </a:r>
                      <a:r>
                        <a:rPr dirty="0" sz="1200" spc="-5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0" b="1">
                          <a:latin typeface="Tahoma"/>
                          <a:cs typeface="Tahoma"/>
                        </a:rPr>
                        <a:t>catchup</a:t>
                      </a:r>
                      <a:r>
                        <a:rPr dirty="0" sz="1200" spc="-7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85" b="1"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200" spc="-6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b="1">
                          <a:latin typeface="Tahoma"/>
                          <a:cs typeface="Tahoma"/>
                        </a:rPr>
                        <a:t>PoC</a:t>
                      </a:r>
                      <a:r>
                        <a:rPr dirty="0" sz="1200" spc="1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review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379095" marR="31940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79095" algn="l"/>
                        </a:tabLst>
                      </a:pPr>
                      <a:r>
                        <a:rPr dirty="0" sz="1200" spc="-65" b="1">
                          <a:latin typeface="Tahoma"/>
                          <a:cs typeface="Tahoma"/>
                        </a:rPr>
                        <a:t>Final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0" b="1">
                          <a:latin typeface="Tahoma"/>
                          <a:cs typeface="Tahoma"/>
                        </a:rPr>
                        <a:t>presentation</a:t>
                      </a:r>
                      <a:r>
                        <a:rPr dirty="0" sz="1200" spc="-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14" b="1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200" spc="-4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80" b="1">
                          <a:latin typeface="Tahoma"/>
                          <a:cs typeface="Tahoma"/>
                        </a:rPr>
                        <a:t>wider </a:t>
                      </a:r>
                      <a:r>
                        <a:rPr dirty="0" sz="1200" spc="-95" b="1">
                          <a:latin typeface="Tahoma"/>
                          <a:cs typeface="Tahoma"/>
                        </a:rPr>
                        <a:t>audience</a:t>
                      </a:r>
                      <a:r>
                        <a:rPr dirty="0" sz="1200" spc="-3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 b="1">
                          <a:latin typeface="Tahoma"/>
                          <a:cs typeface="Tahoma"/>
                        </a:rPr>
                        <a:t>group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3175">
                      <a:solidFill>
                        <a:srgbClr val="595959"/>
                      </a:solidFill>
                      <a:prstDash val="sysDash"/>
                    </a:lnL>
                    <a:lnR w="3175">
                      <a:solidFill>
                        <a:srgbClr val="595959"/>
                      </a:solidFill>
                      <a:prstDash val="sysDash"/>
                    </a:lnR>
                    <a:lnT w="3175">
                      <a:solidFill>
                        <a:srgbClr val="595959"/>
                      </a:solidFill>
                      <a:prstDash val="sysDash"/>
                    </a:lnT>
                    <a:lnB w="3175">
                      <a:solidFill>
                        <a:srgbClr val="595959"/>
                      </a:solidFill>
                      <a:prstDash val="sysDash"/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6440804" y="3706367"/>
            <a:ext cx="492759" cy="533400"/>
            <a:chOff x="6440804" y="3706367"/>
            <a:chExt cx="492759" cy="533400"/>
          </a:xfrm>
        </p:grpSpPr>
        <p:sp>
          <p:nvSpPr>
            <p:cNvPr id="9" name="object 9"/>
            <p:cNvSpPr/>
            <p:nvPr/>
          </p:nvSpPr>
          <p:spPr>
            <a:xfrm>
              <a:off x="6527291" y="3706367"/>
              <a:ext cx="233679" cy="474345"/>
            </a:xfrm>
            <a:custGeom>
              <a:avLst/>
              <a:gdLst/>
              <a:ahLst/>
              <a:cxnLst/>
              <a:rect l="l" t="t" r="r" b="b"/>
              <a:pathLst>
                <a:path w="233679" h="474345">
                  <a:moveTo>
                    <a:pt x="116585" y="0"/>
                  </a:moveTo>
                  <a:lnTo>
                    <a:pt x="116585" y="118490"/>
                  </a:lnTo>
                  <a:lnTo>
                    <a:pt x="0" y="118490"/>
                  </a:lnTo>
                  <a:lnTo>
                    <a:pt x="0" y="355472"/>
                  </a:lnTo>
                  <a:lnTo>
                    <a:pt x="116585" y="355472"/>
                  </a:lnTo>
                  <a:lnTo>
                    <a:pt x="116585" y="473963"/>
                  </a:lnTo>
                  <a:lnTo>
                    <a:pt x="233172" y="236981"/>
                  </a:lnTo>
                  <a:lnTo>
                    <a:pt x="11658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40805" y="3714432"/>
              <a:ext cx="492759" cy="525145"/>
            </a:xfrm>
            <a:custGeom>
              <a:avLst/>
              <a:gdLst/>
              <a:ahLst/>
              <a:cxnLst/>
              <a:rect l="l" t="t" r="r" b="b"/>
              <a:pathLst>
                <a:path w="492759" h="525145">
                  <a:moveTo>
                    <a:pt x="492366" y="203720"/>
                  </a:moveTo>
                  <a:lnTo>
                    <a:pt x="0" y="203720"/>
                  </a:lnTo>
                  <a:lnTo>
                    <a:pt x="0" y="524954"/>
                  </a:lnTo>
                  <a:lnTo>
                    <a:pt x="492366" y="524954"/>
                  </a:lnTo>
                  <a:lnTo>
                    <a:pt x="492366" y="203720"/>
                  </a:lnTo>
                  <a:close/>
                </a:path>
                <a:path w="492759" h="525145">
                  <a:moveTo>
                    <a:pt x="492366" y="0"/>
                  </a:moveTo>
                  <a:lnTo>
                    <a:pt x="0" y="0"/>
                  </a:lnTo>
                  <a:lnTo>
                    <a:pt x="0" y="203644"/>
                  </a:lnTo>
                  <a:lnTo>
                    <a:pt x="492366" y="203644"/>
                  </a:lnTo>
                  <a:lnTo>
                    <a:pt x="492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25869" y="1705991"/>
          <a:ext cx="7272655" cy="434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4090"/>
                <a:gridCol w="2837815"/>
                <a:gridCol w="537845"/>
                <a:gridCol w="502285"/>
                <a:gridCol w="481964"/>
                <a:gridCol w="461645"/>
                <a:gridCol w="411479"/>
                <a:gridCol w="492125"/>
                <a:gridCol w="481965"/>
              </a:tblGrid>
              <a:tr h="3473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CATEGORY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SUB-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TASKS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WK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5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WK1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WK2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WK3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WK4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WK5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WK6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Tahoma"/>
                          <a:cs typeface="Tahoma"/>
                        </a:rPr>
                        <a:t>Data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Tahoma"/>
                          <a:cs typeface="Tahoma"/>
                        </a:rPr>
                        <a:t>Gathering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69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1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discovery</a:t>
                      </a:r>
                      <a:r>
                        <a:rPr dirty="0" sz="11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1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review</a:t>
                      </a:r>
                      <a:r>
                        <a:rPr dirty="0" sz="1100" spc="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100" spc="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final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scope</a:t>
                      </a:r>
                      <a:r>
                        <a:rPr dirty="0" sz="11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work</a:t>
                      </a:r>
                      <a:r>
                        <a:rPr dirty="0" sz="1100" spc="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100" spc="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PoC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206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acquisition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prototype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development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206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3664" marR="106045" indent="226695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Tahoma"/>
                          <a:cs typeface="Tahoma"/>
                        </a:rPr>
                        <a:t>Data </a:t>
                      </a:r>
                      <a:r>
                        <a:rPr dirty="0" sz="1100" spc="-70" b="1">
                          <a:latin typeface="Tahoma"/>
                          <a:cs typeface="Tahoma"/>
                        </a:rPr>
                        <a:t>Sanitization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Cross-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source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integration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sublevels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7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8115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treatment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analytical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cube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development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692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Tahoma"/>
                          <a:cs typeface="Tahoma"/>
                        </a:rPr>
                        <a:t>Dashboard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Tahoma"/>
                          <a:cs typeface="Tahoma"/>
                        </a:rPr>
                        <a:t>Design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Deep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Dive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Solution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wireframing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85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Exploration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 create derived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features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213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85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Business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Signoff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0320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541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Tahoma"/>
                          <a:cs typeface="Tahoma"/>
                        </a:rPr>
                        <a:t>Dashboard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30" b="1">
                          <a:latin typeface="Tahoma"/>
                          <a:cs typeface="Tahoma"/>
                        </a:rPr>
                        <a:t>Development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1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flow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11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operations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automations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692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Workflow</a:t>
                      </a:r>
                      <a:r>
                        <a:rPr dirty="0" sz="11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setup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customization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0800">
                    <a:lnL w="635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UI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UX, Tool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Development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9163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Modularization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results documentation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Acceptance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Tahoma"/>
                          <a:cs typeface="Tahoma"/>
                        </a:rPr>
                        <a:t>Deployment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packaging,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Results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Collation,</a:t>
                      </a:r>
                      <a:r>
                        <a:rPr dirty="0" sz="11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and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documentation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318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Training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Consumption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Support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44546A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116451" y="6328664"/>
            <a:ext cx="7852409" cy="348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60"/>
              </a:lnSpc>
              <a:spcBef>
                <a:spcPts val="100"/>
              </a:spcBef>
            </a:pPr>
            <a:r>
              <a:rPr dirty="0" sz="1200" b="1" i="1">
                <a:latin typeface="Calibri"/>
                <a:cs typeface="Calibri"/>
              </a:rPr>
              <a:t>**</a:t>
            </a:r>
            <a:r>
              <a:rPr dirty="0" sz="1200" spc="-2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Detailed</a:t>
            </a:r>
            <a:r>
              <a:rPr dirty="0" sz="1200" spc="-3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project</a:t>
            </a:r>
            <a:r>
              <a:rPr dirty="0" sz="1200" spc="-1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plan,</a:t>
            </a:r>
            <a:r>
              <a:rPr dirty="0" sz="1200" spc="-2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high</a:t>
            </a:r>
            <a:r>
              <a:rPr dirty="0" sz="1200" spc="-2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level</a:t>
            </a:r>
            <a:r>
              <a:rPr dirty="0" sz="1200" spc="-2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design</a:t>
            </a:r>
            <a:r>
              <a:rPr dirty="0" sz="1200" spc="-1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specific</a:t>
            </a:r>
            <a:r>
              <a:rPr dirty="0" sz="1200" spc="-2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to</a:t>
            </a:r>
            <a:r>
              <a:rPr dirty="0" sz="1200" spc="-2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the</a:t>
            </a:r>
            <a:r>
              <a:rPr dirty="0" sz="1200" spc="-3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use</a:t>
            </a:r>
            <a:r>
              <a:rPr dirty="0" sz="1200" spc="-2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case</a:t>
            </a:r>
            <a:r>
              <a:rPr dirty="0" sz="1200" spc="-20" b="1" i="1">
                <a:latin typeface="Calibri"/>
                <a:cs typeface="Calibri"/>
              </a:rPr>
              <a:t> </a:t>
            </a:r>
            <a:r>
              <a:rPr dirty="0" sz="1200" spc="-10" b="1" i="1">
                <a:latin typeface="Calibri"/>
                <a:cs typeface="Calibri"/>
              </a:rPr>
              <a:t>identified</a:t>
            </a:r>
            <a:r>
              <a:rPr dirty="0" sz="1200" spc="-3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will</a:t>
            </a:r>
            <a:r>
              <a:rPr dirty="0" sz="1200" spc="-2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be</a:t>
            </a:r>
            <a:r>
              <a:rPr dirty="0" sz="1200" spc="-3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shared</a:t>
            </a:r>
            <a:r>
              <a:rPr dirty="0" sz="1200" spc="-15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once</a:t>
            </a:r>
            <a:r>
              <a:rPr dirty="0" sz="1200" spc="-2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it</a:t>
            </a:r>
            <a:r>
              <a:rPr dirty="0" sz="1200" spc="-3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is</a:t>
            </a:r>
            <a:r>
              <a:rPr dirty="0" sz="1200" spc="-2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finalized</a:t>
            </a:r>
            <a:r>
              <a:rPr dirty="0" sz="1200" spc="-40" b="1" i="1">
                <a:latin typeface="Calibri"/>
                <a:cs typeface="Calibri"/>
              </a:rPr>
              <a:t> </a:t>
            </a:r>
            <a:r>
              <a:rPr dirty="0" sz="1200" b="1" i="1">
                <a:latin typeface="Calibri"/>
                <a:cs typeface="Calibri"/>
              </a:rPr>
              <a:t>&amp;</a:t>
            </a:r>
            <a:r>
              <a:rPr dirty="0" sz="1200" spc="-15" b="1" i="1">
                <a:latin typeface="Calibri"/>
                <a:cs typeface="Calibri"/>
              </a:rPr>
              <a:t> </a:t>
            </a:r>
            <a:r>
              <a:rPr dirty="0" sz="1200" spc="-10" b="1" i="1">
                <a:latin typeface="Calibri"/>
                <a:cs typeface="Calibri"/>
              </a:rPr>
              <a:t>confirmed</a:t>
            </a:r>
            <a:endParaRPr sz="1200">
              <a:latin typeface="Calibri"/>
              <a:cs typeface="Calibri"/>
            </a:endParaRPr>
          </a:p>
          <a:p>
            <a:pPr marL="7701915">
              <a:lnSpc>
                <a:spcPts val="1180"/>
              </a:lnSpc>
            </a:pPr>
            <a:r>
              <a:rPr dirty="0" sz="1050" spc="-25">
                <a:latin typeface="Calibri"/>
                <a:cs typeface="Calibri"/>
              </a:rPr>
              <a:t>19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2026-02-11T09:46:38Z</dcterms:created>
  <dcterms:modified xsi:type="dcterms:W3CDTF">2026-02-11T09:46:38Z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2026-02-11T00:00:00Z</vt:filetime>
  </property>
  <property fmtid="{D5CDD505-2E9C-101B-9397-08002B2CF9AE}" pid="3" name="LastSaved">
    <vt:filetime>2026-02-11T00:00:00Z</vt:filetime>
  </property>
  <property fmtid="{D5CDD505-2E9C-101B-9397-08002B2CF9AE}" pid="4" name="Producer">
    <vt:lpwstr>macOS Version 15.6 (Build 24G84) Quartz PDFContext</vt:lpwstr>
  </property>
</Properties>
</file>