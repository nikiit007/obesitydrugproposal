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png" ContentType="image/png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1" i="0">
                <a:solidFill>
                  <a:srgbClr val="EDAF5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rgbClr val="EDAF5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rgbClr val="EDAF5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1" i="0">
                <a:solidFill>
                  <a:srgbClr val="EDAF5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0189" y="721618"/>
            <a:ext cx="11545570" cy="1105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1" i="0">
                <a:solidFill>
                  <a:srgbClr val="EDAF5D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68380"/>
            <a:ext cx="17475047" cy="28596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979061"/>
            <a:ext cx="17475047" cy="1072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6102482"/>
            <a:ext cx="17475047" cy="107235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7225902"/>
            <a:ext cx="17475200" cy="868680"/>
            <a:chOff x="0" y="7225902"/>
            <a:chExt cx="17475200" cy="86868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225902"/>
              <a:ext cx="17475047" cy="8680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91961" y="7313892"/>
              <a:ext cx="5290820" cy="487680"/>
            </a:xfrm>
            <a:custGeom>
              <a:avLst/>
              <a:gdLst/>
              <a:ahLst/>
              <a:cxnLst/>
              <a:rect l="l" t="t" r="r" b="b"/>
              <a:pathLst>
                <a:path w="5290820" h="487679">
                  <a:moveTo>
                    <a:pt x="5290203" y="487656"/>
                  </a:moveTo>
                  <a:lnTo>
                    <a:pt x="0" y="487656"/>
                  </a:lnTo>
                  <a:lnTo>
                    <a:pt x="0" y="0"/>
                  </a:lnTo>
                  <a:lnTo>
                    <a:pt x="5290203" y="0"/>
                  </a:lnTo>
                  <a:lnTo>
                    <a:pt x="5290203" y="487656"/>
                  </a:lnTo>
                  <a:close/>
                </a:path>
              </a:pathLst>
            </a:custGeom>
            <a:solidFill>
              <a:srgbClr val="4259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43282" y="370548"/>
            <a:ext cx="13430885" cy="8528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400" spc="-180">
                <a:solidFill>
                  <a:srgbClr val="E4BA82"/>
                </a:solidFill>
              </a:rPr>
              <a:t>The</a:t>
            </a:r>
            <a:r>
              <a:rPr dirty="0" sz="5400" spc="-135">
                <a:solidFill>
                  <a:srgbClr val="E4BA82"/>
                </a:solidFill>
              </a:rPr>
              <a:t> </a:t>
            </a:r>
            <a:r>
              <a:rPr dirty="0" sz="5400" spc="-345">
                <a:solidFill>
                  <a:srgbClr val="E4BA82"/>
                </a:solidFill>
              </a:rPr>
              <a:t>Paradigm</a:t>
            </a:r>
            <a:r>
              <a:rPr dirty="0" sz="5400" spc="60">
                <a:solidFill>
                  <a:srgbClr val="E4BA82"/>
                </a:solidFill>
              </a:rPr>
              <a:t> </a:t>
            </a:r>
            <a:r>
              <a:rPr dirty="0" sz="5400" spc="-260">
                <a:solidFill>
                  <a:srgbClr val="E4BA82"/>
                </a:solidFill>
              </a:rPr>
              <a:t>Shift:</a:t>
            </a:r>
            <a:r>
              <a:rPr dirty="0" sz="5400" spc="-229">
                <a:solidFill>
                  <a:srgbClr val="E4BA82"/>
                </a:solidFill>
              </a:rPr>
              <a:t> </a:t>
            </a:r>
            <a:r>
              <a:rPr dirty="0" sz="5400" spc="-455">
                <a:solidFill>
                  <a:srgbClr val="E4BA82"/>
                </a:solidFill>
              </a:rPr>
              <a:t>From</a:t>
            </a:r>
            <a:r>
              <a:rPr dirty="0" sz="5400" spc="-100">
                <a:solidFill>
                  <a:srgbClr val="E4BA82"/>
                </a:solidFill>
              </a:rPr>
              <a:t> </a:t>
            </a:r>
            <a:r>
              <a:rPr dirty="0" sz="5400" spc="-290">
                <a:solidFill>
                  <a:srgbClr val="E4BA82"/>
                </a:solidFill>
              </a:rPr>
              <a:t>Reporting</a:t>
            </a:r>
            <a:r>
              <a:rPr dirty="0" sz="5400" spc="150">
                <a:solidFill>
                  <a:srgbClr val="E4BA82"/>
                </a:solidFill>
              </a:rPr>
              <a:t> </a:t>
            </a:r>
            <a:r>
              <a:rPr dirty="0" sz="5400" spc="-50">
                <a:solidFill>
                  <a:srgbClr val="E4BA82"/>
                </a:solidFill>
              </a:rPr>
              <a:t>to</a:t>
            </a:r>
            <a:r>
              <a:rPr dirty="0" sz="5400" spc="-280">
                <a:solidFill>
                  <a:srgbClr val="E4BA82"/>
                </a:solidFill>
              </a:rPr>
              <a:t> </a:t>
            </a:r>
            <a:r>
              <a:rPr dirty="0" sz="5400" spc="-215">
                <a:solidFill>
                  <a:srgbClr val="E4BA82"/>
                </a:solidFill>
              </a:rPr>
              <a:t>Prediction</a:t>
            </a:r>
            <a:endParaRPr sz="5400"/>
          </a:p>
        </p:txBody>
      </p:sp>
      <p:sp>
        <p:nvSpPr>
          <p:cNvPr id="9" name="object 9"/>
          <p:cNvSpPr/>
          <p:nvPr/>
        </p:nvSpPr>
        <p:spPr>
          <a:xfrm>
            <a:off x="1102692" y="2109921"/>
            <a:ext cx="4298950" cy="548640"/>
          </a:xfrm>
          <a:custGeom>
            <a:avLst/>
            <a:gdLst/>
            <a:ahLst/>
            <a:cxnLst/>
            <a:rect l="l" t="t" r="r" b="b"/>
            <a:pathLst>
              <a:path w="4298950" h="548639">
                <a:moveTo>
                  <a:pt x="4298761" y="548613"/>
                </a:moveTo>
                <a:lnTo>
                  <a:pt x="0" y="548613"/>
                </a:lnTo>
                <a:lnTo>
                  <a:pt x="0" y="0"/>
                </a:lnTo>
                <a:lnTo>
                  <a:pt x="4298761" y="0"/>
                </a:lnTo>
                <a:lnTo>
                  <a:pt x="4298761" y="548613"/>
                </a:lnTo>
                <a:close/>
              </a:path>
            </a:pathLst>
          </a:custGeom>
          <a:solidFill>
            <a:srgbClr val="4259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74153" y="2109921"/>
            <a:ext cx="1082675" cy="548640"/>
          </a:xfrm>
          <a:custGeom>
            <a:avLst/>
            <a:gdLst/>
            <a:ahLst/>
            <a:cxnLst/>
            <a:rect l="l" t="t" r="r" b="b"/>
            <a:pathLst>
              <a:path w="1082675" h="548639">
                <a:moveTo>
                  <a:pt x="1082638" y="548613"/>
                </a:moveTo>
                <a:lnTo>
                  <a:pt x="0" y="548613"/>
                </a:lnTo>
                <a:lnTo>
                  <a:pt x="0" y="0"/>
                </a:lnTo>
                <a:lnTo>
                  <a:pt x="1082638" y="0"/>
                </a:lnTo>
                <a:lnTo>
                  <a:pt x="1082638" y="548613"/>
                </a:lnTo>
                <a:close/>
              </a:path>
            </a:pathLst>
          </a:custGeom>
          <a:solidFill>
            <a:srgbClr val="4259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89992" y="2113128"/>
            <a:ext cx="563308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>
                <a:solidFill>
                  <a:srgbClr val="D6C1A1"/>
                </a:solidFill>
                <a:latin typeface="Arial"/>
                <a:cs typeface="Arial"/>
              </a:rPr>
              <a:t>Descriptive</a:t>
            </a:r>
            <a:r>
              <a:rPr dirty="0" sz="3150" spc="295">
                <a:solidFill>
                  <a:srgbClr val="D6C1A1"/>
                </a:solidFill>
                <a:latin typeface="Arial"/>
                <a:cs typeface="Arial"/>
              </a:rPr>
              <a:t> </a:t>
            </a:r>
            <a:r>
              <a:rPr dirty="0" sz="3150">
                <a:solidFill>
                  <a:srgbClr val="D6C1A1"/>
                </a:solidFill>
                <a:latin typeface="Arial"/>
                <a:cs typeface="Arial"/>
              </a:rPr>
              <a:t>(Traditional)</a:t>
            </a:r>
            <a:r>
              <a:rPr dirty="0" sz="3150" spc="585">
                <a:solidFill>
                  <a:srgbClr val="D6C1A1"/>
                </a:solidFill>
                <a:latin typeface="Arial"/>
                <a:cs typeface="Arial"/>
              </a:rPr>
              <a:t> </a:t>
            </a:r>
            <a:r>
              <a:rPr dirty="0" sz="3150" spc="50">
                <a:solidFill>
                  <a:srgbClr val="D6C1A1"/>
                </a:solidFill>
                <a:latin typeface="Arial"/>
                <a:cs typeface="Arial"/>
              </a:rPr>
              <a:t>Model</a:t>
            </a:r>
            <a:endParaRPr sz="3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3388" y="5194713"/>
            <a:ext cx="6002020" cy="487680"/>
          </a:xfrm>
          <a:prstGeom prst="rect">
            <a:avLst/>
          </a:prstGeom>
          <a:solidFill>
            <a:srgbClr val="425972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Data</a:t>
            </a:r>
            <a:r>
              <a:rPr dirty="0" sz="2800" spc="175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Scope</a:t>
            </a:r>
            <a:r>
              <a:rPr dirty="0" sz="2800">
                <a:solidFill>
                  <a:srgbClr val="D1D8DB"/>
                </a:solidFill>
                <a:latin typeface="Arial"/>
                <a:cs typeface="Arial"/>
              </a:rPr>
              <a:t>:</a:t>
            </a:r>
            <a:r>
              <a:rPr dirty="0" sz="2800" spc="-110">
                <a:solidFill>
                  <a:srgbClr val="D1D8DB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Static</a:t>
            </a:r>
            <a:r>
              <a:rPr dirty="0" sz="2800" spc="21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pharmacy</a:t>
            </a:r>
            <a:r>
              <a:rPr dirty="0" sz="2800" spc="254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85">
                <a:solidFill>
                  <a:srgbClr val="E8F2F6"/>
                </a:solidFill>
                <a:latin typeface="Arial"/>
                <a:cs typeface="Arial"/>
              </a:rPr>
              <a:t>fill</a:t>
            </a:r>
            <a:r>
              <a:rPr dirty="0" sz="2800" spc="1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E8F2F6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4101" y="6292601"/>
            <a:ext cx="7043420" cy="487680"/>
          </a:xfrm>
          <a:prstGeom prst="rect">
            <a:avLst/>
          </a:prstGeom>
          <a:solidFill>
            <a:srgbClr val="425972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Market</a:t>
            </a:r>
            <a:r>
              <a:rPr dirty="0" sz="2800" spc="265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Context:</a:t>
            </a:r>
            <a:r>
              <a:rPr dirty="0" sz="2800" spc="21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Assumes</a:t>
            </a:r>
            <a:r>
              <a:rPr dirty="0" sz="2800" spc="32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stable</a:t>
            </a:r>
            <a:r>
              <a:rPr dirty="0" sz="2800" spc="165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40">
                <a:solidFill>
                  <a:srgbClr val="E8F2F6"/>
                </a:solidFill>
                <a:latin typeface="Arial"/>
                <a:cs typeface="Arial"/>
              </a:rPr>
              <a:t>conditions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9261" y="7315331"/>
            <a:ext cx="536194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70">
                <a:solidFill>
                  <a:srgbClr val="E8F2F6"/>
                </a:solidFill>
                <a:latin typeface="Arial"/>
                <a:cs typeface="Arial"/>
              </a:rPr>
              <a:t>HCP</a:t>
            </a:r>
            <a:r>
              <a:rPr dirty="0" sz="2800" spc="-5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50">
                <a:solidFill>
                  <a:srgbClr val="E8F2F6"/>
                </a:solidFill>
                <a:latin typeface="Arial"/>
                <a:cs typeface="Arial"/>
              </a:rPr>
              <a:t>Insight:</a:t>
            </a:r>
            <a:r>
              <a:rPr dirty="0" sz="2800" spc="-125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What</a:t>
            </a:r>
            <a:r>
              <a:rPr dirty="0" sz="2800" spc="7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100">
                <a:solidFill>
                  <a:srgbClr val="E8F2F6"/>
                </a:solidFill>
                <a:latin typeface="Arial"/>
                <a:cs typeface="Arial"/>
              </a:rPr>
              <a:t>the</a:t>
            </a:r>
            <a:r>
              <a:rPr dirty="0" sz="2800" spc="-4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-70">
                <a:solidFill>
                  <a:srgbClr val="E8F2F6"/>
                </a:solidFill>
                <a:latin typeface="Arial"/>
                <a:cs typeface="Arial"/>
              </a:rPr>
              <a:t>docto�</a:t>
            </a:r>
            <a:r>
              <a:rPr dirty="0" sz="2800" spc="-27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-95">
                <a:solidFill>
                  <a:srgbClr val="E8F2F6"/>
                </a:solidFill>
                <a:latin typeface="Arial"/>
                <a:cs typeface="Arial"/>
              </a:rPr>
              <a:t>did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8658" y="8296885"/>
            <a:ext cx="6750050" cy="487680"/>
          </a:xfrm>
          <a:prstGeom prst="rect">
            <a:avLst/>
          </a:prstGeom>
          <a:solidFill>
            <a:srgbClr val="425972"/>
          </a:solidFill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800" spc="60">
                <a:solidFill>
                  <a:srgbClr val="E8F2F6"/>
                </a:solidFill>
                <a:latin typeface="Arial"/>
                <a:cs typeface="Arial"/>
              </a:rPr>
              <a:t>Actionability:</a:t>
            </a:r>
            <a:r>
              <a:rPr dirty="0" sz="2800" spc="-22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Reactive</a:t>
            </a:r>
            <a:r>
              <a:rPr dirty="0" sz="2800" spc="110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E8F2F6"/>
                </a:solidFill>
                <a:latin typeface="Arial"/>
                <a:cs typeface="Arial"/>
              </a:rPr>
              <a:t>resource</a:t>
            </a:r>
            <a:r>
              <a:rPr dirty="0" sz="2800" spc="125">
                <a:solidFill>
                  <a:srgbClr val="E8F2F6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E8F2F6"/>
                </a:solidFill>
                <a:latin typeface="Arial"/>
                <a:cs typeface="Arial"/>
              </a:rPr>
              <a:t>allocation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438603" y="8092627"/>
            <a:ext cx="2068195" cy="487680"/>
          </a:xfrm>
          <a:custGeom>
            <a:avLst/>
            <a:gdLst/>
            <a:ahLst/>
            <a:cxnLst/>
            <a:rect l="l" t="t" r="r" b="b"/>
            <a:pathLst>
              <a:path w="2068195" h="487679">
                <a:moveTo>
                  <a:pt x="2067617" y="487656"/>
                </a:moveTo>
                <a:lnTo>
                  <a:pt x="0" y="487656"/>
                </a:lnTo>
                <a:lnTo>
                  <a:pt x="0" y="0"/>
                </a:lnTo>
                <a:lnTo>
                  <a:pt x="2067617" y="0"/>
                </a:lnTo>
                <a:lnTo>
                  <a:pt x="2067617" y="487656"/>
                </a:lnTo>
                <a:close/>
              </a:path>
            </a:pathLst>
          </a:custGeom>
          <a:solidFill>
            <a:srgbClr val="0F16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425902" y="8094067"/>
            <a:ext cx="6799580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55">
                <a:solidFill>
                  <a:srgbClr val="E8F2F6"/>
                </a:solidFill>
                <a:latin typeface="Arial"/>
                <a:cs typeface="Arial"/>
              </a:rPr>
              <a:t>Actionability</a:t>
            </a:r>
            <a:r>
              <a:rPr dirty="0" sz="2800" spc="55">
                <a:solidFill>
                  <a:srgbClr val="D1D8DB"/>
                </a:solidFill>
                <a:latin typeface="Arial"/>
                <a:cs typeface="Arial"/>
              </a:rPr>
              <a:t>:</a:t>
            </a:r>
            <a:r>
              <a:rPr dirty="0" sz="2800" spc="-55">
                <a:solidFill>
                  <a:srgbClr val="D1D8DB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E4BA82"/>
                </a:solidFill>
                <a:latin typeface="Arial"/>
                <a:cs typeface="Arial"/>
              </a:rPr>
              <a:t>Proactive,</a:t>
            </a:r>
            <a:r>
              <a:rPr dirty="0" sz="2650" spc="335" b="1">
                <a:solidFill>
                  <a:srgbClr val="E4BA82"/>
                </a:solidFill>
                <a:latin typeface="Arial"/>
                <a:cs typeface="Arial"/>
              </a:rPr>
              <a:t> </a:t>
            </a:r>
            <a:r>
              <a:rPr dirty="0" sz="2650" b="1">
                <a:solidFill>
                  <a:srgbClr val="E4BA82"/>
                </a:solidFill>
                <a:latin typeface="Arial"/>
                <a:cs typeface="Arial"/>
              </a:rPr>
              <a:t>prescriptive</a:t>
            </a:r>
            <a:r>
              <a:rPr dirty="0" sz="2650" spc="455" b="1">
                <a:solidFill>
                  <a:srgbClr val="E4BA82"/>
                </a:solidFill>
                <a:latin typeface="Arial"/>
                <a:cs typeface="Arial"/>
              </a:rPr>
              <a:t> </a:t>
            </a:r>
            <a:r>
              <a:rPr dirty="0" sz="2650" spc="50" b="1">
                <a:solidFill>
                  <a:srgbClr val="E4BA82"/>
                </a:solidFill>
                <a:latin typeface="Arial"/>
                <a:cs typeface="Arial"/>
              </a:rPr>
              <a:t>field</a:t>
            </a:r>
            <a:endParaRPr sz="26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14555" y="8547265"/>
            <a:ext cx="211328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 spc="65" b="1">
                <a:solidFill>
                  <a:srgbClr val="E4BA82"/>
                </a:solidFill>
                <a:latin typeface="Arial"/>
                <a:cs typeface="Arial"/>
              </a:rPr>
              <a:t>engagement</a:t>
            </a:r>
            <a:endParaRPr sz="26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165698" y="9427879"/>
            <a:ext cx="1210310" cy="226695"/>
          </a:xfrm>
          <a:custGeom>
            <a:avLst/>
            <a:gdLst/>
            <a:ahLst/>
            <a:cxnLst/>
            <a:rect l="l" t="t" r="r" b="b"/>
            <a:pathLst>
              <a:path w="1210309" h="226695">
                <a:moveTo>
                  <a:pt x="1210107" y="226411"/>
                </a:moveTo>
                <a:lnTo>
                  <a:pt x="0" y="226411"/>
                </a:lnTo>
                <a:lnTo>
                  <a:pt x="0" y="0"/>
                </a:lnTo>
                <a:lnTo>
                  <a:pt x="1210107" y="0"/>
                </a:lnTo>
                <a:lnTo>
                  <a:pt x="1210107" y="226411"/>
                </a:lnTo>
                <a:close/>
              </a:path>
            </a:pathLst>
          </a:custGeom>
          <a:solidFill>
            <a:srgbClr val="182A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6153003" y="9421746"/>
            <a:ext cx="126619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>
                <a:solidFill>
                  <a:srgbClr val="D1D8DB"/>
                </a:solidFill>
                <a:latin typeface="Arial"/>
                <a:cs typeface="Arial"/>
              </a:rPr>
              <a:t>ls\l</a:t>
            </a:r>
            <a:r>
              <a:rPr dirty="0" sz="1250" spc="100">
                <a:solidFill>
                  <a:srgbClr val="D1D8D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E8F2F6"/>
                </a:solidFill>
                <a:latin typeface="Arial"/>
                <a:cs typeface="Arial"/>
              </a:rPr>
              <a:t>N</a:t>
            </a:r>
            <a:r>
              <a:rPr dirty="0" sz="1300" spc="-10">
                <a:solidFill>
                  <a:srgbClr val="D1D8DB"/>
                </a:solidFill>
                <a:latin typeface="Arial"/>
                <a:cs typeface="Arial"/>
              </a:rPr>
              <a:t>otebookL</a:t>
            </a:r>
            <a:r>
              <a:rPr dirty="0" sz="1300" spc="-10">
                <a:solidFill>
                  <a:srgbClr val="E8F2F6"/>
                </a:solidFill>
                <a:latin typeface="Arial"/>
                <a:cs typeface="Arial"/>
              </a:rPr>
              <a:t>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4427" y="3472655"/>
              <a:ext cx="15412085" cy="5208905"/>
            </a:xfrm>
            <a:custGeom>
              <a:avLst/>
              <a:gdLst/>
              <a:ahLst/>
              <a:cxnLst/>
              <a:rect l="l" t="t" r="r" b="b"/>
              <a:pathLst>
                <a:path w="15412085" h="5208905">
                  <a:moveTo>
                    <a:pt x="5604244" y="5208585"/>
                  </a:moveTo>
                  <a:lnTo>
                    <a:pt x="5604244" y="0"/>
                  </a:lnTo>
                </a:path>
                <a:path w="15412085" h="5208905">
                  <a:moveTo>
                    <a:pt x="13475660" y="4238359"/>
                  </a:moveTo>
                  <a:lnTo>
                    <a:pt x="13475660" y="3063874"/>
                  </a:lnTo>
                </a:path>
                <a:path w="15412085" h="5208905">
                  <a:moveTo>
                    <a:pt x="13475660" y="2706422"/>
                  </a:moveTo>
                  <a:lnTo>
                    <a:pt x="13475660" y="2272373"/>
                  </a:lnTo>
                </a:path>
                <a:path w="15412085" h="5208905">
                  <a:moveTo>
                    <a:pt x="14430929" y="4238359"/>
                  </a:moveTo>
                  <a:lnTo>
                    <a:pt x="14430929" y="2195776"/>
                  </a:lnTo>
                </a:path>
                <a:path w="15412085" h="5208905">
                  <a:moveTo>
                    <a:pt x="15398935" y="4238359"/>
                  </a:moveTo>
                  <a:lnTo>
                    <a:pt x="15398935" y="1531937"/>
                  </a:lnTo>
                </a:path>
                <a:path w="15412085" h="5208905">
                  <a:moveTo>
                    <a:pt x="6139195" y="625540"/>
                  </a:moveTo>
                  <a:lnTo>
                    <a:pt x="15411672" y="625540"/>
                  </a:lnTo>
                </a:path>
                <a:path w="15412085" h="5208905">
                  <a:moveTo>
                    <a:pt x="0" y="625540"/>
                  </a:moveTo>
                  <a:lnTo>
                    <a:pt x="5094767" y="625540"/>
                  </a:lnTo>
                </a:path>
                <a:path w="15412085" h="5208905">
                  <a:moveTo>
                    <a:pt x="14112506" y="1557469"/>
                  </a:moveTo>
                  <a:lnTo>
                    <a:pt x="15411672" y="1557469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959664" y="5910988"/>
              <a:ext cx="2496820" cy="881380"/>
            </a:xfrm>
            <a:custGeom>
              <a:avLst/>
              <a:gdLst/>
              <a:ahLst/>
              <a:cxnLst/>
              <a:rect l="l" t="t" r="r" b="b"/>
              <a:pathLst>
                <a:path w="2496819" h="881379">
                  <a:moveTo>
                    <a:pt x="2037907" y="0"/>
                  </a:moveTo>
                  <a:lnTo>
                    <a:pt x="2496436" y="0"/>
                  </a:lnTo>
                </a:path>
                <a:path w="2496819" h="881379">
                  <a:moveTo>
                    <a:pt x="0" y="880863"/>
                  </a:moveTo>
                  <a:lnTo>
                    <a:pt x="2496436" y="880863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603030" y="7672716"/>
              <a:ext cx="2853690" cy="0"/>
            </a:xfrm>
            <a:custGeom>
              <a:avLst/>
              <a:gdLst/>
              <a:ahLst/>
              <a:cxnLst/>
              <a:rect l="l" t="t" r="r" b="b"/>
              <a:pathLst>
                <a:path w="2853690" h="0">
                  <a:moveTo>
                    <a:pt x="0" y="0"/>
                  </a:moveTo>
                  <a:lnTo>
                    <a:pt x="285306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76907" y="766299"/>
            <a:ext cx="13498830" cy="1887220"/>
          </a:xfrm>
          <a:prstGeom prst="rect"/>
        </p:spPr>
        <p:txBody>
          <a:bodyPr wrap="square" lIns="0" tIns="123825" rIns="0" bIns="0" rtlCol="0" vert="horz">
            <a:spAutoFit/>
          </a:bodyPr>
          <a:lstStyle/>
          <a:p>
            <a:pPr marL="22860" marR="5080" indent="-10795">
              <a:lnSpc>
                <a:spcPts val="6940"/>
              </a:lnSpc>
              <a:spcBef>
                <a:spcPts val="975"/>
              </a:spcBef>
            </a:pPr>
            <a:r>
              <a:rPr dirty="0" sz="6400" spc="-275">
                <a:solidFill>
                  <a:srgbClr val="0A1626"/>
                </a:solidFill>
              </a:rPr>
              <a:t>Technical</a:t>
            </a:r>
            <a:r>
              <a:rPr dirty="0" sz="6400" spc="210">
                <a:solidFill>
                  <a:srgbClr val="0A1626"/>
                </a:solidFill>
              </a:rPr>
              <a:t> </a:t>
            </a:r>
            <a:r>
              <a:rPr dirty="0" sz="6400" spc="-125">
                <a:solidFill>
                  <a:srgbClr val="0A1626"/>
                </a:solidFill>
              </a:rPr>
              <a:t>Deep</a:t>
            </a:r>
            <a:r>
              <a:rPr dirty="0" sz="6400" spc="-120">
                <a:solidFill>
                  <a:srgbClr val="0A1626"/>
                </a:solidFill>
              </a:rPr>
              <a:t> </a:t>
            </a:r>
            <a:r>
              <a:rPr dirty="0" sz="6400" spc="-325">
                <a:solidFill>
                  <a:srgbClr val="0A1626"/>
                </a:solidFill>
              </a:rPr>
              <a:t>Dive:</a:t>
            </a:r>
            <a:r>
              <a:rPr dirty="0" sz="6400" spc="-434">
                <a:solidFill>
                  <a:srgbClr val="0A1626"/>
                </a:solidFill>
              </a:rPr>
              <a:t> </a:t>
            </a:r>
            <a:r>
              <a:rPr dirty="0" sz="6400" spc="-235">
                <a:solidFill>
                  <a:srgbClr val="0A1626"/>
                </a:solidFill>
              </a:rPr>
              <a:t>Advanced</a:t>
            </a:r>
            <a:r>
              <a:rPr dirty="0" sz="6400" spc="-110">
                <a:solidFill>
                  <a:srgbClr val="0A1626"/>
                </a:solidFill>
              </a:rPr>
              <a:t> </a:t>
            </a:r>
            <a:r>
              <a:rPr dirty="0" sz="6400" spc="-175">
                <a:solidFill>
                  <a:srgbClr val="0A1626"/>
                </a:solidFill>
              </a:rPr>
              <a:t>Analytics </a:t>
            </a:r>
            <a:r>
              <a:rPr dirty="0" sz="6400" spc="-95">
                <a:solidFill>
                  <a:srgbClr val="0A1626"/>
                </a:solidFill>
              </a:rPr>
              <a:t>with</a:t>
            </a:r>
            <a:r>
              <a:rPr dirty="0" sz="6400" spc="-305">
                <a:solidFill>
                  <a:srgbClr val="0A1626"/>
                </a:solidFill>
              </a:rPr>
              <a:t> </a:t>
            </a:r>
            <a:r>
              <a:rPr dirty="0" sz="6400" spc="-150">
                <a:solidFill>
                  <a:srgbClr val="0A1626"/>
                </a:solidFill>
              </a:rPr>
              <a:t>Explainability</a:t>
            </a:r>
            <a:endParaRPr sz="6400"/>
          </a:p>
        </p:txBody>
      </p:sp>
      <p:sp>
        <p:nvSpPr>
          <p:cNvPr id="8" name="object 8"/>
          <p:cNvSpPr txBox="1"/>
          <p:nvPr/>
        </p:nvSpPr>
        <p:spPr>
          <a:xfrm>
            <a:off x="1048412" y="3434423"/>
            <a:ext cx="210566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150">
                <a:solidFill>
                  <a:srgbClr val="0A1626"/>
                </a:solidFill>
                <a:latin typeface="Arial"/>
                <a:cs typeface="Arial"/>
              </a:rPr>
              <a:t>The</a:t>
            </a:r>
            <a:r>
              <a:rPr dirty="0" sz="3000" spc="-35">
                <a:solidFill>
                  <a:srgbClr val="0A1626"/>
                </a:solidFill>
                <a:latin typeface="Arial"/>
                <a:cs typeface="Arial"/>
              </a:rPr>
              <a:t> </a:t>
            </a:r>
            <a:r>
              <a:rPr dirty="0" sz="3000" spc="75">
                <a:solidFill>
                  <a:srgbClr val="0A1626"/>
                </a:solidFill>
                <a:latin typeface="Arial"/>
                <a:cs typeface="Arial"/>
              </a:rPr>
              <a:t>Engine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3374" y="4525929"/>
            <a:ext cx="3920490" cy="149479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9685" marR="5080" indent="-7620">
              <a:lnSpc>
                <a:spcPct val="103200"/>
              </a:lnSpc>
              <a:spcBef>
                <a:spcPts val="15"/>
              </a:spcBef>
            </a:pPr>
            <a:r>
              <a:rPr dirty="0" sz="2450" spc="-100" b="1">
                <a:solidFill>
                  <a:srgbClr val="0A1626"/>
                </a:solidFill>
                <a:latin typeface="Arial"/>
                <a:cs typeface="Arial"/>
              </a:rPr>
              <a:t>Unsupervised</a:t>
            </a:r>
            <a:r>
              <a:rPr dirty="0" sz="2450" spc="-55" b="1">
                <a:solidFill>
                  <a:srgbClr val="0A1626"/>
                </a:solidFill>
                <a:latin typeface="Arial"/>
                <a:cs typeface="Arial"/>
              </a:rPr>
              <a:t> </a:t>
            </a:r>
            <a:r>
              <a:rPr dirty="0" sz="2450" spc="-10" b="1">
                <a:solidFill>
                  <a:srgbClr val="0A1626"/>
                </a:solidFill>
                <a:latin typeface="Arial"/>
                <a:cs typeface="Arial"/>
              </a:rPr>
              <a:t>Clustering: </a:t>
            </a:r>
            <a:r>
              <a:rPr dirty="0" sz="2300">
                <a:solidFill>
                  <a:srgbClr val="31363F"/>
                </a:solidFill>
                <a:latin typeface="Arial"/>
                <a:cs typeface="Arial"/>
              </a:rPr>
              <a:t>Grouping</a:t>
            </a:r>
            <a:r>
              <a:rPr dirty="0" sz="2300" spc="20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300" spc="85">
                <a:solidFill>
                  <a:srgbClr val="212831"/>
                </a:solidFill>
                <a:latin typeface="Arial"/>
                <a:cs typeface="Arial"/>
              </a:rPr>
              <a:t>400k</a:t>
            </a:r>
            <a:r>
              <a:rPr dirty="0" sz="2300" spc="9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212831"/>
                </a:solidFill>
                <a:latin typeface="Arial"/>
                <a:cs typeface="Arial"/>
              </a:rPr>
              <a:t>physicians</a:t>
            </a:r>
            <a:r>
              <a:rPr dirty="0" sz="2300" spc="10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212831"/>
                </a:solidFill>
                <a:latin typeface="Arial"/>
                <a:cs typeface="Arial"/>
              </a:rPr>
              <a:t>by </a:t>
            </a:r>
            <a:r>
              <a:rPr dirty="0" sz="2300">
                <a:solidFill>
                  <a:srgbClr val="212831"/>
                </a:solidFill>
                <a:latin typeface="Arial"/>
                <a:cs typeface="Arial"/>
              </a:rPr>
              <a:t>adoption</a:t>
            </a:r>
            <a:r>
              <a:rPr dirty="0" sz="2300" spc="204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212831"/>
                </a:solidFill>
                <a:latin typeface="Arial"/>
                <a:cs typeface="Arial"/>
              </a:rPr>
              <a:t>behavior,</a:t>
            </a:r>
            <a:r>
              <a:rPr dirty="0" sz="2300" spc="20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300" spc="75">
                <a:solidFill>
                  <a:srgbClr val="31363F"/>
                </a:solidFill>
                <a:latin typeface="Arial"/>
                <a:cs typeface="Arial"/>
              </a:rPr>
              <a:t>not</a:t>
            </a:r>
            <a:endParaRPr sz="23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55"/>
              </a:spcBef>
            </a:pPr>
            <a:r>
              <a:rPr dirty="0" sz="2300" spc="-10">
                <a:solidFill>
                  <a:srgbClr val="212831"/>
                </a:solidFill>
                <a:latin typeface="Arial"/>
                <a:cs typeface="Arial"/>
              </a:rPr>
              <a:t>geography.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6552" y="6530214"/>
            <a:ext cx="4027170" cy="1124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10"/>
              </a:spcBef>
            </a:pPr>
            <a:r>
              <a:rPr dirty="0" sz="2450" spc="-170" b="1">
                <a:solidFill>
                  <a:srgbClr val="0A1626"/>
                </a:solidFill>
                <a:latin typeface="Arial"/>
                <a:cs typeface="Arial"/>
              </a:rPr>
              <a:t>XGBoost</a:t>
            </a:r>
            <a:r>
              <a:rPr dirty="0" sz="2450" spc="70" b="1">
                <a:solidFill>
                  <a:srgbClr val="0A1626"/>
                </a:solidFill>
                <a:latin typeface="Arial"/>
                <a:cs typeface="Arial"/>
              </a:rPr>
              <a:t> </a:t>
            </a:r>
            <a:r>
              <a:rPr dirty="0" sz="2450" spc="-70" b="1">
                <a:solidFill>
                  <a:srgbClr val="0A1626"/>
                </a:solidFill>
                <a:latin typeface="Arial"/>
                <a:cs typeface="Arial"/>
              </a:rPr>
              <a:t>(Gradient-</a:t>
            </a:r>
            <a:r>
              <a:rPr dirty="0" sz="2450" spc="-10" b="1">
                <a:solidFill>
                  <a:srgbClr val="0A1626"/>
                </a:solidFill>
                <a:latin typeface="Arial"/>
                <a:cs typeface="Arial"/>
              </a:rPr>
              <a:t>Boosted </a:t>
            </a:r>
            <a:r>
              <a:rPr dirty="0" sz="2450" spc="-85" b="1">
                <a:solidFill>
                  <a:srgbClr val="0A1626"/>
                </a:solidFill>
                <a:latin typeface="Arial"/>
                <a:cs typeface="Arial"/>
              </a:rPr>
              <a:t>Trees}:</a:t>
            </a:r>
            <a:r>
              <a:rPr dirty="0" sz="2450" spc="85" b="1">
                <a:solidFill>
                  <a:srgbClr val="0A1626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212831"/>
                </a:solidFill>
                <a:latin typeface="Arial"/>
                <a:cs typeface="Arial"/>
              </a:rPr>
              <a:t>High-</a:t>
            </a:r>
            <a:r>
              <a:rPr dirty="0" sz="2300" spc="-10">
                <a:solidFill>
                  <a:srgbClr val="212831"/>
                </a:solidFill>
                <a:latin typeface="Arial"/>
                <a:cs typeface="Arial"/>
              </a:rPr>
              <a:t>accuracy  </a:t>
            </a:r>
            <a:r>
              <a:rPr dirty="0" sz="2300">
                <a:solidFill>
                  <a:srgbClr val="31363F"/>
                </a:solidFill>
                <a:latin typeface="Arial"/>
                <a:cs typeface="Arial"/>
              </a:rPr>
              <a:t>scoring</a:t>
            </a:r>
            <a:r>
              <a:rPr dirty="0" sz="2300" spc="3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300" spc="60">
                <a:solidFill>
                  <a:srgbClr val="212831"/>
                </a:solidFill>
                <a:latin typeface="Arial"/>
                <a:cs typeface="Arial"/>
              </a:rPr>
              <a:t>of</a:t>
            </a:r>
            <a:r>
              <a:rPr dirty="0" sz="2300" spc="10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212831"/>
                </a:solidFill>
                <a:latin typeface="Arial"/>
                <a:cs typeface="Arial"/>
              </a:rPr>
              <a:t>adoption</a:t>
            </a:r>
            <a:r>
              <a:rPr dirty="0" sz="2300" spc="13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31363F"/>
                </a:solidFill>
                <a:latin typeface="Arial"/>
                <a:cs typeface="Arial"/>
              </a:rPr>
              <a:t>likelihood.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7608" y="3434423"/>
            <a:ext cx="5574665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150">
                <a:solidFill>
                  <a:srgbClr val="0A1626"/>
                </a:solidFill>
                <a:latin typeface="Arial"/>
                <a:cs typeface="Arial"/>
              </a:rPr>
              <a:t>The</a:t>
            </a:r>
            <a:r>
              <a:rPr dirty="0" sz="3000" spc="-30">
                <a:solidFill>
                  <a:srgbClr val="0A1626"/>
                </a:solidFill>
                <a:latin typeface="Arial"/>
                <a:cs typeface="Arial"/>
              </a:rPr>
              <a:t> </a:t>
            </a:r>
            <a:r>
              <a:rPr dirty="0" sz="3000" spc="70">
                <a:solidFill>
                  <a:srgbClr val="212831"/>
                </a:solidFill>
                <a:latin typeface="Arial"/>
                <a:cs typeface="Arial"/>
              </a:rPr>
              <a:t>"Glass</a:t>
            </a:r>
            <a:r>
              <a:rPr dirty="0" sz="3000" spc="125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3000" spc="135">
                <a:solidFill>
                  <a:srgbClr val="0A1626"/>
                </a:solidFill>
                <a:latin typeface="Arial"/>
                <a:cs typeface="Arial"/>
              </a:rPr>
              <a:t>Box"</a:t>
            </a:r>
            <a:r>
              <a:rPr dirty="0" sz="3000" spc="-25">
                <a:solidFill>
                  <a:srgbClr val="0A1626"/>
                </a:solidFill>
                <a:latin typeface="Arial"/>
                <a:cs typeface="Arial"/>
              </a:rPr>
              <a:t> </a:t>
            </a:r>
            <a:r>
              <a:rPr dirty="0" sz="3000" spc="125">
                <a:solidFill>
                  <a:srgbClr val="0A1626"/>
                </a:solidFill>
                <a:latin typeface="Arial"/>
                <a:cs typeface="Arial"/>
              </a:rPr>
              <a:t>Explainability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27409" y="5311047"/>
            <a:ext cx="272859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50">
                <a:solidFill>
                  <a:srgbClr val="31363F"/>
                </a:solidFill>
                <a:latin typeface="Arial"/>
                <a:cs typeface="Arial"/>
              </a:rPr>
              <a:t>High</a:t>
            </a:r>
            <a:r>
              <a:rPr dirty="0" sz="1800" spc="25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1363F"/>
                </a:solidFill>
                <a:latin typeface="Arial"/>
                <a:cs typeface="Arial"/>
              </a:rPr>
              <a:t>Zepbound</a:t>
            </a:r>
            <a:r>
              <a:rPr dirty="0" sz="1800" spc="8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1363F"/>
                </a:solidFill>
                <a:latin typeface="Arial"/>
                <a:cs typeface="Arial"/>
              </a:rPr>
              <a:t>Switch</a:t>
            </a:r>
            <a:r>
              <a:rPr dirty="0" sz="1800" spc="-10">
                <a:solidFill>
                  <a:srgbClr val="0A1626"/>
                </a:solidFill>
                <a:latin typeface="Arial"/>
                <a:cs typeface="Arial"/>
              </a:rPr>
              <a:t>i</a:t>
            </a:r>
            <a:r>
              <a:rPr dirty="0" sz="1800" spc="-10">
                <a:solidFill>
                  <a:srgbClr val="42494F"/>
                </a:solidFill>
                <a:latin typeface="Arial"/>
                <a:cs typeface="Arial"/>
              </a:rPr>
              <a:t>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79200" y="6191911"/>
            <a:ext cx="339153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10">
                <a:solidFill>
                  <a:srgbClr val="31363F"/>
                </a:solidFill>
                <a:latin typeface="Arial"/>
                <a:cs typeface="Arial"/>
              </a:rPr>
              <a:t>Metabo</a:t>
            </a:r>
            <a:r>
              <a:rPr dirty="0" sz="1800" spc="10">
                <a:solidFill>
                  <a:srgbClr val="0A1626"/>
                </a:solidFill>
                <a:latin typeface="Arial"/>
                <a:cs typeface="Arial"/>
              </a:rPr>
              <a:t>l</a:t>
            </a:r>
            <a:r>
              <a:rPr dirty="0" sz="1800" spc="10">
                <a:solidFill>
                  <a:srgbClr val="42494F"/>
                </a:solidFill>
                <a:latin typeface="Arial"/>
                <a:cs typeface="Arial"/>
              </a:rPr>
              <a:t>ic</a:t>
            </a:r>
            <a:r>
              <a:rPr dirty="0" sz="1800" spc="225">
                <a:solidFill>
                  <a:srgbClr val="42494F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31363F"/>
                </a:solidFill>
                <a:latin typeface="Arial"/>
                <a:cs typeface="Arial"/>
              </a:rPr>
              <a:t>Deterioration</a:t>
            </a:r>
            <a:r>
              <a:rPr dirty="0" sz="1800" spc="105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212831"/>
                </a:solidFill>
                <a:latin typeface="Arial"/>
                <a:cs typeface="Arial"/>
              </a:rPr>
              <a:t>i</a:t>
            </a:r>
            <a:r>
              <a:rPr dirty="0" sz="1800" spc="10">
                <a:solidFill>
                  <a:srgbClr val="42494F"/>
                </a:solidFill>
                <a:latin typeface="Arial"/>
                <a:cs typeface="Arial"/>
              </a:rPr>
              <a:t>n</a:t>
            </a:r>
            <a:r>
              <a:rPr dirty="0" sz="1800" spc="229">
                <a:solidFill>
                  <a:srgbClr val="42494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31363F"/>
                </a:solidFill>
                <a:latin typeface="Arial"/>
                <a:cs typeface="Arial"/>
              </a:rPr>
              <a:t>Pane</a:t>
            </a:r>
            <a:r>
              <a:rPr dirty="0" sz="1800" spc="-10">
                <a:solidFill>
                  <a:srgbClr val="0A1626"/>
                </a:solidFill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05725" y="7085541"/>
            <a:ext cx="255206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>
                <a:solidFill>
                  <a:srgbClr val="31363F"/>
                </a:solidFill>
                <a:latin typeface="Arial"/>
                <a:cs typeface="Arial"/>
              </a:rPr>
              <a:t>History</a:t>
            </a:r>
            <a:r>
              <a:rPr dirty="0" sz="1800" spc="135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1363F"/>
                </a:solidFill>
                <a:latin typeface="Arial"/>
                <a:cs typeface="Arial"/>
              </a:rPr>
              <a:t>of</a:t>
            </a:r>
            <a:r>
              <a:rPr dirty="0" sz="1800" spc="26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31363F"/>
                </a:solidFill>
                <a:latin typeface="Arial"/>
                <a:cs typeface="Arial"/>
              </a:rPr>
              <a:t>Oral</a:t>
            </a:r>
            <a:r>
              <a:rPr dirty="0" sz="1800" spc="3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12831"/>
                </a:solidFill>
                <a:latin typeface="Arial"/>
                <a:cs typeface="Arial"/>
              </a:rPr>
              <a:t>Adoption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02887" y="4462098"/>
            <a:ext cx="4257040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105">
                <a:solidFill>
                  <a:srgbClr val="31363F"/>
                </a:solidFill>
                <a:latin typeface="Arial"/>
                <a:cs typeface="Arial"/>
              </a:rPr>
              <a:t>Example</a:t>
            </a:r>
            <a:r>
              <a:rPr dirty="0" sz="2150" spc="-13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185">
                <a:solidFill>
                  <a:srgbClr val="212831"/>
                </a:solidFill>
                <a:latin typeface="Arial"/>
                <a:cs typeface="Arial"/>
              </a:rPr>
              <a:t>SHAP</a:t>
            </a:r>
            <a:r>
              <a:rPr dirty="0" sz="2150" spc="-5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31363F"/>
                </a:solidFill>
                <a:latin typeface="Arial"/>
                <a:cs typeface="Arial"/>
              </a:rPr>
              <a:t>Contribution</a:t>
            </a:r>
            <a:r>
              <a:rPr dirty="0" sz="2150" spc="-2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40">
                <a:solidFill>
                  <a:srgbClr val="31363F"/>
                </a:solidFill>
                <a:latin typeface="Arial"/>
                <a:cs typeface="Arial"/>
              </a:rPr>
              <a:t>Analys</a:t>
            </a:r>
            <a:r>
              <a:rPr dirty="0" sz="2150" spc="-40">
                <a:solidFill>
                  <a:srgbClr val="0A1626"/>
                </a:solidFill>
                <a:latin typeface="Arial"/>
                <a:cs typeface="Arial"/>
              </a:rPr>
              <a:t>i</a:t>
            </a:r>
            <a:r>
              <a:rPr dirty="0" sz="2150" spc="-40">
                <a:solidFill>
                  <a:srgbClr val="31363F"/>
                </a:solidFill>
                <a:latin typeface="Arial"/>
                <a:cs typeface="Arial"/>
              </a:rPr>
              <a:t>s</a:t>
            </a:r>
            <a:endParaRPr sz="2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947444" y="6185528"/>
            <a:ext cx="83883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50" b="1">
                <a:solidFill>
                  <a:srgbClr val="D8AC6B"/>
                </a:solidFill>
                <a:latin typeface="Arial"/>
                <a:cs typeface="Arial"/>
              </a:rPr>
              <a:t>(+0.32)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08401" y="5291897"/>
            <a:ext cx="85407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70" b="1">
                <a:solidFill>
                  <a:srgbClr val="D8AC6B"/>
                </a:solidFill>
                <a:latin typeface="Arial"/>
                <a:cs typeface="Arial"/>
              </a:rPr>
              <a:t>(+0.45)</a:t>
            </a:r>
            <a:endParaRPr sz="1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61682" y="7877042"/>
            <a:ext cx="2911475" cy="79565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45085" marR="17780" indent="5080">
              <a:lnSpc>
                <a:spcPct val="95000"/>
              </a:lnSpc>
              <a:spcBef>
                <a:spcPts val="295"/>
              </a:spcBef>
            </a:pPr>
            <a:r>
              <a:rPr dirty="0" sz="2150" spc="-155">
                <a:solidFill>
                  <a:srgbClr val="212831"/>
                </a:solidFill>
                <a:latin typeface="Arial"/>
                <a:cs typeface="Arial"/>
              </a:rPr>
              <a:t>We</a:t>
            </a:r>
            <a:r>
              <a:rPr dirty="0" sz="2150" spc="-80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1363F"/>
                </a:solidFill>
                <a:latin typeface="Arial"/>
                <a:cs typeface="Arial"/>
              </a:rPr>
              <a:t>don't</a:t>
            </a:r>
            <a:r>
              <a:rPr dirty="0" sz="2150" spc="-7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40">
                <a:solidFill>
                  <a:srgbClr val="31363F"/>
                </a:solidFill>
                <a:latin typeface="Arial"/>
                <a:cs typeface="Arial"/>
              </a:rPr>
              <a:t>ju</a:t>
            </a:r>
            <a:r>
              <a:rPr dirty="0" sz="2150" spc="-1000">
                <a:solidFill>
                  <a:srgbClr val="31363F"/>
                </a:solidFill>
                <a:latin typeface="Arial"/>
                <a:cs typeface="Arial"/>
              </a:rPr>
              <a:t>s</a:t>
            </a:r>
            <a:r>
              <a:rPr dirty="0" baseline="-22222" sz="4500" spc="165">
                <a:solidFill>
                  <a:srgbClr val="31363F"/>
                </a:solidFill>
                <a:latin typeface="Arial"/>
                <a:cs typeface="Arial"/>
              </a:rPr>
              <a:t>.</a:t>
            </a:r>
            <a:r>
              <a:rPr dirty="0" sz="2150" spc="-30">
                <a:solidFill>
                  <a:srgbClr val="31363F"/>
                </a:solidFill>
                <a:latin typeface="Arial"/>
                <a:cs typeface="Arial"/>
              </a:rPr>
              <a:t>t</a:t>
            </a:r>
            <a:r>
              <a:rPr dirty="0" sz="2150" spc="-5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1363F"/>
                </a:solidFill>
                <a:latin typeface="Arial"/>
                <a:cs typeface="Arial"/>
              </a:rPr>
              <a:t>give</a:t>
            </a:r>
            <a:r>
              <a:rPr dirty="0" sz="2150" spc="-9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31363F"/>
                </a:solidFill>
                <a:latin typeface="Arial"/>
                <a:cs typeface="Arial"/>
              </a:rPr>
              <a:t>a </a:t>
            </a:r>
            <a:r>
              <a:rPr dirty="0" sz="2150" spc="-20">
                <a:solidFill>
                  <a:srgbClr val="31363F"/>
                </a:solidFill>
                <a:latin typeface="Arial"/>
                <a:cs typeface="Arial"/>
              </a:rPr>
              <a:t>score;</a:t>
            </a:r>
            <a:r>
              <a:rPr dirty="0" sz="2150" spc="-60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1363F"/>
                </a:solidFill>
                <a:latin typeface="Arial"/>
                <a:cs typeface="Arial"/>
              </a:rPr>
              <a:t>we</a:t>
            </a:r>
            <a:r>
              <a:rPr dirty="0" sz="2150" spc="-204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1363F"/>
                </a:solidFill>
                <a:latin typeface="Arial"/>
                <a:cs typeface="Arial"/>
              </a:rPr>
              <a:t>give</a:t>
            </a:r>
            <a:r>
              <a:rPr dirty="0" sz="2150" spc="-185">
                <a:solidFill>
                  <a:srgbClr val="31363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212831"/>
                </a:solidFill>
                <a:latin typeface="Arial"/>
                <a:cs typeface="Arial"/>
              </a:rPr>
              <a:t>a</a:t>
            </a:r>
            <a:r>
              <a:rPr dirty="0" sz="2150" spc="-85">
                <a:solidFill>
                  <a:srgbClr val="212831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212831"/>
                </a:solidFill>
                <a:latin typeface="Arial"/>
                <a:cs typeface="Arial"/>
              </a:rPr>
              <a:t>reason.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75200" cy="9702800"/>
            <a:chOff x="0" y="0"/>
            <a:chExt cx="17475200" cy="9702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025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4767" y="3191800"/>
              <a:ext cx="305686" cy="79150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38133" y="6459933"/>
              <a:ext cx="407581" cy="765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38133" y="6715256"/>
              <a:ext cx="433055" cy="12766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70128" y="4047131"/>
              <a:ext cx="548005" cy="0"/>
            </a:xfrm>
            <a:custGeom>
              <a:avLst/>
              <a:gdLst/>
              <a:ahLst/>
              <a:cxnLst/>
              <a:rect l="l" t="t" r="r" b="b"/>
              <a:pathLst>
                <a:path w="548004" h="0">
                  <a:moveTo>
                    <a:pt x="0" y="0"/>
                  </a:moveTo>
                  <a:lnTo>
                    <a:pt x="547687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83622" y="5796093"/>
              <a:ext cx="1069975" cy="0"/>
            </a:xfrm>
            <a:custGeom>
              <a:avLst/>
              <a:gdLst/>
              <a:ahLst/>
              <a:cxnLst/>
              <a:rect l="l" t="t" r="r" b="b"/>
              <a:pathLst>
                <a:path w="1069975" h="0">
                  <a:moveTo>
                    <a:pt x="0" y="0"/>
                  </a:moveTo>
                  <a:lnTo>
                    <a:pt x="1069901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55192" y="7034408"/>
              <a:ext cx="2623820" cy="0"/>
            </a:xfrm>
            <a:custGeom>
              <a:avLst/>
              <a:gdLst/>
              <a:ahLst/>
              <a:cxnLst/>
              <a:rect l="l" t="t" r="r" b="b"/>
              <a:pathLst>
                <a:path w="2623820" h="0">
                  <a:moveTo>
                    <a:pt x="0" y="0"/>
                  </a:moveTo>
                  <a:lnTo>
                    <a:pt x="2623805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20014" y="6447166"/>
              <a:ext cx="1643380" cy="1877060"/>
            </a:xfrm>
            <a:custGeom>
              <a:avLst/>
              <a:gdLst/>
              <a:ahLst/>
              <a:cxnLst/>
              <a:rect l="l" t="t" r="r" b="b"/>
              <a:pathLst>
                <a:path w="1643379" h="1877059">
                  <a:moveTo>
                    <a:pt x="1248218" y="1876622"/>
                  </a:moveTo>
                  <a:lnTo>
                    <a:pt x="1643062" y="1876622"/>
                  </a:lnTo>
                </a:path>
                <a:path w="1643379" h="1877059">
                  <a:moveTo>
                    <a:pt x="0" y="0"/>
                  </a:moveTo>
                  <a:lnTo>
                    <a:pt x="751478" y="0"/>
                  </a:lnTo>
                </a:path>
                <a:path w="1643379" h="1877059">
                  <a:moveTo>
                    <a:pt x="0" y="229790"/>
                  </a:moveTo>
                  <a:lnTo>
                    <a:pt x="751478" y="22979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27292" y="6676956"/>
              <a:ext cx="178435" cy="0"/>
            </a:xfrm>
            <a:custGeom>
              <a:avLst/>
              <a:gdLst/>
              <a:ahLst/>
              <a:cxnLst/>
              <a:rect l="l" t="t" r="r" b="b"/>
              <a:pathLst>
                <a:path w="178435" h="0">
                  <a:moveTo>
                    <a:pt x="0" y="0"/>
                  </a:moveTo>
                  <a:lnTo>
                    <a:pt x="178316" y="0"/>
                  </a:lnTo>
                </a:path>
              </a:pathLst>
            </a:custGeom>
            <a:ln w="382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27292" y="6676956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w="0" h="472440">
                  <a:moveTo>
                    <a:pt x="0" y="472347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01818" y="6906747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5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01818" y="7149303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5" h="0">
                  <a:moveTo>
                    <a:pt x="0" y="0"/>
                  </a:moveTo>
                  <a:lnTo>
                    <a:pt x="216527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005609" y="6906747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w="0" h="255904">
                  <a:moveTo>
                    <a:pt x="0" y="25532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27292" y="7149303"/>
              <a:ext cx="0" cy="204470"/>
            </a:xfrm>
            <a:custGeom>
              <a:avLst/>
              <a:gdLst/>
              <a:ahLst/>
              <a:cxnLst/>
              <a:rect l="l" t="t" r="r" b="b"/>
              <a:pathLst>
                <a:path w="0" h="204470">
                  <a:moveTo>
                    <a:pt x="0" y="204258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05609" y="7136538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w="0" h="217170">
                  <a:moveTo>
                    <a:pt x="0" y="217024"/>
                  </a:moveTo>
                  <a:lnTo>
                    <a:pt x="0" y="0"/>
                  </a:lnTo>
                </a:path>
              </a:pathLst>
            </a:custGeom>
            <a:ln w="382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832477" y="3262081"/>
            <a:ext cx="1767839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31363B"/>
                </a:solidFill>
                <a:latin typeface="Arial"/>
                <a:cs typeface="Arial"/>
              </a:rPr>
              <a:t>Beacon</a:t>
            </a:r>
            <a:r>
              <a:rPr dirty="0" sz="1550" spc="8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31363B"/>
                </a:solidFill>
                <a:latin typeface="Arial"/>
                <a:cs typeface="Arial"/>
              </a:rPr>
              <a:t>Dashboard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2393" y="3817408"/>
            <a:ext cx="483234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45">
                <a:solidFill>
                  <a:srgbClr val="494D4F"/>
                </a:solidFill>
                <a:latin typeface="Times New Roman"/>
                <a:cs typeface="Times New Roman"/>
              </a:rPr>
              <a:t>U</a:t>
            </a:r>
            <a:r>
              <a:rPr dirty="0" sz="1200" spc="-45">
                <a:solidFill>
                  <a:srgbClr val="64696D"/>
                </a:solidFill>
                <a:latin typeface="Times New Roman"/>
                <a:cs typeface="Times New Roman"/>
              </a:rPr>
              <a:t>S</a:t>
            </a:r>
            <a:r>
              <a:rPr dirty="0" sz="1200" spc="-90">
                <a:solidFill>
                  <a:srgbClr val="64696D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494D4F"/>
                </a:solidFill>
                <a:latin typeface="Times New Roman"/>
                <a:cs typeface="Times New Roman"/>
              </a:rPr>
              <a:t>C</a:t>
            </a:r>
            <a:r>
              <a:rPr dirty="0" sz="1200" spc="-25">
                <a:solidFill>
                  <a:srgbClr val="808285"/>
                </a:solidFill>
                <a:latin typeface="Times New Roman"/>
                <a:cs typeface="Times New Roman"/>
              </a:rPr>
              <a:t>i</a:t>
            </a:r>
            <a:r>
              <a:rPr dirty="0" sz="1200" spc="-25">
                <a:solidFill>
                  <a:srgbClr val="64696D"/>
                </a:solidFill>
                <a:latin typeface="Times New Roman"/>
                <a:cs typeface="Times New Roman"/>
              </a:rPr>
              <a:t>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45450" y="3894004"/>
            <a:ext cx="6858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50">
                <a:solidFill>
                  <a:srgbClr val="808285"/>
                </a:solidFill>
                <a:latin typeface="Times New Roman"/>
                <a:cs typeface="Times New Roman"/>
              </a:rPr>
              <a:t>V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9940" y="3823791"/>
            <a:ext cx="27114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64696D"/>
                </a:solidFill>
                <a:latin typeface="Arial"/>
                <a:cs typeface="Arial"/>
              </a:rPr>
              <a:t>1</a:t>
            </a:r>
            <a:r>
              <a:rPr dirty="0" sz="950" spc="-25">
                <a:solidFill>
                  <a:srgbClr val="808285"/>
                </a:solidFill>
                <a:latin typeface="Arial"/>
                <a:cs typeface="Arial"/>
              </a:rPr>
              <a:t>5%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80088" y="3798258"/>
            <a:ext cx="3340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64696D"/>
                </a:solidFill>
                <a:latin typeface="Times New Roman"/>
                <a:cs typeface="Times New Roman"/>
              </a:rPr>
              <a:t>460</a:t>
            </a:r>
            <a:r>
              <a:rPr dirty="0" sz="1050" spc="-10" b="1">
                <a:solidFill>
                  <a:srgbClr val="808285"/>
                </a:solidFill>
                <a:latin typeface="Times New Roman"/>
                <a:cs typeface="Times New Roman"/>
              </a:rPr>
              <a:t>).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54375" y="3779109"/>
            <a:ext cx="1815464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02030" algn="l"/>
              </a:tabLst>
            </a:pPr>
            <a:r>
              <a:rPr dirty="0" sz="1500" spc="50">
                <a:solidFill>
                  <a:srgbClr val="85A099"/>
                </a:solidFill>
                <a:latin typeface="Arial"/>
                <a:cs typeface="Arial"/>
              </a:rPr>
              <a:t>el</a:t>
            </a:r>
            <a:r>
              <a:rPr dirty="0" sz="1500" spc="-30">
                <a:solidFill>
                  <a:srgbClr val="85A099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64696D"/>
                </a:solidFill>
                <a:latin typeface="Arial"/>
                <a:cs typeface="Arial"/>
              </a:rPr>
              <a:t>h</a:t>
            </a:r>
            <a:r>
              <a:rPr dirty="0" sz="1100">
                <a:solidFill>
                  <a:srgbClr val="808285"/>
                </a:solidFill>
                <a:latin typeface="Arial"/>
                <a:cs typeface="Arial"/>
              </a:rPr>
              <a:t>lt</a:t>
            </a:r>
            <a:r>
              <a:rPr dirty="0" sz="1100">
                <a:solidFill>
                  <a:srgbClr val="64696D"/>
                </a:solidFill>
                <a:latin typeface="Arial"/>
                <a:cs typeface="Arial"/>
              </a:rPr>
              <a:t>a</a:t>
            </a:r>
            <a:r>
              <a:rPr dirty="0" sz="1100">
                <a:solidFill>
                  <a:srgbClr val="808285"/>
                </a:solidFill>
                <a:latin typeface="Arial"/>
                <a:cs typeface="Arial"/>
              </a:rPr>
              <a:t>ry</a:t>
            </a:r>
            <a:r>
              <a:rPr dirty="0" sz="1100" spc="365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dirty="0" sz="650" spc="-50">
                <a:solidFill>
                  <a:srgbClr val="808285"/>
                </a:solidFill>
                <a:latin typeface="Arial"/>
                <a:cs typeface="Arial"/>
              </a:rPr>
              <a:t>v</a:t>
            </a:r>
            <a:r>
              <a:rPr dirty="0" sz="650">
                <a:solidFill>
                  <a:srgbClr val="808285"/>
                </a:solidFill>
                <a:latin typeface="Arial"/>
                <a:cs typeface="Arial"/>
              </a:rPr>
              <a:t>	</a:t>
            </a:r>
            <a:r>
              <a:rPr dirty="0" sz="1100" spc="-25">
                <a:solidFill>
                  <a:srgbClr val="808285"/>
                </a:solidFill>
                <a:latin typeface="Arial"/>
                <a:cs typeface="Arial"/>
              </a:rPr>
              <a:t>Era</a:t>
            </a:r>
            <a:r>
              <a:rPr dirty="0" sz="1100" spc="-25">
                <a:solidFill>
                  <a:srgbClr val="64696D"/>
                </a:solidFill>
                <a:latin typeface="Arial"/>
                <a:cs typeface="Arial"/>
              </a:rPr>
              <a:t>t</a:t>
            </a:r>
            <a:r>
              <a:rPr dirty="0" sz="1100" spc="-25">
                <a:solidFill>
                  <a:srgbClr val="808285"/>
                </a:solidFill>
                <a:latin typeface="Arial"/>
                <a:cs typeface="Arial"/>
              </a:rPr>
              <a:t>antnary</a:t>
            </a:r>
            <a:r>
              <a:rPr dirty="0" sz="1100" spc="225">
                <a:solidFill>
                  <a:srgbClr val="808285"/>
                </a:solidFill>
                <a:latin typeface="Arial"/>
                <a:cs typeface="Arial"/>
              </a:rPr>
              <a:t> </a:t>
            </a:r>
            <a:r>
              <a:rPr dirty="0" sz="650" spc="-50">
                <a:solidFill>
                  <a:srgbClr val="808285"/>
                </a:solidFill>
                <a:latin typeface="Arial"/>
                <a:cs typeface="Arial"/>
              </a:rPr>
              <a:t>v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9088" y="4455716"/>
            <a:ext cx="249554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50">
                <a:solidFill>
                  <a:srgbClr val="A5AAA8"/>
                </a:solidFill>
                <a:latin typeface="Arial"/>
                <a:cs typeface="Arial"/>
              </a:rPr>
              <a:t>••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1833" y="4679123"/>
            <a:ext cx="17081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A5AAA8"/>
                </a:solidFill>
                <a:latin typeface="Arial"/>
                <a:cs typeface="Arial"/>
              </a:rPr>
              <a:t>MT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7787" y="4602526"/>
            <a:ext cx="1898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A5AAA8"/>
                </a:solidFill>
                <a:latin typeface="Times New Roman"/>
                <a:cs typeface="Times New Roman"/>
              </a:rPr>
              <a:t>NO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31690" y="4340820"/>
            <a:ext cx="330200" cy="7893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86690">
              <a:lnSpc>
                <a:spcPts val="3415"/>
              </a:lnSpc>
              <a:spcBef>
                <a:spcPts val="114"/>
              </a:spcBef>
            </a:pPr>
            <a:r>
              <a:rPr dirty="0" sz="3100" spc="-50">
                <a:solidFill>
                  <a:srgbClr val="C4C6C3"/>
                </a:solidFill>
                <a:latin typeface="Arial"/>
                <a:cs typeface="Arial"/>
              </a:rPr>
              <a:t>"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ts val="2575"/>
              </a:lnSpc>
            </a:pPr>
            <a:r>
              <a:rPr dirty="0" sz="2400" spc="-25">
                <a:solidFill>
                  <a:srgbClr val="A5AAA8"/>
                </a:solidFill>
                <a:latin typeface="Arial"/>
                <a:cs typeface="Arial"/>
              </a:rPr>
              <a:t>""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7111" y="4851465"/>
            <a:ext cx="177990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75">
                <a:solidFill>
                  <a:srgbClr val="31363B"/>
                </a:solidFill>
                <a:latin typeface="Arial"/>
                <a:cs typeface="Arial"/>
              </a:rPr>
              <a:t>Physician</a:t>
            </a:r>
            <a:r>
              <a:rPr dirty="0" sz="1300" spc="-135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1300" spc="80">
                <a:solidFill>
                  <a:srgbClr val="31363B"/>
                </a:solidFill>
                <a:latin typeface="Arial"/>
                <a:cs typeface="Arial"/>
              </a:rPr>
              <a:t>Detail</a:t>
            </a:r>
            <a:r>
              <a:rPr dirty="0" sz="1300" spc="-16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1300" spc="80">
                <a:solidFill>
                  <a:srgbClr val="31363B"/>
                </a:solidFill>
                <a:latin typeface="Arial"/>
                <a:cs typeface="Arial"/>
              </a:rPr>
              <a:t>Card</a:t>
            </a:r>
            <a:endParaRPr sz="1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47174" y="4857849"/>
            <a:ext cx="14795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65">
                <a:solidFill>
                  <a:srgbClr val="808285"/>
                </a:solidFill>
                <a:latin typeface="Arial"/>
                <a:cs typeface="Arial"/>
              </a:rPr>
              <a:t>X</a:t>
            </a:r>
            <a:endParaRPr sz="12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14726" y="5189768"/>
            <a:ext cx="2108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30">
                <a:solidFill>
                  <a:srgbClr val="97B8B8"/>
                </a:solidFill>
                <a:latin typeface="Arial"/>
                <a:cs typeface="Arial"/>
              </a:rPr>
              <a:t>.IO</a:t>
            </a:r>
            <a:endParaRPr sz="9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03773" y="5017425"/>
            <a:ext cx="184785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35">
                <a:solidFill>
                  <a:srgbClr val="A5AAA8"/>
                </a:solidFill>
                <a:latin typeface="Arial"/>
                <a:cs typeface="Arial"/>
              </a:rPr>
              <a:t>so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2521" y="5298281"/>
            <a:ext cx="1746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40">
                <a:solidFill>
                  <a:srgbClr val="A5AAA8"/>
                </a:solidFill>
                <a:latin typeface="Arial"/>
                <a:cs typeface="Arial"/>
              </a:rPr>
              <a:t>WY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61473" y="5496156"/>
            <a:ext cx="1854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85A099"/>
                </a:solidFill>
                <a:latin typeface="Times New Roman"/>
                <a:cs typeface="Times New Roman"/>
              </a:rPr>
              <a:t>N</a:t>
            </a:r>
            <a:r>
              <a:rPr dirty="0" sz="950" spc="-25">
                <a:solidFill>
                  <a:srgbClr val="A5AAA8"/>
                </a:solidFill>
                <a:latin typeface="Times New Roman"/>
                <a:cs typeface="Times New Roman"/>
              </a:rPr>
              <a:t>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70255" y="5438709"/>
            <a:ext cx="15494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>
                <a:solidFill>
                  <a:srgbClr val="A5AAA8"/>
                </a:solidFill>
                <a:latin typeface="Times New Roman"/>
                <a:cs typeface="Times New Roman"/>
              </a:rPr>
              <a:t>IA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755449" y="5239901"/>
            <a:ext cx="1121410" cy="4876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550" spc="-10" b="1">
                <a:solidFill>
                  <a:srgbClr val="4D2608"/>
                </a:solidFill>
                <a:latin typeface="Arial"/>
                <a:cs typeface="Arial"/>
              </a:rPr>
              <a:t>Dr</a:t>
            </a:r>
            <a:r>
              <a:rPr dirty="0" sz="1550" spc="-10" b="1">
                <a:solidFill>
                  <a:srgbClr val="7E480E"/>
                </a:solidFill>
                <a:latin typeface="Arial"/>
                <a:cs typeface="Arial"/>
              </a:rPr>
              <a:t>.</a:t>
            </a:r>
            <a:r>
              <a:rPr dirty="0" sz="1550" spc="-140" b="1">
                <a:solidFill>
                  <a:srgbClr val="7E480E"/>
                </a:solidFill>
                <a:latin typeface="Arial"/>
                <a:cs typeface="Arial"/>
              </a:rPr>
              <a:t> </a:t>
            </a:r>
            <a:r>
              <a:rPr dirty="0" sz="1550" b="1">
                <a:solidFill>
                  <a:srgbClr val="4D2608"/>
                </a:solidFill>
                <a:latin typeface="Arial"/>
                <a:cs typeface="Arial"/>
              </a:rPr>
              <a:t>A.</a:t>
            </a:r>
            <a:r>
              <a:rPr dirty="0" sz="1550" spc="-254" b="1">
                <a:solidFill>
                  <a:srgbClr val="4D2608"/>
                </a:solidFill>
                <a:latin typeface="Arial"/>
                <a:cs typeface="Arial"/>
              </a:rPr>
              <a:t> </a:t>
            </a:r>
            <a:r>
              <a:rPr dirty="0" sz="1550" spc="-35" b="1">
                <a:solidFill>
                  <a:srgbClr val="4D2608"/>
                </a:solidFill>
                <a:latin typeface="Arial"/>
                <a:cs typeface="Arial"/>
              </a:rPr>
              <a:t>Smith.</a:t>
            </a:r>
            <a:endParaRPr sz="15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62330A"/>
                </a:solidFill>
                <a:latin typeface="Arial"/>
                <a:cs typeface="Arial"/>
              </a:rPr>
              <a:t>Priority:</a:t>
            </a:r>
            <a:r>
              <a:rPr dirty="0" sz="1300" spc="-75">
                <a:solidFill>
                  <a:srgbClr val="62330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2330A"/>
                </a:solidFill>
                <a:latin typeface="Arial"/>
                <a:cs typeface="Arial"/>
              </a:rPr>
              <a:t>Tier</a:t>
            </a:r>
            <a:r>
              <a:rPr dirty="0" sz="1300" spc="-90">
                <a:solidFill>
                  <a:srgbClr val="62330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7E480E"/>
                </a:solidFill>
                <a:latin typeface="Arial"/>
                <a:cs typeface="Arial"/>
              </a:rPr>
              <a:t>1.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78757" y="5815309"/>
            <a:ext cx="16700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A5AAA8"/>
                </a:solidFill>
                <a:latin typeface="Arial"/>
                <a:cs typeface="Arial"/>
              </a:rPr>
              <a:t>HV</a:t>
            </a:r>
            <a:endParaRPr sz="8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39397" y="5866374"/>
            <a:ext cx="16129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A5AAA8"/>
                </a:solidFill>
                <a:latin typeface="Arial"/>
                <a:cs typeface="Arial"/>
              </a:rPr>
              <a:t>UT</a:t>
            </a:r>
            <a:endParaRPr sz="8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703864" y="5955737"/>
            <a:ext cx="1771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A5AAA8"/>
                </a:solidFill>
                <a:latin typeface="Arial"/>
                <a:cs typeface="Arial"/>
              </a:rPr>
              <a:t>KS</a:t>
            </a:r>
            <a:endParaRPr sz="9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54160" y="5981269"/>
            <a:ext cx="18923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25">
                <a:solidFill>
                  <a:srgbClr val="A5AAA8"/>
                </a:solidFill>
                <a:latin typeface="Arial"/>
                <a:cs typeface="Arial"/>
              </a:rPr>
              <a:t>MO</a:t>
            </a:r>
            <a:endParaRPr sz="8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32944" y="6153612"/>
            <a:ext cx="8953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85A099"/>
                </a:solidFill>
                <a:latin typeface="Arial"/>
                <a:cs typeface="Arial"/>
              </a:rPr>
              <a:t>A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60941" y="6517448"/>
            <a:ext cx="21272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25">
                <a:solidFill>
                  <a:srgbClr val="A5AAA8"/>
                </a:solidFill>
                <a:latin typeface="Times New Roman"/>
                <a:cs typeface="Times New Roman"/>
              </a:rPr>
              <a:t>NM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375016" y="6472766"/>
            <a:ext cx="18796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A5AAA8"/>
                </a:solidFill>
                <a:latin typeface="Arial"/>
                <a:cs typeface="Arial"/>
              </a:rPr>
              <a:t>AR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56449" y="5880417"/>
            <a:ext cx="2207260" cy="99568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650"/>
              </a:spcBef>
            </a:pPr>
            <a:r>
              <a:rPr dirty="0" sz="1300">
                <a:solidFill>
                  <a:srgbClr val="31363B"/>
                </a:solidFill>
                <a:latin typeface="Arial"/>
                <a:cs typeface="Arial"/>
              </a:rPr>
              <a:t>Why</a:t>
            </a:r>
            <a:r>
              <a:rPr dirty="0" sz="1300" spc="15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31363B"/>
                </a:solidFill>
                <a:latin typeface="Arial"/>
                <a:cs typeface="Arial"/>
              </a:rPr>
              <a:t>Now</a:t>
            </a:r>
            <a:endParaRPr sz="1300">
              <a:latin typeface="Arial"/>
              <a:cs typeface="Arial"/>
            </a:endParaRPr>
          </a:p>
          <a:p>
            <a:pPr marL="13335" marR="5080" indent="-1270">
              <a:lnSpc>
                <a:spcPct val="109500"/>
              </a:lnSpc>
              <a:spcBef>
                <a:spcPts val="400"/>
              </a:spcBef>
            </a:pPr>
            <a:r>
              <a:rPr dirty="0" sz="1300">
                <a:solidFill>
                  <a:srgbClr val="31363B"/>
                </a:solidFill>
                <a:latin typeface="Arial"/>
                <a:cs typeface="Arial"/>
              </a:rPr>
              <a:t>Hig</a:t>
            </a:r>
            <a:r>
              <a:rPr dirty="0" sz="1300">
                <a:solidFill>
                  <a:srgbClr val="64696D"/>
                </a:solidFill>
                <a:latin typeface="Arial"/>
                <a:cs typeface="Arial"/>
              </a:rPr>
              <a:t>h</a:t>
            </a:r>
            <a:r>
              <a:rPr dirty="0" sz="1300" spc="-20">
                <a:solidFill>
                  <a:srgbClr val="64696D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C1F23"/>
                </a:solidFill>
                <a:latin typeface="Arial"/>
                <a:cs typeface="Arial"/>
              </a:rPr>
              <a:t>I</a:t>
            </a:r>
            <a:r>
              <a:rPr dirty="0" sz="1300">
                <a:solidFill>
                  <a:srgbClr val="494D4F"/>
                </a:solidFill>
                <a:latin typeface="Arial"/>
                <a:cs typeface="Arial"/>
              </a:rPr>
              <a:t>njectio</a:t>
            </a:r>
            <a:r>
              <a:rPr dirty="0" sz="1300">
                <a:solidFill>
                  <a:srgbClr val="64696D"/>
                </a:solidFill>
                <a:latin typeface="Arial"/>
                <a:cs typeface="Arial"/>
              </a:rPr>
              <a:t>n</a:t>
            </a:r>
            <a:r>
              <a:rPr dirty="0" sz="1300" spc="-120">
                <a:solidFill>
                  <a:srgbClr val="64696D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1363B"/>
                </a:solidFill>
                <a:latin typeface="Arial"/>
                <a:cs typeface="Arial"/>
              </a:rPr>
              <a:t>Fatig</a:t>
            </a:r>
            <a:r>
              <a:rPr dirty="0" sz="1300" spc="-10">
                <a:solidFill>
                  <a:srgbClr val="64696D"/>
                </a:solidFill>
                <a:latin typeface="Arial"/>
                <a:cs typeface="Arial"/>
              </a:rPr>
              <a:t>u</a:t>
            </a:r>
            <a:r>
              <a:rPr dirty="0" sz="1300" spc="-10">
                <a:solidFill>
                  <a:srgbClr val="494D4F"/>
                </a:solidFill>
                <a:latin typeface="Arial"/>
                <a:cs typeface="Arial"/>
              </a:rPr>
              <a:t>e</a:t>
            </a:r>
            <a:r>
              <a:rPr dirty="0" sz="1300" spc="20">
                <a:solidFill>
                  <a:srgbClr val="494D4F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64696D"/>
                </a:solidFill>
                <a:latin typeface="Arial"/>
                <a:cs typeface="Arial"/>
              </a:rPr>
              <a:t>in </a:t>
            </a:r>
            <a:r>
              <a:rPr dirty="0" sz="1300">
                <a:solidFill>
                  <a:srgbClr val="494D4F"/>
                </a:solidFill>
                <a:latin typeface="Arial"/>
                <a:cs typeface="Arial"/>
              </a:rPr>
              <a:t>Pati</a:t>
            </a:r>
            <a:r>
              <a:rPr dirty="0" sz="1300">
                <a:solidFill>
                  <a:srgbClr val="64696D"/>
                </a:solidFill>
                <a:latin typeface="Arial"/>
                <a:cs typeface="Arial"/>
              </a:rPr>
              <a:t>e</a:t>
            </a:r>
            <a:r>
              <a:rPr dirty="0" sz="1300">
                <a:solidFill>
                  <a:srgbClr val="31363B"/>
                </a:solidFill>
                <a:latin typeface="Arial"/>
                <a:cs typeface="Arial"/>
              </a:rPr>
              <a:t>n</a:t>
            </a:r>
            <a:r>
              <a:rPr dirty="0" sz="1300">
                <a:solidFill>
                  <a:srgbClr val="64696D"/>
                </a:solidFill>
                <a:latin typeface="Arial"/>
                <a:cs typeface="Arial"/>
              </a:rPr>
              <a:t>t</a:t>
            </a:r>
            <a:r>
              <a:rPr dirty="0" sz="1300" spc="70">
                <a:solidFill>
                  <a:srgbClr val="64696D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31363B"/>
                </a:solidFill>
                <a:latin typeface="Arial"/>
                <a:cs typeface="Arial"/>
              </a:rPr>
              <a:t>P</a:t>
            </a:r>
            <a:r>
              <a:rPr dirty="0" sz="1300" spc="-35">
                <a:solidFill>
                  <a:srgbClr val="64696D"/>
                </a:solidFill>
                <a:latin typeface="Arial"/>
                <a:cs typeface="Arial"/>
              </a:rPr>
              <a:t>a</a:t>
            </a:r>
            <a:r>
              <a:rPr dirty="0" sz="1300" spc="-35">
                <a:solidFill>
                  <a:srgbClr val="494D4F"/>
                </a:solidFill>
                <a:latin typeface="Arial"/>
                <a:cs typeface="Arial"/>
              </a:rPr>
              <a:t>ne</a:t>
            </a:r>
            <a:r>
              <a:rPr dirty="0" sz="1300" spc="-35">
                <a:solidFill>
                  <a:srgbClr val="64696D"/>
                </a:solidFill>
                <a:latin typeface="Arial"/>
                <a:cs typeface="Arial"/>
              </a:rPr>
              <a:t>l.</a:t>
            </a:r>
            <a:r>
              <a:rPr dirty="0" sz="1300" spc="-40">
                <a:solidFill>
                  <a:srgbClr val="64696D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1363B"/>
                </a:solidFill>
                <a:latin typeface="Arial"/>
                <a:cs typeface="Arial"/>
              </a:rPr>
              <a:t>High</a:t>
            </a:r>
            <a:r>
              <a:rPr dirty="0" sz="1300" spc="-110">
                <a:solidFill>
                  <a:srgbClr val="31363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696D"/>
                </a:solidFill>
                <a:latin typeface="Arial"/>
                <a:cs typeface="Arial"/>
              </a:rPr>
              <a:t>a</a:t>
            </a:r>
            <a:r>
              <a:rPr dirty="0" sz="1300">
                <a:solidFill>
                  <a:srgbClr val="494D4F"/>
                </a:solidFill>
                <a:latin typeface="Arial"/>
                <a:cs typeface="Arial"/>
              </a:rPr>
              <a:t>ffin</a:t>
            </a:r>
            <a:r>
              <a:rPr dirty="0" sz="1300">
                <a:solidFill>
                  <a:srgbClr val="1C1F23"/>
                </a:solidFill>
                <a:latin typeface="Arial"/>
                <a:cs typeface="Arial"/>
              </a:rPr>
              <a:t>i</a:t>
            </a:r>
            <a:r>
              <a:rPr dirty="0" sz="1300">
                <a:solidFill>
                  <a:srgbClr val="494D4F"/>
                </a:solidFill>
                <a:latin typeface="Arial"/>
                <a:cs typeface="Arial"/>
              </a:rPr>
              <a:t>ty</a:t>
            </a:r>
            <a:r>
              <a:rPr dirty="0" sz="1300" spc="80">
                <a:solidFill>
                  <a:srgbClr val="494D4F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494D4F"/>
                </a:solidFill>
                <a:latin typeface="Arial"/>
                <a:cs typeface="Arial"/>
              </a:rPr>
              <a:t>fo</a:t>
            </a:r>
            <a:r>
              <a:rPr dirty="0" sz="1300" spc="-25">
                <a:solidFill>
                  <a:srgbClr val="64696D"/>
                </a:solidFill>
                <a:latin typeface="Arial"/>
                <a:cs typeface="Arial"/>
              </a:rPr>
              <a:t>r </a:t>
            </a:r>
            <a:r>
              <a:rPr dirty="0" sz="1300" spc="-10" b="1">
                <a:solidFill>
                  <a:srgbClr val="31363B"/>
                </a:solidFill>
                <a:latin typeface="Arial"/>
                <a:cs typeface="Arial"/>
              </a:rPr>
              <a:t>innovation</a:t>
            </a:r>
            <a:r>
              <a:rPr dirty="0" sz="1300" spc="-10" b="1">
                <a:solidFill>
                  <a:srgbClr val="808285"/>
                </a:solidFill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677566" y="6849367"/>
            <a:ext cx="8763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 i="1">
                <a:solidFill>
                  <a:srgbClr val="C4C6C3"/>
                </a:solidFill>
                <a:latin typeface="Times New Roman"/>
                <a:cs typeface="Times New Roman"/>
              </a:rPr>
              <a:t>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380588" y="6951497"/>
            <a:ext cx="13144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35">
                <a:solidFill>
                  <a:srgbClr val="A5AAA8"/>
                </a:solidFill>
                <a:latin typeface="Arial"/>
                <a:cs typeface="Arial"/>
              </a:rPr>
              <a:t>'-</a:t>
            </a:r>
            <a:r>
              <a:rPr dirty="0" sz="1250" spc="-50">
                <a:solidFill>
                  <a:srgbClr val="A5AAA8"/>
                </a:solidFill>
                <a:latin typeface="Arial"/>
                <a:cs typeface="Arial"/>
              </a:rPr>
              <a:t>'</a:t>
            </a:r>
            <a:endParaRPr sz="12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68989" y="7168521"/>
            <a:ext cx="14541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355">
                <a:solidFill>
                  <a:srgbClr val="C4C6C3"/>
                </a:solidFill>
                <a:latin typeface="Arial"/>
                <a:cs typeface="Arial"/>
              </a:rPr>
              <a:t>✓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95"/>
              <a:t>Immediate</a:t>
            </a:r>
            <a:r>
              <a:rPr dirty="0" spc="600"/>
              <a:t> </a:t>
            </a:r>
            <a:r>
              <a:rPr dirty="0"/>
              <a:t>Mobilization</a:t>
            </a:r>
            <a:r>
              <a:rPr dirty="0" spc="530"/>
              <a:t> </a:t>
            </a:r>
            <a:r>
              <a:rPr dirty="0" spc="40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9593" y="2409463"/>
            <a:ext cx="5391150" cy="724535"/>
          </a:xfrm>
          <a:prstGeom prst="rect">
            <a:avLst/>
          </a:prstGeom>
          <a:solidFill>
            <a:srgbClr val="0A1826"/>
          </a:solidFill>
        </p:spPr>
        <p:txBody>
          <a:bodyPr wrap="square" lIns="0" tIns="317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4100" spc="-45" b="1">
                <a:solidFill>
                  <a:srgbClr val="F6F9FB"/>
                </a:solidFill>
                <a:latin typeface="Arial"/>
                <a:cs typeface="Arial"/>
              </a:rPr>
              <a:t>1.</a:t>
            </a:r>
            <a:r>
              <a:rPr dirty="0" sz="4100" spc="-325" b="1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4100" spc="105" b="1">
                <a:solidFill>
                  <a:srgbClr val="F6F9FB"/>
                </a:solidFill>
                <a:latin typeface="Arial"/>
                <a:cs typeface="Arial"/>
              </a:rPr>
              <a:t>Immediate</a:t>
            </a:r>
            <a:r>
              <a:rPr dirty="0" sz="4100" spc="280" b="1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4100" spc="45" b="1">
                <a:solidFill>
                  <a:srgbClr val="F6F9FB"/>
                </a:solidFill>
                <a:latin typeface="Arial"/>
                <a:cs typeface="Arial"/>
              </a:rPr>
              <a:t>Actions</a:t>
            </a:r>
            <a:endParaRPr sz="41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55163" y="3108277"/>
            <a:ext cx="1439545" cy="679450"/>
          </a:xfrm>
          <a:custGeom>
            <a:avLst/>
            <a:gdLst/>
            <a:ahLst/>
            <a:cxnLst/>
            <a:rect l="l" t="t" r="r" b="b"/>
            <a:pathLst>
              <a:path w="1439545" h="679450">
                <a:moveTo>
                  <a:pt x="1439271" y="679236"/>
                </a:moveTo>
                <a:lnTo>
                  <a:pt x="0" y="679236"/>
                </a:lnTo>
                <a:lnTo>
                  <a:pt x="0" y="0"/>
                </a:lnTo>
                <a:lnTo>
                  <a:pt x="1439271" y="0"/>
                </a:lnTo>
                <a:lnTo>
                  <a:pt x="1439271" y="679236"/>
                </a:lnTo>
                <a:close/>
              </a:path>
            </a:pathLst>
          </a:custGeom>
          <a:solidFill>
            <a:srgbClr val="0A18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74857" y="3115270"/>
            <a:ext cx="486600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80085" algn="l"/>
              </a:tabLst>
            </a:pPr>
            <a:r>
              <a:rPr dirty="0" sz="3900" spc="-50">
                <a:solidFill>
                  <a:srgbClr val="EDAF5D"/>
                </a:solidFill>
                <a:latin typeface="Arial"/>
                <a:cs typeface="Arial"/>
              </a:rPr>
              <a:t>-</a:t>
            </a:r>
            <a:r>
              <a:rPr dirty="0" sz="3900">
                <a:solidFill>
                  <a:srgbClr val="EDAF5D"/>
                </a:solidFill>
                <a:latin typeface="Arial"/>
                <a:cs typeface="Arial"/>
              </a:rPr>
              <a:t>	</a:t>
            </a:r>
            <a:r>
              <a:rPr dirty="0" sz="3900" spc="-105">
                <a:solidFill>
                  <a:srgbClr val="F6F9FB"/>
                </a:solidFill>
                <a:latin typeface="Arial"/>
                <a:cs typeface="Arial"/>
              </a:rPr>
              <a:t>Secure</a:t>
            </a:r>
            <a:r>
              <a:rPr dirty="0" sz="3900" spc="-13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360">
                <a:solidFill>
                  <a:srgbClr val="EDAF5D"/>
                </a:solidFill>
                <a:latin typeface="Arial"/>
                <a:cs typeface="Arial"/>
              </a:rPr>
              <a:t>TPA</a:t>
            </a:r>
            <a:r>
              <a:rPr dirty="0" sz="3900" spc="90">
                <a:solidFill>
                  <a:srgbClr val="EDAF5D"/>
                </a:solidFill>
                <a:latin typeface="Arial"/>
                <a:cs typeface="Arial"/>
              </a:rPr>
              <a:t> </a:t>
            </a:r>
            <a:r>
              <a:rPr dirty="0" sz="3900" spc="-10">
                <a:solidFill>
                  <a:srgbClr val="EDAF5D"/>
                </a:solidFill>
                <a:latin typeface="Arial"/>
                <a:cs typeface="Arial"/>
              </a:rPr>
              <a:t>Access</a:t>
            </a:r>
            <a:endParaRPr sz="3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9446" y="3133667"/>
            <a:ext cx="6545580" cy="613410"/>
          </a:xfrm>
          <a:prstGeom prst="rect">
            <a:avLst/>
          </a:prstGeom>
          <a:solidFill>
            <a:srgbClr val="0A1826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655"/>
              </a:lnSpc>
            </a:pPr>
            <a:r>
              <a:rPr dirty="0" sz="3900" spc="-40">
                <a:solidFill>
                  <a:srgbClr val="F6F9FB"/>
                </a:solidFill>
                <a:latin typeface="Arial"/>
                <a:cs typeface="Arial"/>
              </a:rPr>
              <a:t>:</a:t>
            </a:r>
            <a:r>
              <a:rPr dirty="0" sz="3900" spc="-42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100">
                <a:solidFill>
                  <a:srgbClr val="F6F9FB"/>
                </a:solidFill>
                <a:latin typeface="Arial"/>
                <a:cs typeface="Arial"/>
              </a:rPr>
              <a:t>Optum,</a:t>
            </a:r>
            <a:r>
              <a:rPr dirty="0" sz="3900" spc="-14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254">
                <a:solidFill>
                  <a:srgbClr val="F6F9FB"/>
                </a:solidFill>
                <a:latin typeface="Arial"/>
                <a:cs typeface="Arial"/>
              </a:rPr>
              <a:t>IQVIA</a:t>
            </a:r>
            <a:r>
              <a:rPr dirty="0" sz="3900" spc="12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215">
                <a:solidFill>
                  <a:srgbClr val="F6F9FB"/>
                </a:solidFill>
                <a:latin typeface="Arial"/>
                <a:cs typeface="Arial"/>
              </a:rPr>
              <a:t>LAAD,</a:t>
            </a:r>
            <a:r>
              <a:rPr dirty="0" sz="3900" spc="1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100">
                <a:solidFill>
                  <a:srgbClr val="F6F9FB"/>
                </a:solidFill>
                <a:latin typeface="Arial"/>
                <a:cs typeface="Arial"/>
              </a:rPr>
              <a:t>Xponent.</a:t>
            </a:r>
            <a:endParaRPr sz="3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90248" y="3746584"/>
            <a:ext cx="7868284" cy="679450"/>
          </a:xfrm>
          <a:custGeom>
            <a:avLst/>
            <a:gdLst/>
            <a:ahLst/>
            <a:cxnLst/>
            <a:rect l="l" t="t" r="r" b="b"/>
            <a:pathLst>
              <a:path w="7868284" h="679450">
                <a:moveTo>
                  <a:pt x="7868117" y="679236"/>
                </a:moveTo>
                <a:lnTo>
                  <a:pt x="0" y="679236"/>
                </a:lnTo>
                <a:lnTo>
                  <a:pt x="0" y="0"/>
                </a:lnTo>
                <a:lnTo>
                  <a:pt x="7868117" y="0"/>
                </a:lnTo>
                <a:lnTo>
                  <a:pt x="7868117" y="679236"/>
                </a:lnTo>
                <a:close/>
              </a:path>
            </a:pathLst>
          </a:custGeom>
          <a:solidFill>
            <a:srgbClr val="0A18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74857" y="3753577"/>
            <a:ext cx="1193419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77545" algn="l"/>
              </a:tabLst>
            </a:pPr>
            <a:r>
              <a:rPr dirty="0" sz="3900" spc="-50">
                <a:solidFill>
                  <a:srgbClr val="EDAF5D"/>
                </a:solidFill>
                <a:latin typeface="Arial"/>
                <a:cs typeface="Arial"/>
              </a:rPr>
              <a:t>-</a:t>
            </a:r>
            <a:r>
              <a:rPr dirty="0" sz="3900">
                <a:solidFill>
                  <a:srgbClr val="EDAF5D"/>
                </a:solidFill>
                <a:latin typeface="Arial"/>
                <a:cs typeface="Arial"/>
              </a:rPr>
              <a:t>	</a:t>
            </a:r>
            <a:r>
              <a:rPr dirty="0" sz="3900" spc="-170" b="1">
                <a:solidFill>
                  <a:srgbClr val="EDAF5D"/>
                </a:solidFill>
                <a:latin typeface="Arial"/>
                <a:cs typeface="Arial"/>
              </a:rPr>
              <a:t>Align</a:t>
            </a:r>
            <a:r>
              <a:rPr dirty="0" sz="3900" spc="-325" b="1">
                <a:solidFill>
                  <a:srgbClr val="EDAF5D"/>
                </a:solidFill>
                <a:latin typeface="Arial"/>
                <a:cs typeface="Arial"/>
              </a:rPr>
              <a:t> </a:t>
            </a:r>
            <a:r>
              <a:rPr dirty="0" sz="3900" spc="-180" b="1">
                <a:solidFill>
                  <a:srgbClr val="EDAF5D"/>
                </a:solidFill>
                <a:latin typeface="Arial"/>
                <a:cs typeface="Arial"/>
              </a:rPr>
              <a:t>Protocol:</a:t>
            </a:r>
            <a:r>
              <a:rPr dirty="0" sz="3900" spc="-170" b="1">
                <a:solidFill>
                  <a:srgbClr val="EDAF5D"/>
                </a:solidFill>
                <a:latin typeface="Arial"/>
                <a:cs typeface="Arial"/>
              </a:rPr>
              <a:t> </a:t>
            </a:r>
            <a:r>
              <a:rPr dirty="0" sz="3900" spc="-10">
                <a:solidFill>
                  <a:srgbClr val="F6F9FB"/>
                </a:solidFill>
                <a:latin typeface="Arial"/>
                <a:cs typeface="Arial"/>
              </a:rPr>
              <a:t>C4</a:t>
            </a:r>
            <a:r>
              <a:rPr dirty="0" sz="3900" spc="-27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35">
                <a:solidFill>
                  <a:srgbClr val="F6F9FB"/>
                </a:solidFill>
                <a:latin typeface="Arial"/>
                <a:cs typeface="Arial"/>
              </a:rPr>
              <a:t>Center</a:t>
            </a:r>
            <a:r>
              <a:rPr dirty="0" sz="3900" spc="-22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>
                <a:solidFill>
                  <a:srgbClr val="F6F9FB"/>
                </a:solidFill>
                <a:latin typeface="Arial"/>
                <a:cs typeface="Arial"/>
              </a:rPr>
              <a:t>for</a:t>
            </a:r>
            <a:r>
              <a:rPr dirty="0" sz="3900" spc="-22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140">
                <a:solidFill>
                  <a:srgbClr val="F6F9FB"/>
                </a:solidFill>
                <a:latin typeface="Arial"/>
                <a:cs typeface="Arial"/>
              </a:rPr>
              <a:t>Research</a:t>
            </a:r>
            <a:r>
              <a:rPr dirty="0" sz="3900" spc="6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>
                <a:solidFill>
                  <a:srgbClr val="F6F9FB"/>
                </a:solidFill>
                <a:latin typeface="Arial"/>
                <a:cs typeface="Arial"/>
              </a:rPr>
              <a:t>data</a:t>
            </a:r>
            <a:r>
              <a:rPr dirty="0" sz="3900" spc="-9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55">
                <a:solidFill>
                  <a:srgbClr val="F6F9FB"/>
                </a:solidFill>
                <a:latin typeface="Arial"/>
                <a:cs typeface="Arial"/>
              </a:rPr>
              <a:t>sharing.</a:t>
            </a:r>
            <a:endParaRPr sz="3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4857" y="4391884"/>
            <a:ext cx="18478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50">
                <a:solidFill>
                  <a:srgbClr val="EDAF5D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5163" y="4405356"/>
            <a:ext cx="8105140" cy="659130"/>
          </a:xfrm>
          <a:prstGeom prst="rect">
            <a:avLst/>
          </a:prstGeom>
          <a:solidFill>
            <a:srgbClr val="0A1826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dirty="0" sz="3900" spc="-95">
                <a:solidFill>
                  <a:srgbClr val="F6F9FB"/>
                </a:solidFill>
                <a:latin typeface="Arial"/>
                <a:cs typeface="Arial"/>
              </a:rPr>
              <a:t>Schedule</a:t>
            </a:r>
            <a:r>
              <a:rPr dirty="0" sz="3900" spc="-15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10">
                <a:solidFill>
                  <a:srgbClr val="F6F9FB"/>
                </a:solidFill>
                <a:latin typeface="Arial"/>
                <a:cs typeface="Arial"/>
              </a:rPr>
              <a:t>Market</a:t>
            </a:r>
            <a:r>
              <a:rPr dirty="0" sz="3900" spc="-17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25">
                <a:solidFill>
                  <a:srgbClr val="F6F9FB"/>
                </a:solidFill>
                <a:latin typeface="Arial"/>
                <a:cs typeface="Arial"/>
              </a:rPr>
              <a:t>Definition</a:t>
            </a:r>
            <a:r>
              <a:rPr dirty="0" sz="3900" spc="-25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120">
                <a:solidFill>
                  <a:srgbClr val="F6F9FB"/>
                </a:solidFill>
                <a:latin typeface="Arial"/>
                <a:cs typeface="Arial"/>
              </a:rPr>
              <a:t>Workshop.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0521" y="5179720"/>
            <a:ext cx="11970385" cy="1391285"/>
          </a:xfrm>
          <a:custGeom>
            <a:avLst/>
            <a:gdLst/>
            <a:ahLst/>
            <a:cxnLst/>
            <a:rect l="l" t="t" r="r" b="b"/>
            <a:pathLst>
              <a:path w="11970385" h="1391284">
                <a:moveTo>
                  <a:pt x="11970322" y="711581"/>
                </a:moveTo>
                <a:lnTo>
                  <a:pt x="6674561" y="711581"/>
                </a:lnTo>
                <a:lnTo>
                  <a:pt x="6674561" y="0"/>
                </a:lnTo>
                <a:lnTo>
                  <a:pt x="0" y="0"/>
                </a:lnTo>
                <a:lnTo>
                  <a:pt x="0" y="749592"/>
                </a:lnTo>
                <a:lnTo>
                  <a:pt x="5214328" y="749592"/>
                </a:lnTo>
                <a:lnTo>
                  <a:pt x="5214328" y="1390815"/>
                </a:lnTo>
                <a:lnTo>
                  <a:pt x="11970322" y="1390815"/>
                </a:lnTo>
                <a:lnTo>
                  <a:pt x="11970322" y="711581"/>
                </a:lnTo>
                <a:close/>
              </a:path>
            </a:pathLst>
          </a:custGeom>
          <a:solidFill>
            <a:srgbClr val="0A18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07830" y="5118312"/>
            <a:ext cx="12035155" cy="140335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4100" b="1">
                <a:solidFill>
                  <a:srgbClr val="F6F9FB"/>
                </a:solidFill>
                <a:latin typeface="Arial"/>
                <a:cs typeface="Arial"/>
              </a:rPr>
              <a:t>2.</a:t>
            </a:r>
            <a:r>
              <a:rPr dirty="0" sz="4100" spc="165" b="1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4100" spc="70" b="1">
                <a:solidFill>
                  <a:srgbClr val="F6F9FB"/>
                </a:solidFill>
                <a:latin typeface="Arial"/>
                <a:cs typeface="Arial"/>
              </a:rPr>
              <a:t>Key</a:t>
            </a:r>
            <a:r>
              <a:rPr dirty="0" sz="4100" spc="-150" b="1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4100" spc="70" b="1">
                <a:solidFill>
                  <a:srgbClr val="F6F9FB"/>
                </a:solidFill>
                <a:latin typeface="Arial"/>
                <a:cs typeface="Arial"/>
              </a:rPr>
              <a:t>Workshop</a:t>
            </a:r>
            <a:r>
              <a:rPr dirty="0" sz="4100" spc="-105" b="1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4100" spc="45" b="1">
                <a:solidFill>
                  <a:srgbClr val="F6F9FB"/>
                </a:solidFill>
                <a:latin typeface="Arial"/>
                <a:cs typeface="Arial"/>
              </a:rPr>
              <a:t>Decision</a:t>
            </a:r>
            <a:endParaRPr sz="41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605"/>
              </a:spcBef>
              <a:tabLst>
                <a:tab pos="1057275" algn="l"/>
              </a:tabLst>
            </a:pPr>
            <a:r>
              <a:rPr dirty="0" sz="3900" spc="-50">
                <a:solidFill>
                  <a:srgbClr val="EDAF5D"/>
                </a:solidFill>
                <a:latin typeface="Arial"/>
                <a:cs typeface="Arial"/>
              </a:rPr>
              <a:t>-</a:t>
            </a:r>
            <a:r>
              <a:rPr dirty="0" sz="3900">
                <a:solidFill>
                  <a:srgbClr val="EDAF5D"/>
                </a:solidFill>
                <a:latin typeface="Arial"/>
                <a:cs typeface="Arial"/>
              </a:rPr>
              <a:t>	</a:t>
            </a:r>
            <a:r>
              <a:rPr dirty="0" sz="3900" spc="-185" b="1">
                <a:solidFill>
                  <a:srgbClr val="EDAF5D"/>
                </a:solidFill>
                <a:latin typeface="Arial"/>
                <a:cs typeface="Arial"/>
              </a:rPr>
              <a:t>Adoption</a:t>
            </a:r>
            <a:r>
              <a:rPr dirty="0" sz="3900" spc="-90" b="1">
                <a:solidFill>
                  <a:srgbClr val="EDAF5D"/>
                </a:solidFill>
                <a:latin typeface="Arial"/>
                <a:cs typeface="Arial"/>
              </a:rPr>
              <a:t> </a:t>
            </a:r>
            <a:r>
              <a:rPr dirty="0" sz="3900" spc="-170" b="1">
                <a:solidFill>
                  <a:srgbClr val="EDAF5D"/>
                </a:solidFill>
                <a:latin typeface="Arial"/>
                <a:cs typeface="Arial"/>
              </a:rPr>
              <a:t>Window:</a:t>
            </a:r>
            <a:r>
              <a:rPr dirty="0" sz="3900" spc="-140" b="1">
                <a:solidFill>
                  <a:srgbClr val="EDAF5D"/>
                </a:solidFill>
                <a:latin typeface="Arial"/>
                <a:cs typeface="Arial"/>
              </a:rPr>
              <a:t> </a:t>
            </a:r>
            <a:r>
              <a:rPr dirty="0" sz="3900">
                <a:solidFill>
                  <a:srgbClr val="F6F9FB"/>
                </a:solidFill>
                <a:latin typeface="Arial"/>
                <a:cs typeface="Arial"/>
              </a:rPr>
              <a:t>90-day</a:t>
            </a:r>
            <a:r>
              <a:rPr dirty="0" sz="3900" spc="-3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65">
                <a:solidFill>
                  <a:srgbClr val="F6F9FB"/>
                </a:solidFill>
                <a:latin typeface="Arial"/>
                <a:cs typeface="Arial"/>
              </a:rPr>
              <a:t>(Innovator)</a:t>
            </a:r>
            <a:r>
              <a:rPr dirty="0" sz="3900" spc="27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45">
                <a:solidFill>
                  <a:srgbClr val="F6F9FB"/>
                </a:solidFill>
                <a:latin typeface="Arial"/>
                <a:cs typeface="Arial"/>
              </a:rPr>
              <a:t>vs.</a:t>
            </a:r>
            <a:r>
              <a:rPr dirty="0" sz="3900" spc="-53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90">
                <a:solidFill>
                  <a:srgbClr val="F6F9FB"/>
                </a:solidFill>
                <a:latin typeface="Arial"/>
                <a:cs typeface="Arial"/>
              </a:rPr>
              <a:t>180-</a:t>
            </a:r>
            <a:r>
              <a:rPr dirty="0" sz="3900" spc="-50">
                <a:solidFill>
                  <a:srgbClr val="F6F9FB"/>
                </a:solidFill>
                <a:latin typeface="Arial"/>
                <a:cs typeface="Arial"/>
              </a:rPr>
              <a:t>day?</a:t>
            </a:r>
            <a:endParaRPr sz="3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4857" y="6562128"/>
            <a:ext cx="329565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66750" algn="l"/>
              </a:tabLst>
            </a:pPr>
            <a:r>
              <a:rPr dirty="0" sz="3900" spc="-50">
                <a:solidFill>
                  <a:srgbClr val="EDAF5D"/>
                </a:solidFill>
                <a:latin typeface="Arial"/>
                <a:cs typeface="Arial"/>
              </a:rPr>
              <a:t>-</a:t>
            </a:r>
            <a:r>
              <a:rPr dirty="0" sz="3900">
                <a:solidFill>
                  <a:srgbClr val="EDAF5D"/>
                </a:solidFill>
                <a:latin typeface="Arial"/>
                <a:cs typeface="Arial"/>
              </a:rPr>
              <a:t>	</a:t>
            </a:r>
            <a:r>
              <a:rPr dirty="0" sz="3900" spc="-165" b="1">
                <a:solidFill>
                  <a:srgbClr val="EDAF5D"/>
                </a:solidFill>
                <a:latin typeface="Arial"/>
                <a:cs typeface="Arial"/>
              </a:rPr>
              <a:t>Hypothesis:</a:t>
            </a:r>
            <a:endParaRPr sz="3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03675" y="6570533"/>
            <a:ext cx="9461500" cy="664210"/>
          </a:xfrm>
          <a:prstGeom prst="rect">
            <a:avLst/>
          </a:prstGeom>
          <a:solidFill>
            <a:srgbClr val="0A1826"/>
          </a:solidFill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3900" spc="-50">
                <a:solidFill>
                  <a:srgbClr val="F6F9FB"/>
                </a:solidFill>
                <a:latin typeface="Arial"/>
                <a:cs typeface="Arial"/>
              </a:rPr>
              <a:t>Defining</a:t>
            </a:r>
            <a:r>
              <a:rPr dirty="0" sz="3900" spc="-22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30">
                <a:solidFill>
                  <a:srgbClr val="F6F9FB"/>
                </a:solidFill>
                <a:latin typeface="Arial"/>
                <a:cs typeface="Arial"/>
              </a:rPr>
              <a:t>'Action</a:t>
            </a:r>
            <a:r>
              <a:rPr dirty="0" sz="3900" spc="-24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55">
                <a:solidFill>
                  <a:srgbClr val="F6F9FB"/>
                </a:solidFill>
                <a:latin typeface="Arial"/>
                <a:cs typeface="Arial"/>
              </a:rPr>
              <a:t>Moments'</a:t>
            </a:r>
            <a:r>
              <a:rPr dirty="0" sz="3900" spc="-18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85">
                <a:solidFill>
                  <a:srgbClr val="F6F9FB"/>
                </a:solidFill>
                <a:latin typeface="Arial"/>
                <a:cs typeface="Arial"/>
              </a:rPr>
              <a:t>in</a:t>
            </a:r>
            <a:r>
              <a:rPr dirty="0" sz="3900" spc="-30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>
                <a:solidFill>
                  <a:srgbClr val="F6F9FB"/>
                </a:solidFill>
                <a:latin typeface="Arial"/>
                <a:cs typeface="Arial"/>
              </a:rPr>
              <a:t>patient</a:t>
            </a:r>
            <a:r>
              <a:rPr dirty="0" sz="3900" spc="-1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75">
                <a:solidFill>
                  <a:srgbClr val="F6F9FB"/>
                </a:solidFill>
                <a:latin typeface="Arial"/>
                <a:cs typeface="Arial"/>
              </a:rPr>
              <a:t>journey.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3741" y="7349959"/>
            <a:ext cx="3726815" cy="711835"/>
          </a:xfrm>
          <a:prstGeom prst="rect">
            <a:avLst/>
          </a:prstGeom>
          <a:solidFill>
            <a:srgbClr val="0A1826"/>
          </a:solidFill>
        </p:spPr>
        <p:txBody>
          <a:bodyPr wrap="square" lIns="0" tIns="317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4100" b="1">
                <a:solidFill>
                  <a:srgbClr val="F6F9FB"/>
                </a:solidFill>
                <a:latin typeface="Arial"/>
                <a:cs typeface="Arial"/>
              </a:rPr>
              <a:t>3.</a:t>
            </a:r>
            <a:r>
              <a:rPr dirty="0" sz="4100" spc="195" b="1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4100" spc="55" b="1">
                <a:solidFill>
                  <a:srgbClr val="F6F9FB"/>
                </a:solidFill>
                <a:latin typeface="Arial"/>
                <a:cs typeface="Arial"/>
              </a:rPr>
              <a:t>Governance</a:t>
            </a:r>
            <a:endParaRPr sz="4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4857" y="8068535"/>
            <a:ext cx="19621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50">
                <a:solidFill>
                  <a:srgbClr val="EDAF5D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4488" y="8061540"/>
            <a:ext cx="11360150" cy="679450"/>
          </a:xfrm>
          <a:prstGeom prst="rect">
            <a:avLst/>
          </a:prstGeom>
          <a:solidFill>
            <a:srgbClr val="0A1826"/>
          </a:solidFill>
        </p:spPr>
        <p:txBody>
          <a:bodyPr wrap="square" lIns="0" tIns="222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dirty="0" sz="3900" spc="-55">
                <a:solidFill>
                  <a:srgbClr val="F6F9FB"/>
                </a:solidFill>
                <a:latin typeface="Arial"/>
                <a:cs typeface="Arial"/>
              </a:rPr>
              <a:t>Bi-</a:t>
            </a:r>
            <a:r>
              <a:rPr dirty="0" sz="3900">
                <a:solidFill>
                  <a:srgbClr val="F6F9FB"/>
                </a:solidFill>
                <a:latin typeface="Arial"/>
                <a:cs typeface="Arial"/>
              </a:rPr>
              <a:t>weekly</a:t>
            </a:r>
            <a:r>
              <a:rPr dirty="0" sz="3900" spc="-1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55">
                <a:solidFill>
                  <a:srgbClr val="F6F9FB"/>
                </a:solidFill>
                <a:latin typeface="Arial"/>
                <a:cs typeface="Arial"/>
              </a:rPr>
              <a:t>progress</a:t>
            </a:r>
            <a:r>
              <a:rPr dirty="0" sz="3900" spc="-185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20">
                <a:solidFill>
                  <a:srgbClr val="F6F9FB"/>
                </a:solidFill>
                <a:latin typeface="Arial"/>
                <a:cs typeface="Arial"/>
              </a:rPr>
              <a:t>reviews</a:t>
            </a:r>
            <a:r>
              <a:rPr dirty="0" sz="3900" spc="-114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>
                <a:solidFill>
                  <a:srgbClr val="F6F9FB"/>
                </a:solidFill>
                <a:latin typeface="Arial"/>
                <a:cs typeface="Arial"/>
              </a:rPr>
              <a:t>with</a:t>
            </a:r>
            <a:r>
              <a:rPr dirty="0" sz="3900" spc="-254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65">
                <a:solidFill>
                  <a:srgbClr val="F6F9FB"/>
                </a:solidFill>
                <a:latin typeface="Arial"/>
                <a:cs typeface="Arial"/>
              </a:rPr>
              <a:t>Steering</a:t>
            </a:r>
            <a:r>
              <a:rPr dirty="0" sz="3900" spc="-180">
                <a:solidFill>
                  <a:srgbClr val="F6F9FB"/>
                </a:solidFill>
                <a:latin typeface="Arial"/>
                <a:cs typeface="Arial"/>
              </a:rPr>
              <a:t> </a:t>
            </a:r>
            <a:r>
              <a:rPr dirty="0" sz="3900" spc="-70">
                <a:solidFill>
                  <a:srgbClr val="F6F9FB"/>
                </a:solidFill>
                <a:latin typeface="Arial"/>
                <a:cs typeface="Arial"/>
              </a:rPr>
              <a:t>Committee.</a:t>
            </a:r>
            <a:endParaRPr sz="39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160488" y="9415112"/>
            <a:ext cx="1215390" cy="226695"/>
          </a:xfrm>
          <a:custGeom>
            <a:avLst/>
            <a:gdLst/>
            <a:ahLst/>
            <a:cxnLst/>
            <a:rect l="l" t="t" r="r" b="b"/>
            <a:pathLst>
              <a:path w="1215390" h="226695">
                <a:moveTo>
                  <a:pt x="1215316" y="226411"/>
                </a:moveTo>
                <a:lnTo>
                  <a:pt x="0" y="226411"/>
                </a:lnTo>
                <a:lnTo>
                  <a:pt x="0" y="0"/>
                </a:lnTo>
                <a:lnTo>
                  <a:pt x="1215316" y="0"/>
                </a:lnTo>
                <a:lnTo>
                  <a:pt x="1215316" y="226411"/>
                </a:lnTo>
                <a:close/>
              </a:path>
            </a:pathLst>
          </a:custGeom>
          <a:solidFill>
            <a:srgbClr val="1628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6147783" y="9408979"/>
            <a:ext cx="125857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-110">
                <a:solidFill>
                  <a:srgbClr val="D1D4D8"/>
                </a:solidFill>
                <a:latin typeface="Arial"/>
                <a:cs typeface="Arial"/>
              </a:rPr>
              <a:t>IS\\</a:t>
            </a:r>
            <a:r>
              <a:rPr dirty="0" sz="1300" spc="25">
                <a:solidFill>
                  <a:srgbClr val="D1D4D8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6F9FB"/>
                </a:solidFill>
                <a:latin typeface="Arial"/>
                <a:cs typeface="Arial"/>
              </a:rPr>
              <a:t>N</a:t>
            </a:r>
            <a:r>
              <a:rPr dirty="0" sz="1300" spc="-10">
                <a:solidFill>
                  <a:srgbClr val="D1D4D8"/>
                </a:solidFill>
                <a:latin typeface="Arial"/>
                <a:cs typeface="Arial"/>
              </a:rPr>
              <a:t>otebookL</a:t>
            </a:r>
            <a:r>
              <a:rPr dirty="0" sz="1300" spc="-10">
                <a:solidFill>
                  <a:srgbClr val="F6F9FB"/>
                </a:solidFill>
                <a:latin typeface="Arial"/>
                <a:cs typeface="Arial"/>
              </a:rPr>
              <a:t>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2026-02-10T07:52:20Z</dcterms:created>
  <dcterms:modified xsi:type="dcterms:W3CDTF">2026-02-10T07:52:20Z</dcterms:modified>
</cp:coreProperties>
</file>