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2667000"/>
            <a:ext cx="17462500" cy="59309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1358900"/>
            <a:ext cx="17462500" cy="7747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346200" y="2182283"/>
            <a:ext cx="11917045" cy="0"/>
          </a:xfrm>
          <a:custGeom>
            <a:avLst/>
            <a:gdLst/>
            <a:ahLst/>
            <a:cxnLst/>
            <a:rect l="l" t="t" r="r" b="b"/>
            <a:pathLst>
              <a:path w="11917044" h="0">
                <a:moveTo>
                  <a:pt x="0" y="0"/>
                </a:moveTo>
                <a:lnTo>
                  <a:pt x="11916833" y="0"/>
                </a:lnTo>
              </a:path>
            </a:pathLst>
          </a:custGeom>
          <a:ln w="29633">
            <a:solidFill>
              <a:srgbClr val="3B2B1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943100" y="3683000"/>
            <a:ext cx="1308100" cy="330200"/>
          </a:xfrm>
          <a:custGeom>
            <a:avLst/>
            <a:gdLst/>
            <a:ahLst/>
            <a:cxnLst/>
            <a:rect l="l" t="t" r="r" b="b"/>
            <a:pathLst>
              <a:path w="1308100" h="330200">
                <a:moveTo>
                  <a:pt x="1308100" y="330200"/>
                </a:moveTo>
                <a:lnTo>
                  <a:pt x="0" y="330200"/>
                </a:lnTo>
                <a:lnTo>
                  <a:pt x="0" y="0"/>
                </a:lnTo>
                <a:lnTo>
                  <a:pt x="1308100" y="0"/>
                </a:lnTo>
                <a:lnTo>
                  <a:pt x="1308100" y="330200"/>
                </a:lnTo>
                <a:close/>
              </a:path>
            </a:pathLst>
          </a:custGeom>
          <a:solidFill>
            <a:srgbClr val="000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9494" y="825852"/>
            <a:ext cx="13508317" cy="1901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1169" y="3134077"/>
            <a:ext cx="13268325" cy="5579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8.png"/><Relationship Id="rId8" Type="http://schemas.openxmlformats.org/officeDocument/2006/relationships/image" Target="../media/image9.jpg"/><Relationship Id="rId9" Type="http://schemas.openxmlformats.org/officeDocument/2006/relationships/image" Target="../media/image10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pn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9.jp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jpg"/><Relationship Id="rId16" Type="http://schemas.openxmlformats.org/officeDocument/2006/relationships/image" Target="../media/image25.jpg"/><Relationship Id="rId17" Type="http://schemas.openxmlformats.org/officeDocument/2006/relationships/image" Target="../media/image26.jpg"/><Relationship Id="rId18" Type="http://schemas.openxmlformats.org/officeDocument/2006/relationships/image" Target="../media/image27.jpg"/><Relationship Id="rId19" Type="http://schemas.openxmlformats.org/officeDocument/2006/relationships/image" Target="../media/image28.png"/><Relationship Id="rId20" Type="http://schemas.openxmlformats.org/officeDocument/2006/relationships/image" Target="../media/image29.jpg"/><Relationship Id="rId21" Type="http://schemas.openxmlformats.org/officeDocument/2006/relationships/image" Target="../media/image3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png"/><Relationship Id="rId9" Type="http://schemas.openxmlformats.org/officeDocument/2006/relationships/image" Target="../media/image38.jpg"/><Relationship Id="rId10" Type="http://schemas.openxmlformats.org/officeDocument/2006/relationships/image" Target="../media/image3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jpg"/><Relationship Id="rId20" Type="http://schemas.openxmlformats.org/officeDocument/2006/relationships/image" Target="../media/image5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jpg"/><Relationship Id="rId9" Type="http://schemas.openxmlformats.org/officeDocument/2006/relationships/image" Target="../media/image66.png"/><Relationship Id="rId10" Type="http://schemas.openxmlformats.org/officeDocument/2006/relationships/image" Target="../media/image6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2.jpg"/><Relationship Id="rId3" Type="http://schemas.openxmlformats.org/officeDocument/2006/relationships/image" Target="../media/image73.jp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jpg"/><Relationship Id="rId10" Type="http://schemas.openxmlformats.org/officeDocument/2006/relationships/image" Target="../media/image80.jpg"/><Relationship Id="rId11" Type="http://schemas.openxmlformats.org/officeDocument/2006/relationships/image" Target="../media/image81.jpg"/><Relationship Id="rId12" Type="http://schemas.openxmlformats.org/officeDocument/2006/relationships/image" Target="../media/image8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jp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86.png"/><Relationship Id="rId6" Type="http://schemas.openxmlformats.org/officeDocument/2006/relationships/image" Target="../media/image87.jpg"/><Relationship Id="rId7" Type="http://schemas.openxmlformats.org/officeDocument/2006/relationships/image" Target="../media/image88.jpg"/><Relationship Id="rId8" Type="http://schemas.openxmlformats.org/officeDocument/2006/relationships/image" Target="../media/image89.jpg"/><Relationship Id="rId9" Type="http://schemas.openxmlformats.org/officeDocument/2006/relationships/image" Target="../media/image90.jpg"/><Relationship Id="rId10" Type="http://schemas.openxmlformats.org/officeDocument/2006/relationships/image" Target="../media/image91.jpg"/><Relationship Id="rId11" Type="http://schemas.openxmlformats.org/officeDocument/2006/relationships/image" Target="../media/image92.jpg"/><Relationship Id="rId12" Type="http://schemas.openxmlformats.org/officeDocument/2006/relationships/image" Target="../media/image93.jpg"/><Relationship Id="rId13" Type="http://schemas.openxmlformats.org/officeDocument/2006/relationships/image" Target="../media/image94.png"/><Relationship Id="rId14" Type="http://schemas.openxmlformats.org/officeDocument/2006/relationships/image" Target="../media/image95.jpg"/><Relationship Id="rId15" Type="http://schemas.openxmlformats.org/officeDocument/2006/relationships/image" Target="../media/image96.jpg"/><Relationship Id="rId16" Type="http://schemas.openxmlformats.org/officeDocument/2006/relationships/image" Target="../media/image97.jpg"/><Relationship Id="rId17" Type="http://schemas.openxmlformats.org/officeDocument/2006/relationships/image" Target="../media/image98.png"/><Relationship Id="rId18" Type="http://schemas.openxmlformats.org/officeDocument/2006/relationships/image" Target="../media/image99.jpg"/><Relationship Id="rId19" Type="http://schemas.openxmlformats.org/officeDocument/2006/relationships/image" Target="../media/image10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jpg"/><Relationship Id="rId3" Type="http://schemas.openxmlformats.org/officeDocument/2006/relationships/image" Target="../media/image106.jpg"/><Relationship Id="rId4" Type="http://schemas.openxmlformats.org/officeDocument/2006/relationships/image" Target="../media/image107.jpg"/><Relationship Id="rId5" Type="http://schemas.openxmlformats.org/officeDocument/2006/relationships/image" Target="../media/image108.jpg"/><Relationship Id="rId6" Type="http://schemas.openxmlformats.org/officeDocument/2006/relationships/image" Target="../media/image109.jpg"/><Relationship Id="rId7" Type="http://schemas.openxmlformats.org/officeDocument/2006/relationships/image" Target="../media/image1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jpg"/><Relationship Id="rId3" Type="http://schemas.openxmlformats.org/officeDocument/2006/relationships/image" Target="../media/image112.png"/><Relationship Id="rId4" Type="http://schemas.openxmlformats.org/officeDocument/2006/relationships/image" Target="../media/image113.jpg"/><Relationship Id="rId5" Type="http://schemas.openxmlformats.org/officeDocument/2006/relationships/image" Target="../media/image11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5.jpg"/><Relationship Id="rId3" Type="http://schemas.openxmlformats.org/officeDocument/2006/relationships/image" Target="../media/image11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jpg"/><Relationship Id="rId3" Type="http://schemas.openxmlformats.org/officeDocument/2006/relationships/image" Target="../media/image118.jpg"/><Relationship Id="rId4" Type="http://schemas.openxmlformats.org/officeDocument/2006/relationships/image" Target="../media/image119.jpg"/><Relationship Id="rId5" Type="http://schemas.openxmlformats.org/officeDocument/2006/relationships/image" Target="../media/image12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jpg"/><Relationship Id="rId3" Type="http://schemas.openxmlformats.org/officeDocument/2006/relationships/image" Target="../media/image122.jpg"/><Relationship Id="rId4" Type="http://schemas.openxmlformats.org/officeDocument/2006/relationships/image" Target="../media/image12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4.jpg"/><Relationship Id="rId3" Type="http://schemas.openxmlformats.org/officeDocument/2006/relationships/image" Target="../media/image125.jpg"/><Relationship Id="rId4" Type="http://schemas.openxmlformats.org/officeDocument/2006/relationships/image" Target="../media/image126.jpg"/><Relationship Id="rId5" Type="http://schemas.openxmlformats.org/officeDocument/2006/relationships/image" Target="../media/image12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700" y="0"/>
            <a:ext cx="17462500" cy="6781800"/>
            <a:chOff x="12700" y="0"/>
            <a:chExt cx="17462500" cy="67818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0" y="0"/>
              <a:ext cx="17462500" cy="67818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0" y="6565900"/>
              <a:ext cx="17462500" cy="215900"/>
            </a:xfrm>
            <a:prstGeom prst="rect">
              <a:avLst/>
            </a:prstGeom>
          </p:spPr>
        </p:pic>
      </p:grpSp>
      <p:grpSp>
        <p:nvGrpSpPr>
          <p:cNvPr id="5" name="object 5" descr=""/>
          <p:cNvGrpSpPr/>
          <p:nvPr/>
        </p:nvGrpSpPr>
        <p:grpSpPr>
          <a:xfrm>
            <a:off x="12700" y="7315200"/>
            <a:ext cx="17462500" cy="76200"/>
            <a:chOff x="12700" y="7315200"/>
            <a:chExt cx="17462500" cy="7620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0" y="7315200"/>
              <a:ext cx="17462500" cy="762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00" y="7315200"/>
              <a:ext cx="17462500" cy="76200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12700" y="8407400"/>
            <a:ext cx="17462500" cy="203200"/>
            <a:chOff x="12700" y="8407400"/>
            <a:chExt cx="17462500" cy="203200"/>
          </a:xfrm>
        </p:grpSpPr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00" y="8407400"/>
              <a:ext cx="17462500" cy="2032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00" y="8407400"/>
              <a:ext cx="17462500" cy="203200"/>
            </a:xfrm>
            <a:prstGeom prst="rect">
              <a:avLst/>
            </a:prstGeom>
          </p:spPr>
        </p:pic>
      </p:grpSp>
      <p:sp>
        <p:nvSpPr>
          <p:cNvPr id="11" name="object 11" descr=""/>
          <p:cNvSpPr/>
          <p:nvPr/>
        </p:nvSpPr>
        <p:spPr>
          <a:xfrm>
            <a:off x="12700" y="9055100"/>
            <a:ext cx="17449800" cy="165100"/>
          </a:xfrm>
          <a:custGeom>
            <a:avLst/>
            <a:gdLst/>
            <a:ahLst/>
            <a:cxnLst/>
            <a:rect l="l" t="t" r="r" b="b"/>
            <a:pathLst>
              <a:path w="17449800" h="165100">
                <a:moveTo>
                  <a:pt x="17449800" y="165100"/>
                </a:moveTo>
                <a:lnTo>
                  <a:pt x="0" y="165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165100"/>
                </a:lnTo>
                <a:close/>
              </a:path>
            </a:pathLst>
          </a:custGeom>
          <a:solidFill>
            <a:srgbClr val="0818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5704782" y="8996891"/>
            <a:ext cx="106616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solidFill>
                  <a:srgbClr val="BFBFBF"/>
                </a:solidFill>
                <a:latin typeface="Lucida Sans Unicode"/>
                <a:cs typeface="Lucida Sans Unicode"/>
              </a:rPr>
              <a:t>hon</a:t>
            </a:r>
            <a:r>
              <a:rPr dirty="0" sz="1450">
                <a:solidFill>
                  <a:srgbClr val="071323"/>
                </a:solidFill>
                <a:latin typeface="Lucida Sans Unicode"/>
                <a:cs typeface="Lucida Sans Unicode"/>
              </a:rPr>
              <a:t>f</a:t>
            </a:r>
            <a:r>
              <a:rPr dirty="0" sz="1450" spc="-60">
                <a:solidFill>
                  <a:srgbClr val="071323"/>
                </a:solidFill>
                <a:latin typeface="Lucida Sans Unicode"/>
                <a:cs typeface="Lucida Sans Unicode"/>
              </a:rPr>
              <a:t> </a:t>
            </a:r>
            <a:r>
              <a:rPr dirty="0" sz="1450" spc="-35">
                <a:solidFill>
                  <a:srgbClr val="C1C1C1"/>
                </a:solidFill>
                <a:latin typeface="Lucida Sans Unicode"/>
                <a:cs typeface="Lucida Sans Unicode"/>
              </a:rPr>
              <a:t>den</a:t>
            </a:r>
            <a:r>
              <a:rPr dirty="0" sz="1450" spc="-35">
                <a:solidFill>
                  <a:srgbClr val="939CAC"/>
                </a:solidFill>
                <a:latin typeface="Lucida Sans Unicode"/>
                <a:cs typeface="Lucida Sans Unicode"/>
              </a:rPr>
              <a:t>ț</a:t>
            </a:r>
            <a:r>
              <a:rPr dirty="0" sz="1450" spc="-35">
                <a:solidFill>
                  <a:srgbClr val="D4D4D4"/>
                </a:solidFill>
                <a:latin typeface="Lucida Sans Unicode"/>
                <a:cs typeface="Lucida Sans Unicode"/>
              </a:rPr>
              <a:t>ia</a:t>
            </a:r>
            <a:r>
              <a:rPr dirty="0" sz="1450" spc="-35">
                <a:solidFill>
                  <a:srgbClr val="E6E6E6"/>
                </a:solidFill>
                <a:latin typeface="Lucida Sans Unicode"/>
                <a:cs typeface="Lucida Sans Unicode"/>
              </a:rPr>
              <a:t>i</a:t>
            </a:r>
            <a:endParaRPr sz="1450">
              <a:latin typeface="Lucida Sans Unicode"/>
              <a:cs typeface="Lucida Sans Unicode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6997700"/>
            <a:ext cx="17462500" cy="18796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1384300"/>
            <a:ext cx="17462500" cy="381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650316" y="6959600"/>
            <a:ext cx="0" cy="2057400"/>
          </a:xfrm>
          <a:custGeom>
            <a:avLst/>
            <a:gdLst/>
            <a:ahLst/>
            <a:cxnLst/>
            <a:rect l="l" t="t" r="r" b="b"/>
            <a:pathLst>
              <a:path w="0"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650316" y="6743700"/>
            <a:ext cx="0" cy="88900"/>
          </a:xfrm>
          <a:custGeom>
            <a:avLst/>
            <a:gdLst/>
            <a:ahLst/>
            <a:cxnLst/>
            <a:rect l="l" t="t" r="r" b="b"/>
            <a:pathLst>
              <a:path w="0" h="88900">
                <a:moveTo>
                  <a:pt x="0" y="0"/>
                </a:moveTo>
                <a:lnTo>
                  <a:pt x="0" y="888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650316" y="59436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650316" y="4724400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4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650316" y="44069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650316" y="40640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650316" y="34036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650316" y="2908300"/>
            <a:ext cx="0" cy="215900"/>
          </a:xfrm>
          <a:custGeom>
            <a:avLst/>
            <a:gdLst/>
            <a:ahLst/>
            <a:cxnLst/>
            <a:rect l="l" t="t" r="r" b="b"/>
            <a:pathLst>
              <a:path w="0" h="215900">
                <a:moveTo>
                  <a:pt x="0" y="0"/>
                </a:moveTo>
                <a:lnTo>
                  <a:pt x="0" y="2158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650316" y="266700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61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650316" y="2235200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4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650316" y="1951567"/>
            <a:ext cx="0" cy="106045"/>
          </a:xfrm>
          <a:custGeom>
            <a:avLst/>
            <a:gdLst/>
            <a:ahLst/>
            <a:cxnLst/>
            <a:rect l="l" t="t" r="r" b="b"/>
            <a:pathLst>
              <a:path w="0" h="106044">
                <a:moveTo>
                  <a:pt x="0" y="0"/>
                </a:moveTo>
                <a:lnTo>
                  <a:pt x="0" y="105832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2841816" y="6959600"/>
            <a:ext cx="0" cy="2057400"/>
          </a:xfrm>
          <a:custGeom>
            <a:avLst/>
            <a:gdLst/>
            <a:ahLst/>
            <a:cxnLst/>
            <a:rect l="l" t="t" r="r" b="b"/>
            <a:pathLst>
              <a:path w="0"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2841816" y="6743700"/>
            <a:ext cx="0" cy="88900"/>
          </a:xfrm>
          <a:custGeom>
            <a:avLst/>
            <a:gdLst/>
            <a:ahLst/>
            <a:cxnLst/>
            <a:rect l="l" t="t" r="r" b="b"/>
            <a:pathLst>
              <a:path w="0" h="88900">
                <a:moveTo>
                  <a:pt x="0" y="0"/>
                </a:moveTo>
                <a:lnTo>
                  <a:pt x="0" y="888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2841816" y="59436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2841816" y="4724400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4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2841816" y="44069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2841816" y="40640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12841816" y="3403600"/>
            <a:ext cx="0" cy="25400"/>
          </a:xfrm>
          <a:custGeom>
            <a:avLst/>
            <a:gdLst/>
            <a:ahLst/>
            <a:cxnLst/>
            <a:rect l="l" t="t" r="r" b="b"/>
            <a:pathLst>
              <a:path w="0" h="25400">
                <a:moveTo>
                  <a:pt x="0" y="0"/>
                </a:moveTo>
                <a:lnTo>
                  <a:pt x="0" y="253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2841816" y="2908300"/>
            <a:ext cx="0" cy="215900"/>
          </a:xfrm>
          <a:custGeom>
            <a:avLst/>
            <a:gdLst/>
            <a:ahLst/>
            <a:cxnLst/>
            <a:rect l="l" t="t" r="r" b="b"/>
            <a:pathLst>
              <a:path w="0" h="215900">
                <a:moveTo>
                  <a:pt x="0" y="0"/>
                </a:moveTo>
                <a:lnTo>
                  <a:pt x="0" y="2158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2841816" y="266700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0"/>
                </a:moveTo>
                <a:lnTo>
                  <a:pt x="0" y="761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2841816" y="2235200"/>
            <a:ext cx="0" cy="63500"/>
          </a:xfrm>
          <a:custGeom>
            <a:avLst/>
            <a:gdLst/>
            <a:ahLst/>
            <a:cxnLst/>
            <a:rect l="l" t="t" r="r" b="b"/>
            <a:pathLst>
              <a:path w="0" h="63500">
                <a:moveTo>
                  <a:pt x="0" y="0"/>
                </a:moveTo>
                <a:lnTo>
                  <a:pt x="0" y="63499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2841816" y="2027767"/>
            <a:ext cx="0" cy="29845"/>
          </a:xfrm>
          <a:custGeom>
            <a:avLst/>
            <a:gdLst/>
            <a:ahLst/>
            <a:cxnLst/>
            <a:rect l="l" t="t" r="r" b="b"/>
            <a:pathLst>
              <a:path w="0" h="29844">
                <a:moveTo>
                  <a:pt x="0" y="0"/>
                </a:moveTo>
                <a:lnTo>
                  <a:pt x="0" y="29632"/>
                </a:lnTo>
              </a:path>
            </a:pathLst>
          </a:custGeom>
          <a:ln w="4233">
            <a:solidFill>
              <a:srgbClr val="1F23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2700" y="647700"/>
            <a:ext cx="17449800" cy="584200"/>
          </a:xfrm>
          <a:custGeom>
            <a:avLst/>
            <a:gdLst/>
            <a:ahLst/>
            <a:cxnLst/>
            <a:rect l="l" t="t" r="r" b="b"/>
            <a:pathLst>
              <a:path w="17449800" h="584200">
                <a:moveTo>
                  <a:pt x="17449800" y="584200"/>
                </a:moveTo>
                <a:lnTo>
                  <a:pt x="0" y="5842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584200"/>
                </a:lnTo>
                <a:close/>
              </a:path>
            </a:pathLst>
          </a:custGeom>
          <a:solidFill>
            <a:srgbClr val="0C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722848" y="409222"/>
            <a:ext cx="14573885" cy="8299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50" spc="-245">
                <a:solidFill>
                  <a:srgbClr val="A07E50"/>
                </a:solidFill>
                <a:latin typeface="Times New Roman"/>
                <a:cs typeface="Times New Roman"/>
              </a:rPr>
              <a:t>Executive</a:t>
            </a:r>
            <a:r>
              <a:rPr dirty="0" sz="5250" spc="-95">
                <a:solidFill>
                  <a:srgbClr val="A07E50"/>
                </a:solidFill>
                <a:latin typeface="Times New Roman"/>
                <a:cs typeface="Times New Roman"/>
              </a:rPr>
              <a:t> </a:t>
            </a:r>
            <a:r>
              <a:rPr dirty="0" sz="5250" spc="-180">
                <a:solidFill>
                  <a:srgbClr val="E4AC62"/>
                </a:solidFill>
                <a:latin typeface="Times New Roman"/>
                <a:cs typeface="Times New Roman"/>
              </a:rPr>
              <a:t>Summary:</a:t>
            </a:r>
            <a:r>
              <a:rPr dirty="0" sz="5250" spc="-60">
                <a:solidFill>
                  <a:srgbClr val="E4AC62"/>
                </a:solidFill>
                <a:latin typeface="Times New Roman"/>
                <a:cs typeface="Times New Roman"/>
              </a:rPr>
              <a:t> </a:t>
            </a:r>
            <a:r>
              <a:rPr dirty="0" sz="5250" spc="-254">
                <a:solidFill>
                  <a:srgbClr val="BA9156"/>
                </a:solidFill>
                <a:latin typeface="Times New Roman"/>
                <a:cs typeface="Times New Roman"/>
              </a:rPr>
              <a:t>Building</a:t>
            </a:r>
            <a:r>
              <a:rPr dirty="0" sz="5250" spc="-70">
                <a:solidFill>
                  <a:srgbClr val="BA9156"/>
                </a:solidFill>
                <a:latin typeface="Times New Roman"/>
                <a:cs typeface="Times New Roman"/>
              </a:rPr>
              <a:t> </a:t>
            </a:r>
            <a:r>
              <a:rPr dirty="0" sz="5250" spc="-100">
                <a:solidFill>
                  <a:srgbClr val="BC935D"/>
                </a:solidFill>
                <a:latin typeface="Times New Roman"/>
                <a:cs typeface="Times New Roman"/>
              </a:rPr>
              <a:t>a</a:t>
            </a:r>
            <a:r>
              <a:rPr dirty="0" sz="5250" spc="-285">
                <a:solidFill>
                  <a:srgbClr val="BC935D"/>
                </a:solidFill>
                <a:latin typeface="Times New Roman"/>
                <a:cs typeface="Times New Roman"/>
              </a:rPr>
              <a:t> </a:t>
            </a:r>
            <a:r>
              <a:rPr dirty="0" sz="5250" spc="-305">
                <a:solidFill>
                  <a:srgbClr val="BA9357"/>
                </a:solidFill>
                <a:latin typeface="Times New Roman"/>
                <a:cs typeface="Times New Roman"/>
              </a:rPr>
              <a:t>Living</a:t>
            </a:r>
            <a:r>
              <a:rPr dirty="0" sz="5250" spc="-80">
                <a:solidFill>
                  <a:srgbClr val="BA9357"/>
                </a:solidFill>
                <a:latin typeface="Times New Roman"/>
                <a:cs typeface="Times New Roman"/>
              </a:rPr>
              <a:t> </a:t>
            </a:r>
            <a:r>
              <a:rPr dirty="0" sz="5250" spc="-185">
                <a:solidFill>
                  <a:srgbClr val="AC8C5B"/>
                </a:solidFill>
                <a:latin typeface="Times New Roman"/>
                <a:cs typeface="Times New Roman"/>
              </a:rPr>
              <a:t>Intelligence</a:t>
            </a:r>
            <a:r>
              <a:rPr dirty="0" sz="5250" spc="-55">
                <a:solidFill>
                  <a:srgbClr val="AC8C5B"/>
                </a:solidFill>
                <a:latin typeface="Times New Roman"/>
                <a:cs typeface="Times New Roman"/>
              </a:rPr>
              <a:t> </a:t>
            </a:r>
            <a:r>
              <a:rPr dirty="0" sz="5250" spc="-110">
                <a:solidFill>
                  <a:srgbClr val="EDBF7C"/>
                </a:solidFill>
                <a:latin typeface="Times New Roman"/>
                <a:cs typeface="Times New Roman"/>
              </a:rPr>
              <a:t>System</a:t>
            </a:r>
            <a:endParaRPr sz="5250">
              <a:latin typeface="Times New Roman"/>
              <a:cs typeface="Times New Roman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2700" y="2057400"/>
            <a:ext cx="17462500" cy="190500"/>
            <a:chOff x="12700" y="2057400"/>
            <a:chExt cx="17462500" cy="190500"/>
          </a:xfrm>
        </p:grpSpPr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38100" y="2057400"/>
              <a:ext cx="2311400" cy="19050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99500" y="2057400"/>
              <a:ext cx="2311400" cy="19050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59300" y="2057400"/>
              <a:ext cx="2311400" cy="19050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00" y="2057400"/>
              <a:ext cx="17462500" cy="190500"/>
            </a:xfrm>
            <a:prstGeom prst="rect">
              <a:avLst/>
            </a:prstGeom>
          </p:spPr>
        </p:pic>
      </p:grpSp>
      <p:sp>
        <p:nvSpPr>
          <p:cNvPr id="33" name="object 33" descr=""/>
          <p:cNvSpPr/>
          <p:nvPr/>
        </p:nvSpPr>
        <p:spPr>
          <a:xfrm>
            <a:off x="12700" y="2298700"/>
            <a:ext cx="17449800" cy="368300"/>
          </a:xfrm>
          <a:custGeom>
            <a:avLst/>
            <a:gdLst/>
            <a:ahLst/>
            <a:cxnLst/>
            <a:rect l="l" t="t" r="r" b="b"/>
            <a:pathLst>
              <a:path w="17449800" h="368300">
                <a:moveTo>
                  <a:pt x="17449800" y="368300"/>
                </a:moveTo>
                <a:lnTo>
                  <a:pt x="0" y="3683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68300"/>
                </a:lnTo>
                <a:close/>
              </a:path>
            </a:pathLst>
          </a:custGeom>
          <a:solidFill>
            <a:srgbClr val="0C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822268" y="2124427"/>
            <a:ext cx="2414905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>
                <a:solidFill>
                  <a:srgbClr val="D4AF82"/>
                </a:solidFill>
                <a:latin typeface="Calibri"/>
                <a:cs typeface="Calibri"/>
              </a:rPr>
              <a:t>The</a:t>
            </a:r>
            <a:r>
              <a:rPr dirty="0" sz="3450" spc="-80">
                <a:solidFill>
                  <a:srgbClr val="D4AF82"/>
                </a:solidFill>
                <a:latin typeface="Calibri"/>
                <a:cs typeface="Calibri"/>
              </a:rPr>
              <a:t> </a:t>
            </a:r>
            <a:r>
              <a:rPr dirty="0" sz="3450" spc="-45">
                <a:solidFill>
                  <a:srgbClr val="4F3B21"/>
                </a:solidFill>
                <a:latin typeface="Calibri"/>
                <a:cs typeface="Calibri"/>
              </a:rPr>
              <a:t>Objective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533483" y="2195688"/>
            <a:ext cx="13652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50">
                <a:solidFill>
                  <a:srgbClr val="AEA18E"/>
                </a:solidFill>
                <a:latin typeface="Calibri"/>
                <a:cs typeface="Calibri"/>
              </a:rPr>
              <a:t>I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000439" y="2106788"/>
            <a:ext cx="2094864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75">
                <a:solidFill>
                  <a:srgbClr val="38280F"/>
                </a:solidFill>
                <a:latin typeface="Calibri"/>
                <a:cs typeface="Calibri"/>
              </a:rPr>
              <a:t>The</a:t>
            </a:r>
            <a:r>
              <a:rPr dirty="0" sz="3600" spc="-125">
                <a:solidFill>
                  <a:srgbClr val="38280F"/>
                </a:solidFill>
                <a:latin typeface="Calibri"/>
                <a:cs typeface="Calibri"/>
              </a:rPr>
              <a:t> </a:t>
            </a:r>
            <a:r>
              <a:rPr dirty="0" sz="3600" spc="-220">
                <a:solidFill>
                  <a:srgbClr val="261600"/>
                </a:solidFill>
                <a:latin typeface="Calibri"/>
                <a:cs typeface="Calibri"/>
              </a:rPr>
              <a:t>Method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9089967" y="2124427"/>
            <a:ext cx="1530985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450">
                <a:solidFill>
                  <a:srgbClr val="E6C38C"/>
                </a:solidFill>
                <a:latin typeface="Calibri"/>
                <a:cs typeface="Calibri"/>
              </a:rPr>
              <a:t>The</a:t>
            </a:r>
            <a:r>
              <a:rPr dirty="0" sz="3450" spc="-100">
                <a:solidFill>
                  <a:srgbClr val="E6C38C"/>
                </a:solidFill>
                <a:latin typeface="Calibri"/>
                <a:cs typeface="Calibri"/>
              </a:rPr>
              <a:t> </a:t>
            </a:r>
            <a:r>
              <a:rPr dirty="0" sz="3450" spc="-70">
                <a:solidFill>
                  <a:srgbClr val="543F24"/>
                </a:solidFill>
                <a:latin typeface="Calibri"/>
                <a:cs typeface="Calibri"/>
              </a:rPr>
              <a:t>Pilot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2724980" y="2195688"/>
            <a:ext cx="13335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50">
                <a:solidFill>
                  <a:srgbClr val="AEA18E"/>
                </a:solidFill>
                <a:latin typeface="Calibri"/>
                <a:cs typeface="Calibri"/>
              </a:rPr>
              <a:t>I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3191934" y="2106788"/>
            <a:ext cx="2352675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70">
                <a:solidFill>
                  <a:srgbClr val="4F2F08"/>
                </a:solidFill>
                <a:latin typeface="Calibri"/>
                <a:cs typeface="Calibri"/>
              </a:rPr>
              <a:t>The</a:t>
            </a:r>
            <a:r>
              <a:rPr dirty="0" sz="3600" spc="-114">
                <a:solidFill>
                  <a:srgbClr val="4F2F08"/>
                </a:solidFill>
                <a:latin typeface="Calibri"/>
                <a:cs typeface="Calibri"/>
              </a:rPr>
              <a:t> </a:t>
            </a:r>
            <a:r>
              <a:rPr dirty="0" sz="3600" spc="-165">
                <a:solidFill>
                  <a:srgbClr val="38260F"/>
                </a:solidFill>
                <a:latin typeface="Calibri"/>
                <a:cs typeface="Calibri"/>
              </a:rPr>
              <a:t>Outcome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2700" y="2743200"/>
            <a:ext cx="17462500" cy="177800"/>
            <a:chOff x="12700" y="2743200"/>
            <a:chExt cx="17462500" cy="177800"/>
          </a:xfrm>
        </p:grpSpPr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38100" y="2743200"/>
              <a:ext cx="2311400" cy="177800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500" y="2743200"/>
              <a:ext cx="2311400" cy="17780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59300" y="2743200"/>
              <a:ext cx="2311400" cy="177800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700" y="2743200"/>
              <a:ext cx="17462500" cy="177800"/>
            </a:xfrm>
            <a:prstGeom prst="rect">
              <a:avLst/>
            </a:prstGeom>
          </p:spPr>
        </p:pic>
      </p:grpSp>
      <p:grpSp>
        <p:nvGrpSpPr>
          <p:cNvPr id="45" name="object 45" descr=""/>
          <p:cNvGrpSpPr/>
          <p:nvPr/>
        </p:nvGrpSpPr>
        <p:grpSpPr>
          <a:xfrm>
            <a:off x="12700" y="3124200"/>
            <a:ext cx="17449800" cy="1282700"/>
            <a:chOff x="12700" y="3124200"/>
            <a:chExt cx="17449800" cy="1282700"/>
          </a:xfrm>
        </p:grpSpPr>
        <p:sp>
          <p:nvSpPr>
            <p:cNvPr id="46" name="object 46" descr=""/>
            <p:cNvSpPr/>
            <p:nvPr/>
          </p:nvSpPr>
          <p:spPr>
            <a:xfrm>
              <a:off x="12700" y="3124200"/>
              <a:ext cx="17449800" cy="279400"/>
            </a:xfrm>
            <a:custGeom>
              <a:avLst/>
              <a:gdLst/>
              <a:ahLst/>
              <a:cxnLst/>
              <a:rect l="l" t="t" r="r" b="b"/>
              <a:pathLst>
                <a:path w="17449800" h="279400">
                  <a:moveTo>
                    <a:pt x="17449800" y="279400"/>
                  </a:moveTo>
                  <a:lnTo>
                    <a:pt x="0" y="2794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279400"/>
                  </a:lnTo>
                  <a:close/>
                </a:path>
              </a:pathLst>
            </a:custGeom>
            <a:solidFill>
              <a:srgbClr val="0A1A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2700" y="3429000"/>
              <a:ext cx="17449800" cy="635000"/>
            </a:xfrm>
            <a:custGeom>
              <a:avLst/>
              <a:gdLst/>
              <a:ahLst/>
              <a:cxnLst/>
              <a:rect l="l" t="t" r="r" b="b"/>
              <a:pathLst>
                <a:path w="17449800" h="635000">
                  <a:moveTo>
                    <a:pt x="17449800" y="635000"/>
                  </a:moveTo>
                  <a:lnTo>
                    <a:pt x="0" y="6350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635000"/>
                  </a:lnTo>
                  <a:close/>
                </a:path>
              </a:pathLst>
            </a:custGeom>
            <a:solidFill>
              <a:srgbClr val="0C1D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2700" y="4089400"/>
              <a:ext cx="17449800" cy="317500"/>
            </a:xfrm>
            <a:custGeom>
              <a:avLst/>
              <a:gdLst/>
              <a:ahLst/>
              <a:cxnLst/>
              <a:rect l="l" t="t" r="r" b="b"/>
              <a:pathLst>
                <a:path w="17449800" h="317500">
                  <a:moveTo>
                    <a:pt x="17449800" y="317500"/>
                  </a:moveTo>
                  <a:lnTo>
                    <a:pt x="0" y="3175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317500"/>
                  </a:lnTo>
                  <a:close/>
                </a:path>
              </a:pathLst>
            </a:custGeom>
            <a:solidFill>
              <a:srgbClr val="0C1C3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4541723" y="4067880"/>
            <a:ext cx="10477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70">
                <a:solidFill>
                  <a:srgbClr val="AEA18E"/>
                </a:solidFill>
                <a:latin typeface="Lucida Sans Unicode"/>
                <a:cs typeface="Lucida Sans Unicode"/>
              </a:rPr>
              <a:t>I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2736500" y="4103158"/>
            <a:ext cx="10033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50">
                <a:solidFill>
                  <a:srgbClr val="AEA18E"/>
                </a:solidFill>
                <a:latin typeface="Lucida Sans Unicode"/>
                <a:cs typeface="Lucida Sans Unicode"/>
              </a:rPr>
              <a:t>I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12700" y="4432300"/>
            <a:ext cx="17449800" cy="292100"/>
          </a:xfrm>
          <a:custGeom>
            <a:avLst/>
            <a:gdLst/>
            <a:ahLst/>
            <a:cxnLst/>
            <a:rect l="l" t="t" r="r" b="b"/>
            <a:pathLst>
              <a:path w="17449800" h="292100">
                <a:moveTo>
                  <a:pt x="17449800" y="292100"/>
                </a:moveTo>
                <a:lnTo>
                  <a:pt x="0" y="292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921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770408" y="3009900"/>
            <a:ext cx="3630929" cy="1700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">
              <a:lnSpc>
                <a:spcPts val="2900"/>
              </a:lnSpc>
              <a:spcBef>
                <a:spcPts val="100"/>
              </a:spcBef>
            </a:pPr>
            <a:r>
              <a:rPr dirty="0" sz="2500" spc="-210">
                <a:solidFill>
                  <a:srgbClr val="FFFFFF"/>
                </a:solidFill>
                <a:latin typeface="Lucida Sans Unicode"/>
                <a:cs typeface="Lucida Sans Unicode"/>
              </a:rPr>
              <a:t>Secure</a:t>
            </a:r>
            <a:r>
              <a:rPr dirty="0" sz="25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45">
                <a:solidFill>
                  <a:srgbClr val="FFFFFF"/>
                </a:solidFill>
                <a:latin typeface="Lucida Sans Unicode"/>
                <a:cs typeface="Lucida Sans Unicode"/>
              </a:rPr>
              <a:t>Maritide</a:t>
            </a:r>
            <a:r>
              <a:rPr dirty="0" sz="2500" spc="-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5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sz="2500" spc="-3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00">
                <a:solidFill>
                  <a:srgbClr val="FFFFFF"/>
                </a:solidFill>
                <a:latin typeface="Lucida Sans Unicode"/>
                <a:cs typeface="Lucida Sans Unicode"/>
              </a:rPr>
              <a:t>dominance</a:t>
            </a:r>
            <a:endParaRPr sz="2500">
              <a:latin typeface="Lucida Sans Unicode"/>
              <a:cs typeface="Lucida Sans Unicode"/>
            </a:endParaRPr>
          </a:p>
          <a:p>
            <a:pPr marL="15240">
              <a:lnSpc>
                <a:spcPts val="2470"/>
              </a:lnSpc>
            </a:pPr>
            <a:r>
              <a:rPr dirty="0" sz="2200" spc="-10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20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7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2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00">
                <a:solidFill>
                  <a:srgbClr val="FFFFFF"/>
                </a:solidFill>
                <a:latin typeface="Lucida Sans Unicode"/>
                <a:cs typeface="Lucida Sans Unicode"/>
              </a:rPr>
              <a:t>$1T</a:t>
            </a:r>
            <a:r>
              <a:rPr dirty="0" sz="220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Lucida Sans Unicode"/>
                <a:cs typeface="Lucida Sans Unicode"/>
              </a:rPr>
              <a:t>obesity</a:t>
            </a:r>
            <a:endParaRPr sz="2200">
              <a:latin typeface="Lucida Sans Unicode"/>
              <a:cs typeface="Lucida Sans Unicode"/>
            </a:endParaRPr>
          </a:p>
          <a:p>
            <a:pPr marL="12700" marR="309880" indent="2540">
              <a:lnSpc>
                <a:spcPct val="86100"/>
              </a:lnSpc>
              <a:spcBef>
                <a:spcPts val="310"/>
              </a:spcBef>
            </a:pPr>
            <a:r>
              <a:rPr dirty="0" sz="2200" spc="-125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22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9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dirty="0" sz="22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90">
                <a:solidFill>
                  <a:srgbClr val="FFFFFF"/>
                </a:solidFill>
                <a:latin typeface="Lucida Sans Unicode"/>
                <a:cs typeface="Lucida Sans Unicode"/>
              </a:rPr>
              <a:t>identifying</a:t>
            </a:r>
            <a:r>
              <a:rPr dirty="0" sz="22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4830" sz="3450" spc="-247">
                <a:solidFill>
                  <a:srgbClr val="FFFFFF"/>
                </a:solidFill>
                <a:latin typeface="Lucida Sans Unicode"/>
                <a:cs typeface="Lucida Sans Unicode"/>
              </a:rPr>
              <a:t>True </a:t>
            </a:r>
            <a:r>
              <a:rPr dirty="0" sz="2550" spc="-254">
                <a:solidFill>
                  <a:srgbClr val="FFFFFF"/>
                </a:solidFill>
                <a:latin typeface="Lucida Sans Unicode"/>
                <a:cs typeface="Lucida Sans Unicode"/>
              </a:rPr>
              <a:t>Early</a:t>
            </a:r>
            <a:r>
              <a:rPr dirty="0" sz="255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300">
                <a:solidFill>
                  <a:srgbClr val="FFFFFF"/>
                </a:solidFill>
                <a:latin typeface="Lucida Sans Unicode"/>
                <a:cs typeface="Lucida Sans Unicode"/>
              </a:rPr>
              <a:t>Adopters</a:t>
            </a:r>
            <a:r>
              <a:rPr dirty="0" sz="25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360">
                <a:solidFill>
                  <a:srgbClr val="FFFFFF"/>
                </a:solidFill>
                <a:latin typeface="Lucida Sans Unicode"/>
                <a:cs typeface="Lucida Sans Unicode"/>
              </a:rPr>
              <a:t>90</a:t>
            </a:r>
            <a:r>
              <a:rPr dirty="0" sz="25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0">
                <a:solidFill>
                  <a:srgbClr val="FFFFFF"/>
                </a:solidFill>
                <a:latin typeface="Lucida Sans Unicode"/>
                <a:cs typeface="Lucida Sans Unicode"/>
              </a:rPr>
              <a:t>days </a:t>
            </a:r>
            <a:r>
              <a:rPr dirty="0" sz="2400" spc="-245">
                <a:solidFill>
                  <a:srgbClr val="FFFFFF"/>
                </a:solidFill>
                <a:latin typeface="Lucida Sans Unicode"/>
                <a:cs typeface="Lucida Sans Unicode"/>
              </a:rPr>
              <a:t>post-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launch.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4923388" y="3009900"/>
            <a:ext cx="3217545" cy="1724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4">
                <a:solidFill>
                  <a:srgbClr val="FFFFFF"/>
                </a:solidFill>
                <a:latin typeface="Lucida Sans Unicode"/>
                <a:cs typeface="Lucida Sans Unicode"/>
              </a:rPr>
              <a:t>Learning</a:t>
            </a:r>
            <a:r>
              <a:rPr dirty="0" sz="25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70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85">
                <a:solidFill>
                  <a:srgbClr val="FFFFFF"/>
                </a:solidFill>
                <a:latin typeface="Lucida Sans Unicode"/>
                <a:cs typeface="Lucida Sans Unicode"/>
              </a:rPr>
              <a:t>Analogues</a:t>
            </a:r>
            <a:endParaRPr sz="2500">
              <a:latin typeface="Lucida Sans Unicode"/>
              <a:cs typeface="Lucida Sans Unicode"/>
            </a:endParaRPr>
          </a:p>
          <a:p>
            <a:pPr marL="17145" marR="5080" indent="9525">
              <a:lnSpc>
                <a:spcPct val="93700"/>
              </a:lnSpc>
              <a:spcBef>
                <a:spcPts val="2270"/>
              </a:spcBef>
            </a:pPr>
            <a:r>
              <a:rPr dirty="0" sz="2300" spc="-29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04">
                <a:solidFill>
                  <a:srgbClr val="FFFFFF"/>
                </a:solidFill>
                <a:latin typeface="Lucida Sans Unicode"/>
                <a:cs typeface="Lucida Sans Unicode"/>
              </a:rPr>
              <a:t>3-</a:t>
            </a:r>
            <a:r>
              <a:rPr dirty="0" sz="2300" spc="-185">
                <a:solidFill>
                  <a:srgbClr val="FFFFFF"/>
                </a:solidFill>
                <a:latin typeface="Lucida Sans Unicode"/>
                <a:cs typeface="Lucida Sans Unicode"/>
              </a:rPr>
              <a:t>Model</a:t>
            </a:r>
            <a:r>
              <a:rPr dirty="0" sz="2300" spc="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55">
                <a:solidFill>
                  <a:srgbClr val="FFFFFF"/>
                </a:solidFill>
                <a:latin typeface="Lucida Sans Unicode"/>
                <a:cs typeface="Lucida Sans Unicode"/>
              </a:rPr>
              <a:t>AI</a:t>
            </a:r>
            <a:r>
              <a:rPr dirty="0" sz="23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0">
                <a:solidFill>
                  <a:srgbClr val="FFFFFF"/>
                </a:solidFill>
                <a:latin typeface="Lucida Sans Unicode"/>
                <a:cs typeface="Lucida Sans Unicode"/>
              </a:rPr>
              <a:t>Framework </a:t>
            </a:r>
            <a:r>
              <a:rPr dirty="0" sz="2550" spc="-330">
                <a:solidFill>
                  <a:srgbClr val="FFFFFF"/>
                </a:solidFill>
                <a:latin typeface="Lucida Sans Unicode"/>
                <a:cs typeface="Lucida Sans Unicode"/>
              </a:rPr>
              <a:t>simulating</a:t>
            </a:r>
            <a:r>
              <a:rPr dirty="0" sz="25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95">
                <a:solidFill>
                  <a:srgbClr val="FFFFFF"/>
                </a:solidFill>
                <a:latin typeface="Lucida Sans Unicode"/>
                <a:cs typeface="Lucida Sans Unicode"/>
              </a:rPr>
              <a:t>history </a:t>
            </a:r>
            <a:r>
              <a:rPr dirty="0" sz="2350" spc="-160">
                <a:solidFill>
                  <a:srgbClr val="FFFFFF"/>
                </a:solidFill>
                <a:latin typeface="Lucida Sans Unicode"/>
                <a:cs typeface="Lucida Sans Unicode"/>
              </a:rPr>
              <a:t>(Wegovy,</a:t>
            </a:r>
            <a:r>
              <a:rPr dirty="0" sz="2350" spc="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15">
                <a:solidFill>
                  <a:srgbClr val="FFFFFF"/>
                </a:solidFill>
                <a:latin typeface="Lucida Sans Unicode"/>
                <a:cs typeface="Lucida Sans Unicode"/>
              </a:rPr>
              <a:t>Zepbound,</a:t>
            </a:r>
            <a:r>
              <a:rPr dirty="0" sz="23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14">
                <a:solidFill>
                  <a:srgbClr val="FFFFFF"/>
                </a:solidFill>
                <a:latin typeface="Lucida Sans Unicode"/>
                <a:cs typeface="Lucida Sans Unicode"/>
              </a:rPr>
              <a:t>Oral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9030431" y="3009900"/>
            <a:ext cx="3536315" cy="1724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dirty="0" sz="2500" spc="-25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500" spc="-2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65">
                <a:solidFill>
                  <a:srgbClr val="FFFFFF"/>
                </a:solidFill>
                <a:latin typeface="Lucida Sans Unicode"/>
                <a:cs typeface="Lucida Sans Unicode"/>
              </a:rPr>
              <a:t>Liphtfiouse</a:t>
            </a:r>
            <a:r>
              <a:rPr dirty="0" sz="2500" spc="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00">
                <a:solidFill>
                  <a:srgbClr val="FFFFFF"/>
                </a:solidFill>
                <a:latin typeface="Lucida Sans Unicode"/>
                <a:cs typeface="Lucida Sans Unicode"/>
              </a:rPr>
              <a:t>Strategy</a:t>
            </a:r>
            <a:endParaRPr sz="2500">
              <a:latin typeface="Lucida Sans Unicode"/>
              <a:cs typeface="Lucida Sans Unicode"/>
            </a:endParaRPr>
          </a:p>
          <a:p>
            <a:pPr marL="13970" marR="5080" indent="-1905">
              <a:lnSpc>
                <a:spcPct val="101000"/>
              </a:lnSpc>
              <a:spcBef>
                <a:spcPts val="2070"/>
              </a:spcBef>
            </a:pPr>
            <a:r>
              <a:rPr dirty="0" sz="2200" spc="-114">
                <a:solidFill>
                  <a:srgbClr val="FFFFFF"/>
                </a:solidFill>
                <a:latin typeface="Lucida Sans Unicode"/>
                <a:cs typeface="Lucida Sans Unicode"/>
              </a:rPr>
              <a:t>Utilization</a:t>
            </a:r>
            <a:r>
              <a:rPr dirty="0" sz="22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65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2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8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2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Lucida Sans Unicode"/>
                <a:cs typeface="Lucida Sans Unicode"/>
              </a:rPr>
              <a:t>2026 </a:t>
            </a:r>
            <a:r>
              <a:rPr dirty="0" sz="2300" spc="-204">
                <a:solidFill>
                  <a:srgbClr val="FFFFFF"/>
                </a:solidFill>
                <a:latin typeface="Lucida Sans Unicode"/>
                <a:cs typeface="Lucida Sans Unicode"/>
              </a:rPr>
              <a:t>Orforglipron</a:t>
            </a:r>
            <a:r>
              <a:rPr dirty="0" sz="230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60">
                <a:solidFill>
                  <a:srgbClr val="FFFFFF"/>
                </a:solidFill>
                <a:latin typeface="Lucida Sans Unicode"/>
                <a:cs typeface="Lucida Sans Unicode"/>
              </a:rPr>
              <a:t>launch</a:t>
            </a:r>
            <a:r>
              <a:rPr dirty="0" sz="23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65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23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7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3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5">
                <a:solidFill>
                  <a:srgbClr val="FFFFFF"/>
                </a:solidFill>
                <a:latin typeface="Lucida Sans Unicode"/>
                <a:cs typeface="Lucida Sans Unicode"/>
              </a:rPr>
              <a:t>live </a:t>
            </a:r>
            <a:r>
              <a:rPr dirty="0" sz="2350" spc="-204">
                <a:solidFill>
                  <a:srgbClr val="FFFFFF"/>
                </a:solidFill>
                <a:latin typeface="Lucida Sans Unicode"/>
                <a:cs typeface="Lucida Sans Unicode"/>
              </a:rPr>
              <a:t>simulation</a:t>
            </a:r>
            <a:r>
              <a:rPr dirty="0" sz="235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6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35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45">
                <a:solidFill>
                  <a:srgbClr val="FFFFFF"/>
                </a:solidFill>
                <a:latin typeface="Lucida Sans Unicode"/>
                <a:cs typeface="Lucida Sans Unicode"/>
              </a:rPr>
              <a:t>validate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3101256" y="3009900"/>
            <a:ext cx="3408679" cy="172720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 marR="5080" indent="14604">
              <a:lnSpc>
                <a:spcPct val="88400"/>
              </a:lnSpc>
              <a:spcBef>
                <a:spcPts val="445"/>
              </a:spcBef>
            </a:pPr>
            <a:r>
              <a:rPr dirty="0" sz="2500" spc="-434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5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80">
                <a:solidFill>
                  <a:srgbClr val="FFFFFF"/>
                </a:solidFill>
                <a:latin typeface="Lucida Sans Unicode"/>
                <a:cs typeface="Lucida Sans Unicode"/>
              </a:rPr>
              <a:t>ranked,</a:t>
            </a:r>
            <a:r>
              <a:rPr dirty="0" sz="25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0">
                <a:solidFill>
                  <a:srgbClr val="FFFFFF"/>
                </a:solidFill>
                <a:latin typeface="Lucida Sans Unicode"/>
                <a:cs typeface="Lucida Sans Unicode"/>
              </a:rPr>
              <a:t>defensible</a:t>
            </a:r>
            <a:r>
              <a:rPr dirty="0" sz="25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35">
                <a:solidFill>
                  <a:srgbClr val="FFFFFF"/>
                </a:solidFill>
                <a:latin typeface="Lucida Sans Unicode"/>
                <a:cs typeface="Lucida Sans Unicode"/>
              </a:rPr>
              <a:t>target </a:t>
            </a:r>
            <a:r>
              <a:rPr dirty="0" sz="2500" spc="-225">
                <a:solidFill>
                  <a:srgbClr val="FFFFFF"/>
                </a:solidFill>
                <a:latin typeface="Lucida Sans Unicode"/>
                <a:cs typeface="Lucida Sans Unicode"/>
              </a:rPr>
              <a:t>list</a:t>
            </a:r>
            <a:r>
              <a:rPr dirty="0" sz="250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500" spc="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0">
                <a:solidFill>
                  <a:srgbClr val="FFFFFF"/>
                </a:solidFill>
                <a:latin typeface="Lucida Sans Unicode"/>
                <a:cs typeface="Lucida Sans Unicode"/>
              </a:rPr>
              <a:t>'Why</a:t>
            </a:r>
            <a:r>
              <a:rPr dirty="0" sz="25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Lucida Sans Unicode"/>
                <a:cs typeface="Lucida Sans Unicode"/>
              </a:rPr>
              <a:t>Now' </a:t>
            </a:r>
            <a:r>
              <a:rPr dirty="0" sz="2500" spc="-245">
                <a:solidFill>
                  <a:srgbClr val="FFFFFF"/>
                </a:solidFill>
                <a:latin typeface="Lucida Sans Unicode"/>
                <a:cs typeface="Lucida Sans Unicode"/>
              </a:rPr>
              <a:t>rationale</a:t>
            </a:r>
            <a:r>
              <a:rPr dirty="0" sz="25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6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5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35">
                <a:solidFill>
                  <a:srgbClr val="FFFFFF"/>
                </a:solidFill>
                <a:latin typeface="Lucida Sans Unicode"/>
                <a:cs typeface="Lucida Sans Unicode"/>
              </a:rPr>
              <a:t>proactive</a:t>
            </a:r>
            <a:r>
              <a:rPr dirty="0" sz="2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95">
                <a:solidFill>
                  <a:srgbClr val="FFFFFF"/>
                </a:solidFill>
                <a:latin typeface="Lucida Sans Unicode"/>
                <a:cs typeface="Lucida Sans Unicode"/>
              </a:rPr>
              <a:t>field </a:t>
            </a:r>
            <a:r>
              <a:rPr dirty="0" sz="2300" spc="-175">
                <a:solidFill>
                  <a:srgbClr val="FFFFFF"/>
                </a:solidFill>
                <a:latin typeface="Lucida Sans Unicode"/>
                <a:cs typeface="Lucida Sans Unicode"/>
              </a:rPr>
              <a:t>deployment,</a:t>
            </a:r>
            <a:r>
              <a:rPr dirty="0" sz="230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5">
                <a:solidFill>
                  <a:srgbClr val="FFFFFF"/>
                </a:solidFill>
                <a:latin typeface="Lucida Sans Unicode"/>
                <a:cs typeface="Lucida Sans Unicode"/>
              </a:rPr>
              <a:t>enabling </a:t>
            </a:r>
            <a:r>
              <a:rPr dirty="0" sz="2500" spc="-270">
                <a:solidFill>
                  <a:srgbClr val="FFFFFF"/>
                </a:solidFill>
                <a:latin typeface="Lucida Sans Unicode"/>
                <a:cs typeface="Lucida Sans Unicode"/>
              </a:rPr>
              <a:t>enabling</a:t>
            </a:r>
            <a:r>
              <a:rPr dirty="0" sz="25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30">
                <a:solidFill>
                  <a:srgbClr val="FFFFFF"/>
                </a:solidFill>
                <a:latin typeface="Lucida Sans Unicode"/>
                <a:cs typeface="Lucida Sans Unicode"/>
              </a:rPr>
              <a:t>surgical</a:t>
            </a:r>
            <a:endParaRPr sz="2500">
              <a:latin typeface="Lucida Sans Unicode"/>
              <a:cs typeface="Lucida Sans Unicode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12700" y="4787900"/>
            <a:ext cx="17449800" cy="1168400"/>
            <a:chOff x="12700" y="4787900"/>
            <a:chExt cx="17449800" cy="1168400"/>
          </a:xfrm>
        </p:grpSpPr>
        <p:pic>
          <p:nvPicPr>
            <p:cNvPr id="57" name="object 5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84700" y="4787900"/>
              <a:ext cx="114300" cy="1168400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76200" y="4787900"/>
              <a:ext cx="114300" cy="1168400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12700" y="4787900"/>
              <a:ext cx="17449800" cy="1155700"/>
            </a:xfrm>
            <a:custGeom>
              <a:avLst/>
              <a:gdLst/>
              <a:ahLst/>
              <a:cxnLst/>
              <a:rect l="l" t="t" r="r" b="b"/>
              <a:pathLst>
                <a:path w="17449800" h="1155700">
                  <a:moveTo>
                    <a:pt x="17449800" y="1155700"/>
                  </a:moveTo>
                  <a:lnTo>
                    <a:pt x="0" y="11557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1155700"/>
                  </a:lnTo>
                  <a:close/>
                </a:path>
              </a:pathLst>
            </a:custGeom>
            <a:solidFill>
              <a:srgbClr val="0C1C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 txBox="1"/>
          <p:nvPr/>
        </p:nvSpPr>
        <p:spPr>
          <a:xfrm>
            <a:off x="4924360" y="4682419"/>
            <a:ext cx="2988310" cy="110934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6510" marR="5080" indent="-4445">
              <a:lnSpc>
                <a:spcPts val="2800"/>
              </a:lnSpc>
              <a:spcBef>
                <a:spcPts val="290"/>
              </a:spcBef>
            </a:pPr>
            <a:r>
              <a:rPr dirty="0" sz="2400" spc="-180">
                <a:solidFill>
                  <a:srgbClr val="FFFFFF"/>
                </a:solidFill>
                <a:latin typeface="Lucida Sans Unicode"/>
                <a:cs typeface="Lucida Sans Unicode"/>
              </a:rPr>
              <a:t>IaunchesJ</a:t>
            </a:r>
            <a:r>
              <a:rPr dirty="0" sz="24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9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00">
                <a:solidFill>
                  <a:srgbClr val="FFFFFF"/>
                </a:solidFill>
                <a:latin typeface="Lucida Sans Unicode"/>
                <a:cs typeface="Lucida Sans Unicode"/>
              </a:rPr>
              <a:t>triangulate </a:t>
            </a:r>
            <a:r>
              <a:rPr dirty="0" sz="2400" spc="-220">
                <a:solidFill>
                  <a:srgbClr val="FFFFFF"/>
                </a:solidFill>
                <a:latin typeface="Lucida Sans Unicode"/>
                <a:cs typeface="Lucida Sans Unicode"/>
              </a:rPr>
              <a:t>future</a:t>
            </a:r>
            <a:r>
              <a:rPr dirty="0" sz="24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10">
                <a:solidFill>
                  <a:srgbClr val="FFFFFF"/>
                </a:solidFill>
                <a:latin typeface="Lucida Sans Unicode"/>
                <a:cs typeface="Lucida Sans Unicode"/>
              </a:rPr>
              <a:t>behavior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2500" spc="-25">
                <a:solidFill>
                  <a:srgbClr val="FFFFFF"/>
                </a:solidFill>
                <a:latin typeface="Cambria"/>
                <a:cs typeface="Cambria"/>
              </a:rPr>
              <a:t>decode</a:t>
            </a:r>
            <a:r>
              <a:rPr dirty="0" sz="2500" spc="-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500" spc="-120">
                <a:solidFill>
                  <a:srgbClr val="FFFFFF"/>
                </a:solidFill>
                <a:latin typeface="Cambria"/>
                <a:cs typeface="Cambria"/>
              </a:rPr>
              <a:t>adoption</a:t>
            </a:r>
            <a:r>
              <a:rPr dirty="0" sz="2500" spc="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Cambria"/>
                <a:cs typeface="Cambria"/>
              </a:rPr>
              <a:t>DNA.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9027105" y="4700058"/>
            <a:ext cx="2824480" cy="10858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 indent="13335">
              <a:lnSpc>
                <a:spcPct val="101400"/>
              </a:lnSpc>
              <a:spcBef>
                <a:spcPts val="50"/>
              </a:spcBef>
            </a:pPr>
            <a:r>
              <a:rPr dirty="0" sz="2300" spc="-90">
                <a:solidFill>
                  <a:srgbClr val="FFFFFF"/>
                </a:solidFill>
                <a:latin typeface="Lucida Sans Unicode"/>
                <a:cs typeface="Lucida Sans Unicode"/>
              </a:rPr>
              <a:t>accuracy</a:t>
            </a:r>
            <a:r>
              <a:rPr dirty="0" sz="23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70">
                <a:solidFill>
                  <a:srgbClr val="FFFFFF"/>
                </a:solidFill>
                <a:latin typeface="Lucida Sans Unicode"/>
                <a:cs typeface="Lucida Sans Unicode"/>
              </a:rPr>
              <a:t>(Target:</a:t>
            </a:r>
            <a:r>
              <a:rPr dirty="0" sz="23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80">
                <a:solidFill>
                  <a:srgbClr val="FFFFFF"/>
                </a:solidFill>
                <a:latin typeface="Lucida Sans Unicode"/>
                <a:cs typeface="Lucida Sans Unicode"/>
              </a:rPr>
              <a:t>60% </a:t>
            </a:r>
            <a:r>
              <a:rPr dirty="0" sz="2300" spc="-175">
                <a:solidFill>
                  <a:srgbClr val="FFFFFF"/>
                </a:solidFill>
                <a:latin typeface="Lucida Sans Unicode"/>
                <a:cs typeface="Lucida Sans Unicode"/>
              </a:rPr>
              <a:t>rising</a:t>
            </a:r>
            <a:r>
              <a:rPr dirty="0" sz="230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9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3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5">
                <a:solidFill>
                  <a:srgbClr val="FFFFFF"/>
                </a:solidFill>
                <a:latin typeface="Lucida Sans Unicode"/>
                <a:cs typeface="Lucida Sans Unicode"/>
              </a:rPr>
              <a:t>80%)</a:t>
            </a:r>
            <a:r>
              <a:rPr dirty="0" sz="23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Lucida Sans Unicode"/>
                <a:cs typeface="Lucida Sans Unicode"/>
              </a:rPr>
              <a:t>before </a:t>
            </a:r>
            <a:r>
              <a:rPr dirty="0" sz="2300" spc="-150">
                <a:solidFill>
                  <a:srgbClr val="FFFFFF"/>
                </a:solidFill>
                <a:latin typeface="Lucida Sans Unicode"/>
                <a:cs typeface="Lucida Sans Unicode"/>
              </a:rPr>
              <a:t>Maritide</a:t>
            </a:r>
            <a:r>
              <a:rPr dirty="0" sz="23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90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23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90">
                <a:solidFill>
                  <a:srgbClr val="FFFFFF"/>
                </a:solidFill>
                <a:latin typeface="Lucida Sans Unicode"/>
                <a:cs typeface="Lucida Sans Unicode"/>
              </a:rPr>
              <a:t>entry.</a:t>
            </a:r>
            <a:endParaRPr sz="2300">
              <a:latin typeface="Lucida Sans Unicode"/>
              <a:cs typeface="Lucida Sans Unicode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12700" y="5969000"/>
            <a:ext cx="17449800" cy="787400"/>
            <a:chOff x="12700" y="5969000"/>
            <a:chExt cx="17449800" cy="787400"/>
          </a:xfrm>
        </p:grpSpPr>
        <p:pic>
          <p:nvPicPr>
            <p:cNvPr id="63" name="object 6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84700" y="5969000"/>
              <a:ext cx="114300" cy="787400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24900" y="5969000"/>
              <a:ext cx="12700" cy="355600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776200" y="5969000"/>
              <a:ext cx="381000" cy="787400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2700" y="5969000"/>
              <a:ext cx="17449800" cy="774700"/>
            </a:xfrm>
            <a:custGeom>
              <a:avLst/>
              <a:gdLst/>
              <a:ahLst/>
              <a:cxnLst/>
              <a:rect l="l" t="t" r="r" b="b"/>
              <a:pathLst>
                <a:path w="17449800" h="774700">
                  <a:moveTo>
                    <a:pt x="17449800" y="774700"/>
                  </a:moveTo>
                  <a:lnTo>
                    <a:pt x="0" y="7747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774700"/>
                  </a:lnTo>
                  <a:close/>
                </a:path>
              </a:pathLst>
            </a:custGeom>
            <a:solidFill>
              <a:srgbClr val="0A1C3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769560" y="4889500"/>
            <a:ext cx="2794635" cy="171450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 marR="5080" indent="14604">
              <a:lnSpc>
                <a:spcPct val="85800"/>
              </a:lnSpc>
              <a:spcBef>
                <a:spcPts val="525"/>
              </a:spcBef>
            </a:pPr>
            <a:r>
              <a:rPr dirty="0" sz="2500" spc="-210">
                <a:solidFill>
                  <a:srgbClr val="FFFFFF"/>
                </a:solidFill>
                <a:latin typeface="Lucida Sans Unicode"/>
                <a:cs typeface="Lucida Sans Unicode"/>
              </a:rPr>
              <a:t>Shift</a:t>
            </a:r>
            <a:r>
              <a:rPr dirty="0" sz="25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40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25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90">
                <a:solidFill>
                  <a:srgbClr val="FFFFFF"/>
                </a:solidFill>
                <a:latin typeface="Lucida Sans Unicode"/>
                <a:cs typeface="Lucida Sans Unicode"/>
              </a:rPr>
              <a:t>Business </a:t>
            </a:r>
            <a:r>
              <a:rPr dirty="0" sz="2500" spc="-225">
                <a:solidFill>
                  <a:srgbClr val="FFFFFF"/>
                </a:solidFill>
                <a:latin typeface="Lucida Sans Unicode"/>
                <a:cs typeface="Lucida Sans Unicode"/>
              </a:rPr>
              <a:t>Intelligence</a:t>
            </a:r>
            <a:r>
              <a:rPr dirty="0" sz="2500" spc="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0">
                <a:solidFill>
                  <a:srgbClr val="FFFFFF"/>
                </a:solidFill>
                <a:latin typeface="Lucida Sans Unicode"/>
                <a:cs typeface="Lucida Sans Unicode"/>
              </a:rPr>
              <a:t>(What </a:t>
            </a:r>
            <a:r>
              <a:rPr dirty="0" sz="2500" spc="-235">
                <a:solidFill>
                  <a:srgbClr val="FFFFFF"/>
                </a:solidFill>
                <a:latin typeface="Lucida Sans Unicode"/>
                <a:cs typeface="Lucida Sans Unicode"/>
              </a:rPr>
              <a:t>happened?)</a:t>
            </a:r>
            <a:r>
              <a:rPr dirty="0" sz="25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75" i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500" spc="-204">
                <a:solidFill>
                  <a:srgbClr val="FFFFFF"/>
                </a:solidFill>
                <a:latin typeface="Lucida Sans Unicode"/>
                <a:cs typeface="Lucida Sans Unicode"/>
              </a:rPr>
              <a:t>Predictive</a:t>
            </a:r>
            <a:r>
              <a:rPr dirty="0" sz="25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15">
                <a:solidFill>
                  <a:srgbClr val="FFFFFF"/>
                </a:solidFill>
                <a:latin typeface="Lucida Sans Unicode"/>
                <a:cs typeface="Lucida Sans Unicode"/>
              </a:rPr>
              <a:t>Intelligence </a:t>
            </a:r>
            <a:r>
              <a:rPr dirty="0" sz="2500" spc="-265">
                <a:solidFill>
                  <a:srgbClr val="FFFFFF"/>
                </a:solidFill>
                <a:latin typeface="Lucida Sans Unicode"/>
                <a:cs typeface="Lucida Sans Unicode"/>
              </a:rPr>
              <a:t>(Who</a:t>
            </a:r>
            <a:r>
              <a:rPr dirty="0" sz="25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60">
                <a:solidFill>
                  <a:srgbClr val="FFFFFF"/>
                </a:solidFill>
                <a:latin typeface="Lucida Sans Unicode"/>
                <a:cs typeface="Lucida Sans Unicode"/>
              </a:rPr>
              <a:t>will</a:t>
            </a:r>
            <a:r>
              <a:rPr dirty="0" sz="2500" spc="-2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50">
                <a:solidFill>
                  <a:srgbClr val="FFFFFF"/>
                </a:solidFill>
                <a:latin typeface="Lucida Sans Unicode"/>
                <a:cs typeface="Lucida Sans Unicode"/>
              </a:rPr>
              <a:t>prescribe*).</a:t>
            </a:r>
            <a:endParaRPr sz="2500">
              <a:latin typeface="Lucida Sans Unicode"/>
              <a:cs typeface="Lucida Sans Unicode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12700" y="6832600"/>
            <a:ext cx="17462500" cy="139700"/>
            <a:chOff x="12700" y="6832600"/>
            <a:chExt cx="17462500" cy="139700"/>
          </a:xfrm>
        </p:grpSpPr>
        <p:pic>
          <p:nvPicPr>
            <p:cNvPr id="69" name="object 6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738100" y="6832600"/>
              <a:ext cx="2311400" cy="139700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99500" y="6832600"/>
              <a:ext cx="2311400" cy="139700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559300" y="6832600"/>
              <a:ext cx="2311400" cy="139700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700" y="6832600"/>
              <a:ext cx="17462500" cy="139700"/>
            </a:xfrm>
            <a:prstGeom prst="rect">
              <a:avLst/>
            </a:prstGeom>
          </p:spPr>
        </p:pic>
      </p:grpSp>
      <p:grpSp>
        <p:nvGrpSpPr>
          <p:cNvPr id="73" name="object 73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74" name="object 7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5740400"/>
            <a:ext cx="17462500" cy="2324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3492500"/>
            <a:ext cx="17462500" cy="1168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00" y="660400"/>
            <a:ext cx="17462500" cy="6350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2700" y="1447800"/>
            <a:ext cx="17449800" cy="355600"/>
          </a:xfrm>
          <a:custGeom>
            <a:avLst/>
            <a:gdLst/>
            <a:ahLst/>
            <a:cxnLst/>
            <a:rect l="l" t="t" r="r" b="b"/>
            <a:pathLst>
              <a:path w="17449800" h="355600">
                <a:moveTo>
                  <a:pt x="17449800" y="355600"/>
                </a:moveTo>
                <a:lnTo>
                  <a:pt x="0" y="3556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55600"/>
                </a:lnTo>
                <a:close/>
              </a:path>
            </a:pathLst>
          </a:custGeom>
          <a:solidFill>
            <a:srgbClr val="0C1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1863" y="1335263"/>
            <a:ext cx="11190605" cy="4806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14"/>
              <a:t>The</a:t>
            </a:r>
            <a:r>
              <a:rPr dirty="0" sz="2950" spc="-185"/>
              <a:t> </a:t>
            </a:r>
            <a:r>
              <a:rPr dirty="0" sz="2950" spc="-160"/>
              <a:t>2026</a:t>
            </a:r>
            <a:r>
              <a:rPr dirty="0" sz="2950" spc="-145"/>
              <a:t> </a:t>
            </a:r>
            <a:r>
              <a:rPr dirty="0" sz="2950" spc="-70"/>
              <a:t>landscape</a:t>
            </a:r>
            <a:r>
              <a:rPr dirty="0" sz="2950" spc="-165"/>
              <a:t> </a:t>
            </a:r>
            <a:r>
              <a:rPr dirty="0" sz="2950" spc="-125"/>
              <a:t>demands</a:t>
            </a:r>
            <a:r>
              <a:rPr dirty="0" sz="2950" spc="-110"/>
              <a:t> </a:t>
            </a:r>
            <a:r>
              <a:rPr dirty="0" sz="2950" spc="-190"/>
              <a:t>more</a:t>
            </a:r>
            <a:r>
              <a:rPr dirty="0" sz="2950" spc="-45"/>
              <a:t> </a:t>
            </a:r>
            <a:r>
              <a:rPr dirty="0" sz="2950" spc="-80"/>
              <a:t>than</a:t>
            </a:r>
            <a:r>
              <a:rPr dirty="0" sz="2950" spc="-95"/>
              <a:t> </a:t>
            </a:r>
            <a:r>
              <a:rPr dirty="0" sz="2950" spc="-170"/>
              <a:t>volume-</a:t>
            </a:r>
            <a:r>
              <a:rPr dirty="0" sz="2950" spc="-110"/>
              <a:t>based</a:t>
            </a:r>
            <a:r>
              <a:rPr dirty="0" sz="2950" spc="-5"/>
              <a:t> </a:t>
            </a:r>
            <a:r>
              <a:rPr dirty="0" sz="2950" spc="-110"/>
              <a:t>targeting.</a:t>
            </a:r>
            <a:endParaRPr sz="2950"/>
          </a:p>
        </p:txBody>
      </p:sp>
      <p:grpSp>
        <p:nvGrpSpPr>
          <p:cNvPr id="7" name="object 7" descr=""/>
          <p:cNvGrpSpPr/>
          <p:nvPr/>
        </p:nvGrpSpPr>
        <p:grpSpPr>
          <a:xfrm>
            <a:off x="12700" y="2514600"/>
            <a:ext cx="17449800" cy="622300"/>
            <a:chOff x="12700" y="2514600"/>
            <a:chExt cx="17449800" cy="62230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89400" y="2679700"/>
              <a:ext cx="1905000" cy="2921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2700" y="2514600"/>
              <a:ext cx="17449800" cy="622300"/>
            </a:xfrm>
            <a:custGeom>
              <a:avLst/>
              <a:gdLst/>
              <a:ahLst/>
              <a:cxnLst/>
              <a:rect l="l" t="t" r="r" b="b"/>
              <a:pathLst>
                <a:path w="17449800" h="622300">
                  <a:moveTo>
                    <a:pt x="17449800" y="622300"/>
                  </a:moveTo>
                  <a:lnTo>
                    <a:pt x="0" y="6223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622300"/>
                  </a:lnTo>
                  <a:close/>
                </a:path>
              </a:pathLst>
            </a:custGeom>
            <a:solidFill>
              <a:srgbClr val="0C1D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305677" y="2400300"/>
            <a:ext cx="2680970" cy="7366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 marR="5080" indent="330835">
              <a:lnSpc>
                <a:spcPts val="2600"/>
              </a:lnSpc>
              <a:spcBef>
                <a:spcPts val="520"/>
              </a:spcBef>
            </a:pPr>
            <a:r>
              <a:rPr dirty="0" sz="2500" spc="-250">
                <a:solidFill>
                  <a:srgbClr val="FFFFFF"/>
                </a:solidFill>
                <a:latin typeface="Lucida Sans Unicode"/>
                <a:cs typeface="Lucida Sans Unicode"/>
              </a:rPr>
              <a:t>Transition</a:t>
            </a:r>
            <a:r>
              <a:rPr dirty="0" sz="2500" spc="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40">
                <a:solidFill>
                  <a:srgbClr val="FFFFFF"/>
                </a:solidFill>
                <a:latin typeface="Lucida Sans Unicode"/>
                <a:cs typeface="Lucida Sans Unicode"/>
              </a:rPr>
              <a:t>Year: </a:t>
            </a:r>
            <a:r>
              <a:rPr dirty="0" sz="2500" spc="-250">
                <a:solidFill>
                  <a:srgbClr val="FFFFFF"/>
                </a:solidFill>
                <a:latin typeface="Lucida Sans Unicode"/>
                <a:cs typeface="Lucida Sans Unicode"/>
              </a:rPr>
              <a:t>Oral</a:t>
            </a:r>
            <a:r>
              <a:rPr dirty="0" sz="250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40">
                <a:solidFill>
                  <a:srgbClr val="FFFFFF"/>
                </a:solidFill>
                <a:latin typeface="Lucida Sans Unicode"/>
                <a:cs typeface="Lucida Sans Unicode"/>
              </a:rPr>
              <a:t>+</a:t>
            </a:r>
            <a:r>
              <a:rPr dirty="0" sz="25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00">
                <a:solidFill>
                  <a:srgbClr val="FFFFFF"/>
                </a:solidFill>
                <a:latin typeface="Lucida Sans Unicode"/>
                <a:cs typeface="Lucida Sans Unicode"/>
              </a:rPr>
              <a:t>Injectable</a:t>
            </a:r>
            <a:r>
              <a:rPr dirty="0" sz="25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10">
                <a:solidFill>
                  <a:srgbClr val="FFFFFF"/>
                </a:solidFill>
                <a:latin typeface="Lucida Sans Unicode"/>
                <a:cs typeface="Lucida Sans Unicode"/>
              </a:rPr>
              <a:t>Mix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888759" y="2426758"/>
            <a:ext cx="3227705" cy="70485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 indent="520700">
              <a:lnSpc>
                <a:spcPts val="2600"/>
              </a:lnSpc>
              <a:spcBef>
                <a:spcPts val="310"/>
              </a:spcBef>
            </a:pPr>
            <a:r>
              <a:rPr dirty="0" sz="2300" spc="-100">
                <a:solidFill>
                  <a:srgbClr val="FFFFFF"/>
                </a:solidFill>
                <a:latin typeface="Lucida Sans Unicode"/>
                <a:cs typeface="Lucida Sans Unicode"/>
              </a:rPr>
              <a:t>Maritide</a:t>
            </a:r>
            <a:r>
              <a:rPr dirty="0" sz="23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Lucida Sans Unicode"/>
                <a:cs typeface="Lucida Sans Unicode"/>
              </a:rPr>
              <a:t>Launch: </a:t>
            </a:r>
            <a:r>
              <a:rPr dirty="0" sz="2300" spc="-95">
                <a:solidFill>
                  <a:srgbClr val="FFFFFF"/>
                </a:solidFill>
                <a:latin typeface="Lucida Sans Unicode"/>
                <a:cs typeface="Lucida Sans Unicode"/>
              </a:rPr>
              <a:t>Maintenance</a:t>
            </a:r>
            <a:r>
              <a:rPr dirty="0" sz="2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75">
                <a:solidFill>
                  <a:srgbClr val="FFFFFF"/>
                </a:solidFill>
                <a:latin typeface="Lucida Sans Unicode"/>
                <a:cs typeface="Lucida Sans Unicode"/>
              </a:rPr>
              <a:t>DOminance</a:t>
            </a:r>
            <a:endParaRPr sz="2300">
              <a:latin typeface="Lucida Sans Unicode"/>
              <a:cs typeface="Lucida Sans Unicode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2700" y="3213100"/>
            <a:ext cx="17462500" cy="139700"/>
            <a:chOff x="12700" y="3213100"/>
            <a:chExt cx="17462500" cy="139700"/>
          </a:xfrm>
        </p:grpSpPr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30100" y="3225800"/>
              <a:ext cx="2311400" cy="1270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82100" y="3213100"/>
              <a:ext cx="2311400" cy="1397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00" y="3213100"/>
              <a:ext cx="17462500" cy="139700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12700" y="4749800"/>
            <a:ext cx="17449800" cy="228600"/>
          </a:xfrm>
          <a:custGeom>
            <a:avLst/>
            <a:gdLst/>
            <a:ahLst/>
            <a:cxnLst/>
            <a:rect l="l" t="t" r="r" b="b"/>
            <a:pathLst>
              <a:path w="17449800" h="228600">
                <a:moveTo>
                  <a:pt x="17449800" y="228600"/>
                </a:moveTo>
                <a:lnTo>
                  <a:pt x="0" y="2286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28600"/>
                </a:lnTo>
                <a:close/>
              </a:path>
            </a:pathLst>
          </a:custGeom>
          <a:solidFill>
            <a:srgbClr val="0C1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991106" y="4653138"/>
            <a:ext cx="70040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55">
                <a:solidFill>
                  <a:srgbClr val="FFFFFF"/>
                </a:solidFill>
                <a:latin typeface="Lucida Sans Unicode"/>
                <a:cs typeface="Lucida Sans Unicode"/>
              </a:rPr>
              <a:t>2024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686806" y="4653138"/>
            <a:ext cx="70040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55">
                <a:solidFill>
                  <a:srgbClr val="FFFFFF"/>
                </a:solidFill>
                <a:latin typeface="Lucida Sans Unicode"/>
                <a:cs typeface="Lucida Sans Unicode"/>
              </a:rPr>
              <a:t>2025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383237" y="4661958"/>
            <a:ext cx="687705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140">
                <a:solidFill>
                  <a:srgbClr val="FFFFFF"/>
                </a:solidFill>
                <a:latin typeface="Lucida Sans Unicode"/>
                <a:cs typeface="Lucida Sans Unicode"/>
              </a:rPr>
              <a:t>2026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193237" y="4661958"/>
            <a:ext cx="68072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300" spc="-155">
                <a:solidFill>
                  <a:srgbClr val="FFFFFF"/>
                </a:solidFill>
                <a:latin typeface="Lucida Sans Unicode"/>
                <a:cs typeface="Lucida Sans Unicode"/>
              </a:rPr>
              <a:t>2027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2700" y="8458200"/>
            <a:ext cx="17449800" cy="381000"/>
          </a:xfrm>
          <a:custGeom>
            <a:avLst/>
            <a:gdLst/>
            <a:ahLst/>
            <a:cxnLst/>
            <a:rect l="l" t="t" r="r" b="b"/>
            <a:pathLst>
              <a:path w="17449800" h="381000">
                <a:moveTo>
                  <a:pt x="17449800" y="381000"/>
                </a:moveTo>
                <a:lnTo>
                  <a:pt x="0" y="3810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81000"/>
                </a:lnTo>
                <a:close/>
              </a:path>
            </a:pathLst>
          </a:custGeom>
          <a:solidFill>
            <a:srgbClr val="0C1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12700" y="8902700"/>
            <a:ext cx="17449800" cy="368300"/>
          </a:xfrm>
          <a:custGeom>
            <a:avLst/>
            <a:gdLst/>
            <a:ahLst/>
            <a:cxnLst/>
            <a:rect l="l" t="t" r="r" b="b"/>
            <a:pathLst>
              <a:path w="17449800" h="368300">
                <a:moveTo>
                  <a:pt x="17449800" y="368300"/>
                </a:moveTo>
                <a:lnTo>
                  <a:pt x="0" y="3683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68300"/>
                </a:lnTo>
                <a:close/>
              </a:path>
            </a:pathLst>
          </a:custGeom>
          <a:solidFill>
            <a:srgbClr val="0C1F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3149235" y="8367183"/>
            <a:ext cx="11158220" cy="914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18540" marR="5080" indent="-1006475">
              <a:lnSpc>
                <a:spcPct val="100600"/>
              </a:lnSpc>
              <a:spcBef>
                <a:spcPts val="95"/>
              </a:spcBef>
            </a:pPr>
            <a:r>
              <a:rPr dirty="0" sz="2900" spc="200">
                <a:solidFill>
                  <a:srgbClr val="3F1F00"/>
                </a:solidFill>
                <a:latin typeface="Lucida Sans Unicode"/>
                <a:cs typeface="Lucida Sans Unicode"/>
              </a:rPr>
              <a:t>We</a:t>
            </a:r>
            <a:r>
              <a:rPr dirty="0" sz="2900" spc="-305">
                <a:solidFill>
                  <a:srgbClr val="3F1F00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8C693F"/>
                </a:solidFill>
                <a:latin typeface="Lucida Sans Unicode"/>
                <a:cs typeface="Lucida Sans Unicode"/>
              </a:rPr>
              <a:t>cannot</a:t>
            </a:r>
            <a:r>
              <a:rPr dirty="0" sz="2900" spc="-229">
                <a:solidFill>
                  <a:srgbClr val="8C693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6B55D"/>
                </a:solidFill>
                <a:latin typeface="Lucida Sans Unicode"/>
                <a:cs typeface="Lucida Sans Unicode"/>
              </a:rPr>
              <a:t>simply</a:t>
            </a:r>
            <a:r>
              <a:rPr dirty="0" sz="2900" spc="-180">
                <a:solidFill>
                  <a:srgbClr val="F6B55D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976E3D"/>
                </a:solidFill>
                <a:latin typeface="Lucida Sans Unicode"/>
                <a:cs typeface="Lucida Sans Unicode"/>
              </a:rPr>
              <a:t>target</a:t>
            </a:r>
            <a:r>
              <a:rPr dirty="0" sz="2900" spc="-204">
                <a:solidFill>
                  <a:srgbClr val="976E3D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75">
                <a:solidFill>
                  <a:srgbClr val="3A1C00"/>
                </a:solidFill>
                <a:latin typeface="Lucida Sans Unicode"/>
                <a:cs typeface="Lucida Sans Unicode"/>
              </a:rPr>
              <a:t>high-</a:t>
            </a:r>
            <a:r>
              <a:rPr dirty="0" sz="2900" spc="-25">
                <a:solidFill>
                  <a:srgbClr val="3A1C00"/>
                </a:solidFill>
                <a:latin typeface="Lucida Sans Unicode"/>
                <a:cs typeface="Lucida Sans Unicode"/>
              </a:rPr>
              <a:t>volume</a:t>
            </a:r>
            <a:r>
              <a:rPr dirty="0" sz="2900" spc="30">
                <a:solidFill>
                  <a:srgbClr val="3A1C00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B69062"/>
                </a:solidFill>
                <a:latin typeface="Lucida Sans Unicode"/>
                <a:cs typeface="Lucida Sans Unicode"/>
              </a:rPr>
              <a:t>writers;</a:t>
            </a:r>
            <a:r>
              <a:rPr dirty="0" sz="2900" spc="-175">
                <a:solidFill>
                  <a:srgbClr val="B69062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50">
                <a:solidFill>
                  <a:srgbClr val="694113"/>
                </a:solidFill>
                <a:latin typeface="Lucida Sans Unicode"/>
                <a:cs typeface="Lucida Sans Unicode"/>
              </a:rPr>
              <a:t>we</a:t>
            </a:r>
            <a:r>
              <a:rPr dirty="0" sz="2900" spc="-465">
                <a:solidFill>
                  <a:srgbClr val="694113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9E8262"/>
                </a:solidFill>
                <a:latin typeface="Lucida Sans Unicode"/>
                <a:cs typeface="Lucida Sans Unicode"/>
              </a:rPr>
              <a:t>must</a:t>
            </a:r>
            <a:r>
              <a:rPr dirty="0" sz="2900" spc="-300">
                <a:solidFill>
                  <a:srgbClr val="9E8262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E9B160"/>
                </a:solidFill>
                <a:latin typeface="Lucida Sans Unicode"/>
                <a:cs typeface="Lucida Sans Unicode"/>
              </a:rPr>
              <a:t>identify </a:t>
            </a:r>
            <a:r>
              <a:rPr dirty="0" sz="2900">
                <a:solidFill>
                  <a:srgbClr val="896438"/>
                </a:solidFill>
                <a:latin typeface="Lucida Sans Unicode"/>
                <a:cs typeface="Lucida Sans Unicode"/>
              </a:rPr>
              <a:t>physicians</a:t>
            </a:r>
            <a:r>
              <a:rPr dirty="0" sz="2900" spc="105">
                <a:solidFill>
                  <a:srgbClr val="896438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CD974B"/>
                </a:solidFill>
                <a:latin typeface="Lucida Sans Unicode"/>
                <a:cs typeface="Lucida Sans Unicode"/>
              </a:rPr>
              <a:t>with</a:t>
            </a:r>
            <a:r>
              <a:rPr dirty="0" sz="2900" spc="-190">
                <a:solidFill>
                  <a:srgbClr val="CD974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AA895B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270">
                <a:solidFill>
                  <a:srgbClr val="AA895B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AC906B"/>
                </a:solidFill>
                <a:latin typeface="Lucida Sans Unicode"/>
                <a:cs typeface="Lucida Sans Unicode"/>
              </a:rPr>
              <a:t>’Behavioral</a:t>
            </a:r>
            <a:r>
              <a:rPr dirty="0" sz="2900" spc="-75">
                <a:solidFill>
                  <a:srgbClr val="AC906B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35">
                <a:solidFill>
                  <a:srgbClr val="A59579"/>
                </a:solidFill>
                <a:latin typeface="Lucida Sans Unicode"/>
                <a:cs typeface="Lucida Sans Unicode"/>
              </a:rPr>
              <a:t>DNA’</a:t>
            </a:r>
            <a:r>
              <a:rPr dirty="0" sz="2900" spc="-170">
                <a:solidFill>
                  <a:srgbClr val="A59579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0">
                <a:solidFill>
                  <a:srgbClr val="B19367"/>
                </a:solidFill>
                <a:latin typeface="Lucida Sans Unicode"/>
                <a:cs typeface="Lucida Sans Unicode"/>
              </a:rPr>
              <a:t>for</a:t>
            </a:r>
            <a:r>
              <a:rPr dirty="0" sz="2900" spc="-200">
                <a:solidFill>
                  <a:srgbClr val="B19367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C6AA82"/>
                </a:solidFill>
                <a:latin typeface="Lucida Sans Unicode"/>
                <a:cs typeface="Lucida Sans Unicode"/>
              </a:rPr>
              <a:t>innovation.</a:t>
            </a:r>
            <a:endParaRPr sz="2900">
              <a:latin typeface="Lucida Sans Unicode"/>
              <a:cs typeface="Lucida Sans Unicode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4368800"/>
            <a:ext cx="15519400" cy="622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500" y="3111500"/>
            <a:ext cx="15519400" cy="762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00" y="660400"/>
            <a:ext cx="17462500" cy="6350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6664516" y="2679700"/>
            <a:ext cx="0" cy="2425700"/>
          </a:xfrm>
          <a:custGeom>
            <a:avLst/>
            <a:gdLst/>
            <a:ahLst/>
            <a:cxnLst/>
            <a:rect l="l" t="t" r="r" b="b"/>
            <a:pathLst>
              <a:path w="0" h="2425700">
                <a:moveTo>
                  <a:pt x="0" y="0"/>
                </a:moveTo>
                <a:lnTo>
                  <a:pt x="0" y="2425699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664516" y="2078567"/>
            <a:ext cx="0" cy="194945"/>
          </a:xfrm>
          <a:custGeom>
            <a:avLst/>
            <a:gdLst/>
            <a:ahLst/>
            <a:cxnLst/>
            <a:rect l="l" t="t" r="r" b="b"/>
            <a:pathLst>
              <a:path w="0" h="194944">
                <a:moveTo>
                  <a:pt x="0" y="0"/>
                </a:moveTo>
                <a:lnTo>
                  <a:pt x="0" y="194732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6664516" y="5880100"/>
            <a:ext cx="0" cy="342900"/>
          </a:xfrm>
          <a:custGeom>
            <a:avLst/>
            <a:gdLst/>
            <a:ahLst/>
            <a:cxnLst/>
            <a:rect l="l" t="t" r="r" b="b"/>
            <a:pathLst>
              <a:path w="0" h="342900">
                <a:moveTo>
                  <a:pt x="0" y="0"/>
                </a:moveTo>
                <a:lnTo>
                  <a:pt x="0" y="342899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6664516" y="6959600"/>
            <a:ext cx="0" cy="482600"/>
          </a:xfrm>
          <a:custGeom>
            <a:avLst/>
            <a:gdLst/>
            <a:ahLst/>
            <a:cxnLst/>
            <a:rect l="l" t="t" r="r" b="b"/>
            <a:pathLst>
              <a:path w="0" h="482600">
                <a:moveTo>
                  <a:pt x="0" y="0"/>
                </a:moveTo>
                <a:lnTo>
                  <a:pt x="0" y="482599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6664516" y="7797800"/>
            <a:ext cx="0" cy="419100"/>
          </a:xfrm>
          <a:custGeom>
            <a:avLst/>
            <a:gdLst/>
            <a:ahLst/>
            <a:cxnLst/>
            <a:rect l="l" t="t" r="r" b="b"/>
            <a:pathLst>
              <a:path w="0" h="419100">
                <a:moveTo>
                  <a:pt x="0" y="0"/>
                </a:moveTo>
                <a:lnTo>
                  <a:pt x="0" y="419099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6664516" y="8991600"/>
            <a:ext cx="0" cy="139700"/>
          </a:xfrm>
          <a:custGeom>
            <a:avLst/>
            <a:gdLst/>
            <a:ahLst/>
            <a:cxnLst/>
            <a:rect l="l" t="t" r="r" b="b"/>
            <a:pathLst>
              <a:path w="0" h="139700">
                <a:moveTo>
                  <a:pt x="0" y="0"/>
                </a:moveTo>
                <a:lnTo>
                  <a:pt x="0" y="139700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763000" y="9129183"/>
            <a:ext cx="7929245" cy="0"/>
          </a:xfrm>
          <a:custGeom>
            <a:avLst/>
            <a:gdLst/>
            <a:ahLst/>
            <a:cxnLst/>
            <a:rect l="l" t="t" r="r" b="b"/>
            <a:pathLst>
              <a:path w="7929244" h="0">
                <a:moveTo>
                  <a:pt x="0" y="0"/>
                </a:moveTo>
                <a:lnTo>
                  <a:pt x="7929033" y="0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763000" y="4912783"/>
            <a:ext cx="7929245" cy="0"/>
          </a:xfrm>
          <a:custGeom>
            <a:avLst/>
            <a:gdLst/>
            <a:ahLst/>
            <a:cxnLst/>
            <a:rect l="l" t="t" r="r" b="b"/>
            <a:pathLst>
              <a:path w="7929244" h="0">
                <a:moveTo>
                  <a:pt x="0" y="0"/>
                </a:moveTo>
                <a:lnTo>
                  <a:pt x="7929033" y="0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750300" y="2106083"/>
            <a:ext cx="7941945" cy="0"/>
          </a:xfrm>
          <a:custGeom>
            <a:avLst/>
            <a:gdLst/>
            <a:ahLst/>
            <a:cxnLst/>
            <a:rect l="l" t="t" r="r" b="b"/>
            <a:pathLst>
              <a:path w="7941944" h="0">
                <a:moveTo>
                  <a:pt x="0" y="0"/>
                </a:moveTo>
                <a:lnTo>
                  <a:pt x="7941733" y="0"/>
                </a:lnTo>
              </a:path>
            </a:pathLst>
          </a:custGeom>
          <a:ln w="4233">
            <a:solidFill>
              <a:srgbClr val="181F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6715316" y="2679700"/>
            <a:ext cx="0" cy="2425700"/>
          </a:xfrm>
          <a:custGeom>
            <a:avLst/>
            <a:gdLst/>
            <a:ahLst/>
            <a:cxnLst/>
            <a:rect l="l" t="t" r="r" b="b"/>
            <a:pathLst>
              <a:path w="0" h="2425700">
                <a:moveTo>
                  <a:pt x="0" y="0"/>
                </a:moveTo>
                <a:lnTo>
                  <a:pt x="0" y="2425699"/>
                </a:lnTo>
              </a:path>
            </a:pathLst>
          </a:custGeom>
          <a:ln w="4233">
            <a:solidFill>
              <a:srgbClr val="0C1C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6715316" y="5880100"/>
            <a:ext cx="0" cy="342900"/>
          </a:xfrm>
          <a:custGeom>
            <a:avLst/>
            <a:gdLst/>
            <a:ahLst/>
            <a:cxnLst/>
            <a:rect l="l" t="t" r="r" b="b"/>
            <a:pathLst>
              <a:path w="0" h="342900">
                <a:moveTo>
                  <a:pt x="0" y="0"/>
                </a:moveTo>
                <a:lnTo>
                  <a:pt x="0" y="342899"/>
                </a:lnTo>
              </a:path>
            </a:pathLst>
          </a:custGeom>
          <a:ln w="4233">
            <a:solidFill>
              <a:srgbClr val="0C1C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6715316" y="6959600"/>
            <a:ext cx="0" cy="482600"/>
          </a:xfrm>
          <a:custGeom>
            <a:avLst/>
            <a:gdLst/>
            <a:ahLst/>
            <a:cxnLst/>
            <a:rect l="l" t="t" r="r" b="b"/>
            <a:pathLst>
              <a:path w="0" h="482600">
                <a:moveTo>
                  <a:pt x="0" y="0"/>
                </a:moveTo>
                <a:lnTo>
                  <a:pt x="0" y="482599"/>
                </a:lnTo>
              </a:path>
            </a:pathLst>
          </a:custGeom>
          <a:ln w="4233">
            <a:solidFill>
              <a:srgbClr val="0C1C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6715316" y="7797800"/>
            <a:ext cx="0" cy="419100"/>
          </a:xfrm>
          <a:custGeom>
            <a:avLst/>
            <a:gdLst/>
            <a:ahLst/>
            <a:cxnLst/>
            <a:rect l="l" t="t" r="r" b="b"/>
            <a:pathLst>
              <a:path w="0" h="419100">
                <a:moveTo>
                  <a:pt x="0" y="0"/>
                </a:moveTo>
                <a:lnTo>
                  <a:pt x="0" y="419099"/>
                </a:lnTo>
              </a:path>
            </a:pathLst>
          </a:custGeom>
          <a:ln w="4233">
            <a:solidFill>
              <a:srgbClr val="0C1C2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6715316" y="8991600"/>
            <a:ext cx="0" cy="139700"/>
          </a:xfrm>
          <a:custGeom>
            <a:avLst/>
            <a:gdLst/>
            <a:ahLst/>
            <a:cxnLst/>
            <a:rect l="l" t="t" r="r" b="b"/>
            <a:pathLst>
              <a:path w="0" h="139700">
                <a:moveTo>
                  <a:pt x="0" y="0"/>
                </a:moveTo>
                <a:lnTo>
                  <a:pt x="0" y="139700"/>
                </a:lnTo>
              </a:path>
            </a:pathLst>
          </a:custGeom>
          <a:ln w="4233">
            <a:solidFill>
              <a:srgbClr val="0C1C2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079500" y="2078567"/>
            <a:ext cx="15646400" cy="601345"/>
            <a:chOff x="1079500" y="2078567"/>
            <a:chExt cx="15646400" cy="601345"/>
          </a:xfrm>
        </p:grpSpPr>
        <p:sp>
          <p:nvSpPr>
            <p:cNvPr id="20" name="object 20" descr=""/>
            <p:cNvSpPr/>
            <p:nvPr/>
          </p:nvSpPr>
          <p:spPr>
            <a:xfrm>
              <a:off x="16715316" y="2078567"/>
              <a:ext cx="0" cy="194945"/>
            </a:xfrm>
            <a:custGeom>
              <a:avLst/>
              <a:gdLst/>
              <a:ahLst/>
              <a:cxnLst/>
              <a:rect l="l" t="t" r="r" b="b"/>
              <a:pathLst>
                <a:path w="0" h="194944">
                  <a:moveTo>
                    <a:pt x="0" y="0"/>
                  </a:moveTo>
                  <a:lnTo>
                    <a:pt x="0" y="194732"/>
                  </a:lnTo>
                </a:path>
              </a:pathLst>
            </a:custGeom>
            <a:ln w="4233">
              <a:solidFill>
                <a:srgbClr val="0C1C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79500" y="2273300"/>
              <a:ext cx="15646400" cy="406400"/>
            </a:xfrm>
            <a:custGeom>
              <a:avLst/>
              <a:gdLst/>
              <a:ahLst/>
              <a:cxnLst/>
              <a:rect l="l" t="t" r="r" b="b"/>
              <a:pathLst>
                <a:path w="15646400" h="406400">
                  <a:moveTo>
                    <a:pt x="15646400" y="406400"/>
                  </a:moveTo>
                  <a:lnTo>
                    <a:pt x="0" y="406400"/>
                  </a:lnTo>
                  <a:lnTo>
                    <a:pt x="0" y="0"/>
                  </a:lnTo>
                  <a:lnTo>
                    <a:pt x="15646400" y="0"/>
                  </a:lnTo>
                  <a:lnTo>
                    <a:pt x="15646400" y="406400"/>
                  </a:lnTo>
                  <a:close/>
                </a:path>
              </a:pathLst>
            </a:custGeom>
            <a:solidFill>
              <a:srgbClr val="4462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78117" y="2129366"/>
            <a:ext cx="560768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175">
                <a:solidFill>
                  <a:srgbClr val="B3A38E"/>
                </a:solidFill>
                <a:latin typeface="Lucida Sans Unicode"/>
                <a:cs typeface="Lucida Sans Unicode"/>
              </a:rPr>
              <a:t>Descriptive</a:t>
            </a:r>
            <a:r>
              <a:rPr dirty="0" sz="3300" spc="-65">
                <a:solidFill>
                  <a:srgbClr val="B3A38E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215">
                <a:solidFill>
                  <a:srgbClr val="CFCFCF"/>
                </a:solidFill>
                <a:latin typeface="Lucida Sans Unicode"/>
                <a:cs typeface="Lucida Sans Unicode"/>
              </a:rPr>
              <a:t>(TraditionaI)</a:t>
            </a:r>
            <a:r>
              <a:rPr dirty="0" sz="3300" spc="85">
                <a:solidFill>
                  <a:srgbClr val="CFCFC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85">
                <a:solidFill>
                  <a:srgbClr val="9E9789"/>
                </a:solidFill>
                <a:latin typeface="Lucida Sans Unicode"/>
                <a:cs typeface="Lucida Sans Unicode"/>
              </a:rPr>
              <a:t>Model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244649" y="2129366"/>
            <a:ext cx="876300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46175" algn="l"/>
              </a:tabLst>
            </a:pPr>
            <a:r>
              <a:rPr dirty="0" sz="3300" spc="-305">
                <a:solidFill>
                  <a:srgbClr val="BDBDBD"/>
                </a:solidFill>
                <a:latin typeface="Lucida Sans Unicode"/>
                <a:cs typeface="Lucida Sans Unicode"/>
              </a:rPr>
              <a:t>s</a:t>
            </a:r>
            <a:r>
              <a:rPr dirty="0" sz="3300" spc="25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915">
                <a:solidFill>
                  <a:srgbClr val="CACACA"/>
                </a:solidFill>
                <a:latin typeface="Lucida Sans Unicode"/>
                <a:cs typeface="Lucida Sans Unicode"/>
              </a:rPr>
              <a:t>a</a:t>
            </a:r>
            <a:r>
              <a:rPr dirty="0" sz="3300" spc="-280">
                <a:solidFill>
                  <a:srgbClr val="CACACA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819">
                <a:solidFill>
                  <a:srgbClr val="CDCDCD"/>
                </a:solidFill>
                <a:latin typeface="Lucida Sans Unicode"/>
                <a:cs typeface="Lucida Sans Unicode"/>
              </a:rPr>
              <a:t>e9›</a:t>
            </a:r>
            <a:r>
              <a:rPr dirty="0" sz="3300">
                <a:solidFill>
                  <a:srgbClr val="CDCDCD"/>
                </a:solidFill>
                <a:latin typeface="Lucida Sans Unicode"/>
                <a:cs typeface="Lucida Sans Unicode"/>
              </a:rPr>
              <a:t>	</a:t>
            </a:r>
            <a:r>
              <a:rPr dirty="0" sz="3300" spc="-515">
                <a:solidFill>
                  <a:srgbClr val="978C75"/>
                </a:solidFill>
                <a:latin typeface="Lucida Sans Unicode"/>
                <a:cs typeface="Lucida Sans Unicode"/>
              </a:rPr>
              <a:t>v</a:t>
            </a:r>
            <a:r>
              <a:rPr dirty="0" sz="3300" spc="-145">
                <a:solidFill>
                  <a:srgbClr val="978C75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380">
                <a:solidFill>
                  <a:srgbClr val="B8B8B8"/>
                </a:solidFill>
                <a:latin typeface="Lucida Sans Unicode"/>
                <a:cs typeface="Lucida Sans Unicode"/>
              </a:rPr>
              <a:t>i</a:t>
            </a:r>
            <a:r>
              <a:rPr dirty="0" sz="3300" spc="114">
                <a:solidFill>
                  <a:srgbClr val="B8B8B8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735">
                <a:solidFill>
                  <a:srgbClr val="130C00"/>
                </a:solidFill>
                <a:latin typeface="Lucida Sans Unicode"/>
                <a:cs typeface="Lucida Sans Unicode"/>
              </a:rPr>
              <a:t>e</a:t>
            </a:r>
            <a:r>
              <a:rPr dirty="0" sz="3300" spc="-535">
                <a:solidFill>
                  <a:srgbClr val="130C00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750">
                <a:solidFill>
                  <a:srgbClr val="E1E1E1"/>
                </a:solidFill>
                <a:latin typeface="Lucida Sans Unicode"/>
                <a:cs typeface="Lucida Sans Unicode"/>
              </a:rPr>
              <a:t>sh</a:t>
            </a:r>
            <a:r>
              <a:rPr dirty="0" sz="3300" spc="-470">
                <a:solidFill>
                  <a:srgbClr val="E1E1E1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535">
                <a:solidFill>
                  <a:srgbClr val="E1E1E1"/>
                </a:solidFill>
                <a:latin typeface="Lucida Sans Unicode"/>
                <a:cs typeface="Lucida Sans Unicode"/>
              </a:rPr>
              <a:t>n</a:t>
            </a:r>
            <a:r>
              <a:rPr dirty="0" sz="3300" spc="229">
                <a:solidFill>
                  <a:srgbClr val="E1E1E1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20">
                <a:solidFill>
                  <a:srgbClr val="C8C8C8"/>
                </a:solidFill>
                <a:latin typeface="Lucida Sans Unicode"/>
                <a:cs typeface="Lucida Sans Unicode"/>
              </a:rPr>
              <a:t>Predictive</a:t>
            </a:r>
            <a:r>
              <a:rPr dirty="0" sz="3300" spc="-145">
                <a:solidFill>
                  <a:srgbClr val="C8C8C8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60">
                <a:solidFill>
                  <a:srgbClr val="1F1F1F"/>
                </a:solidFill>
                <a:latin typeface="Lucida Sans Unicode"/>
                <a:cs typeface="Lucida Sans Unicode"/>
              </a:rPr>
              <a:t>(Project</a:t>
            </a:r>
            <a:r>
              <a:rPr dirty="0" sz="3300" spc="-100">
                <a:solidFill>
                  <a:srgbClr val="1F1F1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05">
                <a:solidFill>
                  <a:srgbClr val="D3BFA0"/>
                </a:solidFill>
                <a:latin typeface="Lucida Sans Unicode"/>
                <a:cs typeface="Lucida Sans Unicode"/>
              </a:rPr>
              <a:t>Beacon)</a:t>
            </a:r>
            <a:r>
              <a:rPr dirty="0" sz="3300" spc="-40">
                <a:solidFill>
                  <a:srgbClr val="D3BFA0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90">
                <a:solidFill>
                  <a:srgbClr val="D4C1A3"/>
                </a:solidFill>
                <a:latin typeface="Lucida Sans Unicode"/>
                <a:cs typeface="Lucida Sans Unicode"/>
              </a:rPr>
              <a:t>Model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6546918" y="2243666"/>
            <a:ext cx="13398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50">
                <a:solidFill>
                  <a:srgbClr val="ACACAC"/>
                </a:solidFill>
                <a:latin typeface="Lucida Sans Unicode"/>
                <a:cs typeface="Lucida Sans Unicode"/>
              </a:rPr>
              <a:t>I</a:t>
            </a:r>
            <a:endParaRPr sz="3300">
              <a:latin typeface="Lucida Sans Unicode"/>
              <a:cs typeface="Lucida Sans Unicode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079500" y="2743200"/>
            <a:ext cx="15659100" cy="139700"/>
            <a:chOff x="1079500" y="2743200"/>
            <a:chExt cx="15659100" cy="139700"/>
          </a:xfrm>
        </p:grpSpPr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9500" y="2743200"/>
              <a:ext cx="15659100" cy="13970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9500" y="2743200"/>
              <a:ext cx="15659100" cy="139700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1079500" y="4038600"/>
            <a:ext cx="15659100" cy="139700"/>
            <a:chOff x="1079500" y="4038600"/>
            <a:chExt cx="15659100" cy="139700"/>
          </a:xfrm>
        </p:grpSpPr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9500" y="4038600"/>
              <a:ext cx="15659100" cy="139700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9500" y="4038600"/>
              <a:ext cx="15659100" cy="139700"/>
            </a:xfrm>
            <a:prstGeom prst="rect">
              <a:avLst/>
            </a:prstGeom>
          </p:spPr>
        </p:pic>
      </p:grpSp>
      <p:sp>
        <p:nvSpPr>
          <p:cNvPr id="31" name="object 31" descr=""/>
          <p:cNvSpPr/>
          <p:nvPr/>
        </p:nvSpPr>
        <p:spPr>
          <a:xfrm>
            <a:off x="1079500" y="5105400"/>
            <a:ext cx="15646400" cy="774700"/>
          </a:xfrm>
          <a:custGeom>
            <a:avLst/>
            <a:gdLst/>
            <a:ahLst/>
            <a:cxnLst/>
            <a:rect l="l" t="t" r="r" b="b"/>
            <a:pathLst>
              <a:path w="15646400" h="774700">
                <a:moveTo>
                  <a:pt x="15646400" y="774700"/>
                </a:moveTo>
                <a:lnTo>
                  <a:pt x="0" y="774700"/>
                </a:lnTo>
                <a:lnTo>
                  <a:pt x="0" y="0"/>
                </a:lnTo>
                <a:lnTo>
                  <a:pt x="15646400" y="0"/>
                </a:lnTo>
                <a:lnTo>
                  <a:pt x="15646400" y="774700"/>
                </a:lnTo>
                <a:close/>
              </a:path>
            </a:pathLst>
          </a:custGeom>
          <a:solidFill>
            <a:srgbClr val="4462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 txBox="1"/>
          <p:nvPr/>
        </p:nvSpPr>
        <p:spPr>
          <a:xfrm>
            <a:off x="1064594" y="5155847"/>
            <a:ext cx="597979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459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34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65">
                <a:solidFill>
                  <a:srgbClr val="FFFFFF"/>
                </a:solidFill>
                <a:latin typeface="Lucida Sans Unicode"/>
                <a:cs typeface="Lucida Sans Unicode"/>
              </a:rPr>
              <a:t>Scope:</a:t>
            </a:r>
            <a:r>
              <a:rPr dirty="0" sz="34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05">
                <a:solidFill>
                  <a:srgbClr val="FFFFFF"/>
                </a:solidFill>
                <a:latin typeface="Lucida Sans Unicode"/>
                <a:cs typeface="Lucida Sans Unicode"/>
              </a:rPr>
              <a:t>Static</a:t>
            </a:r>
            <a:r>
              <a:rPr dirty="0" sz="3400" spc="-3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90">
                <a:solidFill>
                  <a:srgbClr val="FFFFFF"/>
                </a:solidFill>
                <a:latin typeface="Lucida Sans Unicode"/>
                <a:cs typeface="Lucida Sans Unicode"/>
              </a:rPr>
              <a:t>pharmacy</a:t>
            </a:r>
            <a:r>
              <a:rPr dirty="0" sz="3400" spc="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335">
                <a:solidFill>
                  <a:srgbClr val="FFFFFF"/>
                </a:solidFill>
                <a:latin typeface="Lucida Sans Unicode"/>
                <a:cs typeface="Lucida Sans Unicode"/>
              </a:rPr>
              <a:t>fill</a:t>
            </a:r>
            <a:r>
              <a:rPr dirty="0" sz="3400" spc="-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400" spc="-45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endParaRPr sz="3400">
              <a:latin typeface="Lucida Sans Unicode"/>
              <a:cs typeface="Lucida Sans Unicode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390498" y="5006622"/>
            <a:ext cx="6304280" cy="8680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4604" marR="5080" indent="-2540">
              <a:lnSpc>
                <a:spcPct val="100000"/>
              </a:lnSpc>
              <a:spcBef>
                <a:spcPts val="125"/>
              </a:spcBef>
            </a:pPr>
            <a:r>
              <a:rPr dirty="0" sz="2750" spc="-3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7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85">
                <a:solidFill>
                  <a:srgbClr val="FFFFFF"/>
                </a:solidFill>
                <a:latin typeface="Lucida Sans Unicode"/>
                <a:cs typeface="Lucida Sans Unicode"/>
              </a:rPr>
              <a:t>ScOpe:</a:t>
            </a:r>
            <a:r>
              <a:rPr dirty="0" sz="27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65">
                <a:solidFill>
                  <a:srgbClr val="64461F"/>
                </a:solidFill>
                <a:latin typeface="Lucida Sans Unicode"/>
                <a:cs typeface="Lucida Sans Unicode"/>
              </a:rPr>
              <a:t>Triangulated</a:t>
            </a:r>
            <a:r>
              <a:rPr dirty="0" sz="2750" spc="-150">
                <a:solidFill>
                  <a:srgbClr val="64461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40">
                <a:solidFill>
                  <a:srgbClr val="D1C3AC"/>
                </a:solidFill>
                <a:latin typeface="Lucida Sans Unicode"/>
                <a:cs typeface="Lucida Sans Unicode"/>
              </a:rPr>
              <a:t>claims,</a:t>
            </a:r>
            <a:r>
              <a:rPr dirty="0" sz="2750" spc="-235">
                <a:solidFill>
                  <a:srgbClr val="D1C3AC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20">
                <a:solidFill>
                  <a:srgbClr val="72674F"/>
                </a:solidFill>
                <a:latin typeface="Lucida Sans Unicode"/>
                <a:cs typeface="Lucida Sans Unicode"/>
              </a:rPr>
              <a:t>EHR, </a:t>
            </a:r>
            <a:r>
              <a:rPr dirty="0" sz="2750" spc="-9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7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35">
                <a:solidFill>
                  <a:srgbClr val="E4C395"/>
                </a:solidFill>
                <a:latin typeface="Lucida Sans Unicode"/>
                <a:cs typeface="Lucida Sans Unicode"/>
              </a:rPr>
              <a:t>behavioral</a:t>
            </a:r>
            <a:r>
              <a:rPr dirty="0" sz="2750" spc="-140">
                <a:solidFill>
                  <a:srgbClr val="E4C395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20">
                <a:solidFill>
                  <a:srgbClr val="280E00"/>
                </a:solidFill>
                <a:latin typeface="Lucida Sans Unicode"/>
                <a:cs typeface="Lucida Sans Unicode"/>
              </a:rPr>
              <a:t>logs</a:t>
            </a:r>
            <a:endParaRPr sz="2750">
              <a:latin typeface="Lucida Sans Unicode"/>
              <a:cs typeface="Lucida Sans Unicode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079500" y="5956300"/>
            <a:ext cx="15659100" cy="139700"/>
            <a:chOff x="1079500" y="5956300"/>
            <a:chExt cx="15659100" cy="139700"/>
          </a:xfrm>
        </p:grpSpPr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9500" y="5956300"/>
              <a:ext cx="15659100" cy="13970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9500" y="5956300"/>
              <a:ext cx="15659100" cy="139700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1079500" y="6223000"/>
            <a:ext cx="15659100" cy="749300"/>
            <a:chOff x="1079500" y="6223000"/>
            <a:chExt cx="15659100" cy="749300"/>
          </a:xfrm>
        </p:grpSpPr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598900" y="6223000"/>
              <a:ext cx="139700" cy="74930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079500" y="6223000"/>
              <a:ext cx="15646400" cy="736600"/>
            </a:xfrm>
            <a:custGeom>
              <a:avLst/>
              <a:gdLst/>
              <a:ahLst/>
              <a:cxnLst/>
              <a:rect l="l" t="t" r="r" b="b"/>
              <a:pathLst>
                <a:path w="15646400" h="736600">
                  <a:moveTo>
                    <a:pt x="15646400" y="736600"/>
                  </a:moveTo>
                  <a:lnTo>
                    <a:pt x="0" y="736600"/>
                  </a:lnTo>
                  <a:lnTo>
                    <a:pt x="0" y="0"/>
                  </a:lnTo>
                  <a:lnTo>
                    <a:pt x="15646400" y="0"/>
                  </a:lnTo>
                  <a:lnTo>
                    <a:pt x="15646400" y="736600"/>
                  </a:lnTo>
                  <a:close/>
                </a:path>
              </a:pathLst>
            </a:custGeom>
            <a:solidFill>
              <a:srgbClr val="44628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065417" y="6256866"/>
            <a:ext cx="702754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390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33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400">
                <a:solidFill>
                  <a:srgbClr val="FFFFFF"/>
                </a:solidFill>
                <a:latin typeface="Lucida Sans Unicode"/>
                <a:cs typeface="Lucida Sans Unicode"/>
              </a:rPr>
              <a:t>Context:</a:t>
            </a:r>
            <a:r>
              <a:rPr dirty="0" sz="33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434">
                <a:solidFill>
                  <a:srgbClr val="FFFFFF"/>
                </a:solidFill>
                <a:latin typeface="Lucida Sans Unicode"/>
                <a:cs typeface="Lucida Sans Unicode"/>
              </a:rPr>
              <a:t>Assumes</a:t>
            </a:r>
            <a:r>
              <a:rPr dirty="0" sz="3300" spc="-25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345">
                <a:solidFill>
                  <a:srgbClr val="FFFFFF"/>
                </a:solidFill>
                <a:latin typeface="Lucida Sans Unicode"/>
                <a:cs typeface="Lucida Sans Unicode"/>
              </a:rPr>
              <a:t>stable</a:t>
            </a:r>
            <a:r>
              <a:rPr dirty="0" sz="33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400">
                <a:solidFill>
                  <a:srgbClr val="FFFFFF"/>
                </a:solidFill>
                <a:latin typeface="Lucida Sans Unicode"/>
                <a:cs typeface="Lucida Sans Unicode"/>
              </a:rPr>
              <a:t>conditions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372039" y="6049786"/>
            <a:ext cx="6704330" cy="94234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12700" marR="5080" indent="12700">
              <a:lnSpc>
                <a:spcPts val="3300"/>
              </a:lnSpc>
              <a:spcBef>
                <a:spcPts val="720"/>
              </a:spcBef>
            </a:pPr>
            <a:r>
              <a:rPr dirty="0" sz="3250" spc="-385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325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380">
                <a:solidFill>
                  <a:srgbClr val="FFFFFF"/>
                </a:solidFill>
                <a:latin typeface="Lucida Sans Unicode"/>
                <a:cs typeface="Lucida Sans Unicode"/>
              </a:rPr>
              <a:t>Context:</a:t>
            </a:r>
            <a:r>
              <a:rPr dirty="0" sz="32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290">
                <a:solidFill>
                  <a:srgbClr val="604624"/>
                </a:solidFill>
                <a:latin typeface="Lucida Sans Unicode"/>
                <a:cs typeface="Lucida Sans Unicode"/>
              </a:rPr>
              <a:t>Incorporates</a:t>
            </a:r>
            <a:r>
              <a:rPr dirty="0" sz="3250" spc="-20">
                <a:solidFill>
                  <a:srgbClr val="604624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280">
                <a:solidFill>
                  <a:srgbClr val="D6C6AC"/>
                </a:solidFill>
                <a:latin typeface="Lucida Sans Unicode"/>
                <a:cs typeface="Lucida Sans Unicode"/>
              </a:rPr>
              <a:t>shortages, </a:t>
            </a:r>
            <a:r>
              <a:rPr dirty="0" sz="3250" spc="-275">
                <a:solidFill>
                  <a:srgbClr val="603F16"/>
                </a:solidFill>
                <a:latin typeface="Lucida Sans Unicode"/>
                <a:cs typeface="Lucida Sans Unicode"/>
              </a:rPr>
              <a:t>Medicare</a:t>
            </a:r>
            <a:r>
              <a:rPr dirty="0" sz="3250" spc="-225">
                <a:solidFill>
                  <a:srgbClr val="603F16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180">
                <a:solidFill>
                  <a:srgbClr val="564221"/>
                </a:solidFill>
                <a:latin typeface="Lucida Sans Unicode"/>
                <a:cs typeface="Lucida Sans Unicode"/>
              </a:rPr>
              <a:t>Part</a:t>
            </a:r>
            <a:r>
              <a:rPr dirty="0" sz="3250" spc="-395">
                <a:solidFill>
                  <a:srgbClr val="564221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440">
                <a:solidFill>
                  <a:srgbClr val="5D523F"/>
                </a:solidFill>
                <a:latin typeface="Lucida Sans Unicode"/>
                <a:cs typeface="Lucida Sans Unicode"/>
              </a:rPr>
              <a:t>D,</a:t>
            </a:r>
            <a:r>
              <a:rPr dirty="0" sz="3250" spc="-385">
                <a:solidFill>
                  <a:srgbClr val="5D523F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300">
                <a:solidFill>
                  <a:srgbClr val="6D4B1C"/>
                </a:solidFill>
                <a:latin typeface="Lucida Sans Unicode"/>
                <a:cs typeface="Lucida Sans Unicode"/>
              </a:rPr>
              <a:t>and</a:t>
            </a:r>
            <a:r>
              <a:rPr dirty="0" sz="3250" spc="-555">
                <a:solidFill>
                  <a:srgbClr val="6D4B1C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409">
                <a:solidFill>
                  <a:srgbClr val="AE895D"/>
                </a:solidFill>
                <a:latin typeface="Lucida Sans Unicode"/>
                <a:cs typeface="Lucida Sans Unicode"/>
              </a:rPr>
              <a:t>DTC</a:t>
            </a:r>
            <a:r>
              <a:rPr dirty="0" sz="3250" spc="-300">
                <a:solidFill>
                  <a:srgbClr val="AE895D"/>
                </a:solidFill>
                <a:latin typeface="Lucida Sans Unicode"/>
                <a:cs typeface="Lucida Sans Unicode"/>
              </a:rPr>
              <a:t> </a:t>
            </a:r>
            <a:r>
              <a:rPr dirty="0" sz="3250" spc="-30">
                <a:solidFill>
                  <a:srgbClr val="593408"/>
                </a:solidFill>
                <a:latin typeface="Lucida Sans Unicode"/>
                <a:cs typeface="Lucida Sans Unicode"/>
              </a:rPr>
              <a:t>shifts</a:t>
            </a:r>
            <a:endParaRPr sz="3250">
              <a:latin typeface="Lucida Sans Unicode"/>
              <a:cs typeface="Lucida Sans Unicode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079500" y="7061200"/>
            <a:ext cx="15659100" cy="139700"/>
            <a:chOff x="1079500" y="7061200"/>
            <a:chExt cx="15659100" cy="139700"/>
          </a:xfrm>
        </p:grpSpPr>
        <p:pic>
          <p:nvPicPr>
            <p:cNvPr id="43" name="object 4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9500" y="7061200"/>
              <a:ext cx="15659100" cy="139700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9500" y="7061200"/>
              <a:ext cx="15659100" cy="139700"/>
            </a:xfrm>
            <a:prstGeom prst="rect">
              <a:avLst/>
            </a:prstGeom>
          </p:spPr>
        </p:pic>
      </p:grpSp>
      <p:grpSp>
        <p:nvGrpSpPr>
          <p:cNvPr id="45" name="object 45" descr=""/>
          <p:cNvGrpSpPr/>
          <p:nvPr/>
        </p:nvGrpSpPr>
        <p:grpSpPr>
          <a:xfrm>
            <a:off x="1079500" y="7442200"/>
            <a:ext cx="15659100" cy="368300"/>
            <a:chOff x="1079500" y="7442200"/>
            <a:chExt cx="15659100" cy="368300"/>
          </a:xfrm>
        </p:grpSpPr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598900" y="7442200"/>
              <a:ext cx="139700" cy="368300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1079500" y="7442200"/>
              <a:ext cx="15646400" cy="355600"/>
            </a:xfrm>
            <a:custGeom>
              <a:avLst/>
              <a:gdLst/>
              <a:ahLst/>
              <a:cxnLst/>
              <a:rect l="l" t="t" r="r" b="b"/>
              <a:pathLst>
                <a:path w="15646400" h="355600">
                  <a:moveTo>
                    <a:pt x="15646400" y="355600"/>
                  </a:moveTo>
                  <a:lnTo>
                    <a:pt x="0" y="355600"/>
                  </a:lnTo>
                  <a:lnTo>
                    <a:pt x="0" y="0"/>
                  </a:lnTo>
                  <a:lnTo>
                    <a:pt x="15646400" y="0"/>
                  </a:lnTo>
                  <a:lnTo>
                    <a:pt x="15646400" y="355600"/>
                  </a:lnTo>
                  <a:close/>
                </a:path>
              </a:pathLst>
            </a:custGeom>
            <a:solidFill>
              <a:srgbClr val="4262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065417" y="7272866"/>
            <a:ext cx="534670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375">
                <a:solidFill>
                  <a:srgbClr val="FFFFFF"/>
                </a:solidFill>
                <a:latin typeface="Lucida Sans Unicode"/>
                <a:cs typeface="Lucida Sans Unicode"/>
              </a:rPr>
              <a:t>HCP</a:t>
            </a:r>
            <a:r>
              <a:rPr dirty="0" sz="33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355">
                <a:solidFill>
                  <a:srgbClr val="FFFFFF"/>
                </a:solidFill>
                <a:latin typeface="Lucida Sans Unicode"/>
                <a:cs typeface="Lucida Sans Unicode"/>
              </a:rPr>
              <a:t>Insight:</a:t>
            </a:r>
            <a:r>
              <a:rPr dirty="0" sz="330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365">
                <a:solidFill>
                  <a:srgbClr val="FFFFFF"/>
                </a:solidFill>
                <a:latin typeface="Lucida Sans Unicode"/>
                <a:cs typeface="Lucida Sans Unicode"/>
              </a:rPr>
              <a:t>What</a:t>
            </a:r>
            <a:r>
              <a:rPr dirty="0" sz="3300" spc="-3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33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300" spc="-2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390">
                <a:solidFill>
                  <a:srgbClr val="FFFFFF"/>
                </a:solidFill>
                <a:latin typeface="Lucida Sans Unicode"/>
                <a:cs typeface="Lucida Sans Unicode"/>
              </a:rPr>
              <a:t>doctor</a:t>
            </a:r>
            <a:r>
              <a:rPr dirty="0" sz="33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425">
                <a:solidFill>
                  <a:srgbClr val="FFFFFF"/>
                </a:solidFill>
                <a:latin typeface="Lucida Sans Unicode"/>
                <a:cs typeface="Lucida Sans Unicode"/>
              </a:rPr>
              <a:t>did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9385562" y="7290505"/>
            <a:ext cx="592201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300">
                <a:solidFill>
                  <a:srgbClr val="FFFFFF"/>
                </a:solidFill>
                <a:latin typeface="Lucida Sans Unicode"/>
                <a:cs typeface="Lucida Sans Unicode"/>
              </a:rPr>
              <a:t>HCP</a:t>
            </a:r>
            <a:r>
              <a:rPr dirty="0" sz="32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330">
                <a:solidFill>
                  <a:srgbClr val="FFFFFF"/>
                </a:solidFill>
                <a:latin typeface="Lucida Sans Unicode"/>
                <a:cs typeface="Lucida Sans Unicode"/>
              </a:rPr>
              <a:t>Insight:</a:t>
            </a:r>
            <a:r>
              <a:rPr dirty="0" sz="32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60">
                <a:solidFill>
                  <a:srgbClr val="F4CA8E"/>
                </a:solidFill>
                <a:latin typeface="Lucida Sans Unicode"/>
                <a:cs typeface="Lucida Sans Unicode"/>
              </a:rPr>
              <a:t>Why</a:t>
            </a:r>
            <a:r>
              <a:rPr dirty="0" sz="3200" spc="-180">
                <a:solidFill>
                  <a:srgbClr val="F4CA8E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45">
                <a:solidFill>
                  <a:srgbClr val="52340E"/>
                </a:solidFill>
                <a:latin typeface="Lucida Sans Unicode"/>
                <a:cs typeface="Lucida Sans Unicode"/>
              </a:rPr>
              <a:t>the</a:t>
            </a:r>
            <a:r>
              <a:rPr dirty="0" sz="3200" spc="-375">
                <a:solidFill>
                  <a:srgbClr val="52340E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90">
                <a:solidFill>
                  <a:srgbClr val="DDB685"/>
                </a:solidFill>
                <a:latin typeface="Lucida Sans Unicode"/>
                <a:cs typeface="Lucida Sans Unicode"/>
              </a:rPr>
              <a:t>doctor</a:t>
            </a:r>
            <a:r>
              <a:rPr dirty="0" sz="3200" spc="-100">
                <a:solidFill>
                  <a:srgbClr val="DDB685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10">
                <a:solidFill>
                  <a:srgbClr val="CDAE80"/>
                </a:solidFill>
                <a:latin typeface="Lucida Sans Unicode"/>
                <a:cs typeface="Lucida Sans Unicode"/>
              </a:rPr>
              <a:t>will</a:t>
            </a:r>
            <a:r>
              <a:rPr dirty="0" sz="3200" spc="-445">
                <a:solidFill>
                  <a:srgbClr val="CDAE80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25">
                <a:solidFill>
                  <a:srgbClr val="75694F"/>
                </a:solidFill>
                <a:latin typeface="Lucida Sans Unicode"/>
                <a:cs typeface="Lucida Sans Unicode"/>
              </a:rPr>
              <a:t>act</a:t>
            </a:r>
            <a:endParaRPr sz="3200">
              <a:latin typeface="Lucida Sans Unicode"/>
              <a:cs typeface="Lucida Sans Unicode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079500" y="7975600"/>
            <a:ext cx="15659100" cy="139700"/>
            <a:chOff x="1079500" y="7975600"/>
            <a:chExt cx="15659100" cy="139700"/>
          </a:xfrm>
        </p:grpSpPr>
        <p:pic>
          <p:nvPicPr>
            <p:cNvPr id="51" name="object 5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79500" y="7975600"/>
              <a:ext cx="15659100" cy="13970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79500" y="7975600"/>
              <a:ext cx="15659100" cy="139700"/>
            </a:xfrm>
            <a:prstGeom prst="rect">
              <a:avLst/>
            </a:prstGeom>
          </p:spPr>
        </p:pic>
      </p:grpSp>
      <p:sp>
        <p:nvSpPr>
          <p:cNvPr id="53" name="object 53" descr=""/>
          <p:cNvSpPr/>
          <p:nvPr/>
        </p:nvSpPr>
        <p:spPr>
          <a:xfrm>
            <a:off x="1079500" y="8216900"/>
            <a:ext cx="15646400" cy="774700"/>
          </a:xfrm>
          <a:custGeom>
            <a:avLst/>
            <a:gdLst/>
            <a:ahLst/>
            <a:cxnLst/>
            <a:rect l="l" t="t" r="r" b="b"/>
            <a:pathLst>
              <a:path w="15646400" h="774700">
                <a:moveTo>
                  <a:pt x="15646400" y="774700"/>
                </a:moveTo>
                <a:lnTo>
                  <a:pt x="0" y="774700"/>
                </a:lnTo>
                <a:lnTo>
                  <a:pt x="0" y="0"/>
                </a:lnTo>
                <a:lnTo>
                  <a:pt x="15646400" y="0"/>
                </a:lnTo>
                <a:lnTo>
                  <a:pt x="15646400" y="774700"/>
                </a:lnTo>
                <a:close/>
              </a:path>
            </a:pathLst>
          </a:custGeom>
          <a:solidFill>
            <a:srgbClr val="4162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>
            <a:off x="1076353" y="8307564"/>
            <a:ext cx="673227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70">
                <a:solidFill>
                  <a:srgbClr val="FFFFFF"/>
                </a:solidFill>
                <a:latin typeface="Lucida Sans Unicode"/>
                <a:cs typeface="Lucida Sans Unicode"/>
              </a:rPr>
              <a:t>Actionability:</a:t>
            </a:r>
            <a:r>
              <a:rPr dirty="0" sz="295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25">
                <a:solidFill>
                  <a:srgbClr val="FFFFFF"/>
                </a:solidFill>
                <a:latin typeface="Lucida Sans Unicode"/>
                <a:cs typeface="Lucida Sans Unicode"/>
              </a:rPr>
              <a:t>Reactive</a:t>
            </a:r>
            <a:r>
              <a:rPr dirty="0" sz="295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55">
                <a:solidFill>
                  <a:srgbClr val="FFFFFF"/>
                </a:solidFill>
                <a:latin typeface="Lucida Sans Unicode"/>
                <a:cs typeface="Lucida Sans Unicode"/>
              </a:rPr>
              <a:t>resource</a:t>
            </a:r>
            <a:r>
              <a:rPr dirty="0" sz="295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75">
                <a:solidFill>
                  <a:srgbClr val="FFFFFF"/>
                </a:solidFill>
                <a:latin typeface="Lucida Sans Unicode"/>
                <a:cs typeface="Lucida Sans Unicode"/>
              </a:rPr>
              <a:t>allocation</a:t>
            </a:r>
            <a:endParaRPr sz="2950">
              <a:latin typeface="Lucida Sans Unicode"/>
              <a:cs typeface="Lucida Sans Unicode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9557960" y="7932914"/>
            <a:ext cx="6908165" cy="1102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102870">
              <a:lnSpc>
                <a:spcPts val="4220"/>
              </a:lnSpc>
              <a:spcBef>
                <a:spcPts val="135"/>
              </a:spcBef>
            </a:pPr>
            <a:r>
              <a:rPr dirty="0" baseline="1322" sz="6300" spc="-112">
                <a:solidFill>
                  <a:srgbClr val="9E917E"/>
                </a:solidFill>
                <a:latin typeface="Lucida Sans Unicode"/>
                <a:cs typeface="Lucida Sans Unicode"/>
              </a:rPr>
              <a:t>o</a:t>
            </a:r>
            <a:r>
              <a:rPr dirty="0" baseline="-2222" sz="3750" spc="-120">
                <a:solidFill>
                  <a:srgbClr val="9E917E"/>
                </a:solidFill>
                <a:latin typeface="Lucida Sans Unicode"/>
                <a:cs typeface="Lucida Sans Unicode"/>
              </a:rPr>
              <a:t>ãC</a:t>
            </a:r>
            <a:r>
              <a:rPr dirty="0" baseline="1322" sz="6300" spc="-142">
                <a:solidFill>
                  <a:srgbClr val="9E917E"/>
                </a:solidFill>
                <a:latin typeface="Lucida Sans Unicode"/>
                <a:cs typeface="Lucida Sans Unicode"/>
              </a:rPr>
              <a:t>ti</a:t>
            </a:r>
            <a:r>
              <a:rPr dirty="0" baseline="1322" sz="6300" spc="-89">
                <a:solidFill>
                  <a:srgbClr val="9E917E"/>
                </a:solidFill>
                <a:latin typeface="Lucida Sans Unicode"/>
                <a:cs typeface="Lucida Sans Unicode"/>
              </a:rPr>
              <a:t>v</a:t>
            </a:r>
            <a:r>
              <a:rPr dirty="0" baseline="-2222" sz="3750" spc="-120">
                <a:solidFill>
                  <a:srgbClr val="9E917E"/>
                </a:solidFill>
                <a:latin typeface="Lucida Sans Unicode"/>
                <a:cs typeface="Lucida Sans Unicode"/>
              </a:rPr>
              <a:t>e</a:t>
            </a:r>
            <a:r>
              <a:rPr dirty="0" baseline="1322" sz="6300" spc="-607">
                <a:solidFill>
                  <a:srgbClr val="9E917E"/>
                </a:solidFill>
                <a:latin typeface="Lucida Sans Unicode"/>
                <a:cs typeface="Lucida Sans Unicode"/>
              </a:rPr>
              <a:t>,</a:t>
            </a:r>
            <a:r>
              <a:rPr dirty="0" sz="4200" spc="-95">
                <a:solidFill>
                  <a:srgbClr val="230E00"/>
                </a:solidFill>
                <a:latin typeface="Lucida Sans Unicode"/>
                <a:cs typeface="Lucida Sans Unicode"/>
              </a:rPr>
              <a:t>p</a:t>
            </a:r>
            <a:r>
              <a:rPr dirty="0" sz="4200" spc="-55">
                <a:solidFill>
                  <a:srgbClr val="230E00"/>
                </a:solidFill>
                <a:latin typeface="Lucida Sans Unicode"/>
                <a:cs typeface="Lucida Sans Unicode"/>
              </a:rPr>
              <a:t>r</a:t>
            </a:r>
            <a:r>
              <a:rPr dirty="0" baseline="-2222" sz="3750" spc="-112">
                <a:solidFill>
                  <a:srgbClr val="230E00"/>
                </a:solidFill>
                <a:latin typeface="Lucida Sans Unicode"/>
                <a:cs typeface="Lucida Sans Unicode"/>
              </a:rPr>
              <a:t>e</a:t>
            </a:r>
            <a:r>
              <a:rPr dirty="0" sz="4200" spc="-95">
                <a:solidFill>
                  <a:srgbClr val="230E00"/>
                </a:solidFill>
                <a:latin typeface="Lucida Sans Unicode"/>
                <a:cs typeface="Lucida Sans Unicode"/>
              </a:rPr>
              <a:t>script</a:t>
            </a:r>
            <a:r>
              <a:rPr dirty="0" sz="4200" spc="-1010">
                <a:solidFill>
                  <a:srgbClr val="230E00"/>
                </a:solidFill>
                <a:latin typeface="Lucida Sans Unicode"/>
                <a:cs typeface="Lucida Sans Unicode"/>
              </a:rPr>
              <a:t>i</a:t>
            </a:r>
            <a:r>
              <a:rPr dirty="0" sz="4200" spc="-720">
                <a:solidFill>
                  <a:srgbClr val="482F0F"/>
                </a:solidFill>
                <a:latin typeface="Lucida Sans Unicode"/>
                <a:cs typeface="Lucida Sans Unicode"/>
              </a:rPr>
              <a:t>f</a:t>
            </a:r>
            <a:r>
              <a:rPr dirty="0" sz="4200" spc="-1664">
                <a:solidFill>
                  <a:srgbClr val="230E00"/>
                </a:solidFill>
                <a:latin typeface="Lucida Sans Unicode"/>
                <a:cs typeface="Lucida Sans Unicode"/>
              </a:rPr>
              <a:t>v</a:t>
            </a:r>
            <a:r>
              <a:rPr dirty="0" sz="4200" spc="-70">
                <a:solidFill>
                  <a:srgbClr val="482F0F"/>
                </a:solidFill>
                <a:latin typeface="Lucida Sans Unicode"/>
                <a:cs typeface="Lucida Sans Unicode"/>
              </a:rPr>
              <a:t>i</a:t>
            </a:r>
            <a:r>
              <a:rPr dirty="0" baseline="-2222" sz="3750" spc="-1710">
                <a:solidFill>
                  <a:srgbClr val="482F0F"/>
                </a:solidFill>
                <a:latin typeface="Lucida Sans Unicode"/>
                <a:cs typeface="Lucida Sans Unicode"/>
              </a:rPr>
              <a:t>e</a:t>
            </a:r>
            <a:r>
              <a:rPr dirty="0" sz="4200" spc="-1400">
                <a:solidFill>
                  <a:srgbClr val="230E00"/>
                </a:solidFill>
                <a:latin typeface="Lucida Sans Unicode"/>
                <a:cs typeface="Lucida Sans Unicode"/>
              </a:rPr>
              <a:t>e</a:t>
            </a:r>
            <a:r>
              <a:rPr dirty="0" sz="4200" spc="-95">
                <a:solidFill>
                  <a:srgbClr val="482F0F"/>
                </a:solidFill>
                <a:latin typeface="Lucida Sans Unicode"/>
                <a:cs typeface="Lucida Sans Unicode"/>
              </a:rPr>
              <a:t>ld</a:t>
            </a:r>
            <a:endParaRPr sz="4200">
              <a:latin typeface="Lucida Sans Unicode"/>
              <a:cs typeface="Lucida Sans Unicode"/>
            </a:endParaRPr>
          </a:p>
          <a:p>
            <a:pPr algn="r" marR="30480">
              <a:lnSpc>
                <a:spcPts val="4220"/>
              </a:lnSpc>
              <a:tabLst>
                <a:tab pos="6775450" algn="l"/>
              </a:tabLst>
            </a:pPr>
            <a:r>
              <a:rPr dirty="0" baseline="2222" sz="3750" spc="67">
                <a:solidFill>
                  <a:srgbClr val="9E917E"/>
                </a:solidFill>
                <a:latin typeface="Lucida Sans Unicode"/>
                <a:cs typeface="Lucida Sans Unicode"/>
              </a:rPr>
              <a:t>n</a:t>
            </a:r>
            <a:r>
              <a:rPr dirty="0" sz="4200" spc="45">
                <a:solidFill>
                  <a:srgbClr val="9E917E"/>
                </a:solidFill>
                <a:latin typeface="Lucida Sans Unicode"/>
                <a:cs typeface="Lucida Sans Unicode"/>
              </a:rPr>
              <a:t>t</a:t>
            </a:r>
            <a:r>
              <a:rPr dirty="0" sz="2500" spc="45">
                <a:solidFill>
                  <a:srgbClr val="9E917E"/>
                </a:solidFill>
                <a:latin typeface="Lucida Sans Unicode"/>
                <a:cs typeface="Lucida Sans Unicode"/>
              </a:rPr>
              <a:t>ã</a:t>
            </a:r>
            <a:r>
              <a:rPr dirty="0" sz="4200" spc="45">
                <a:solidFill>
                  <a:srgbClr val="9E917E"/>
                </a:solidFill>
                <a:latin typeface="Lucida Sans Unicode"/>
                <a:cs typeface="Lucida Sans Unicode"/>
              </a:rPr>
              <a:t>:</a:t>
            </a:r>
            <a:r>
              <a:rPr dirty="0" sz="2500" spc="45">
                <a:solidFill>
                  <a:srgbClr val="9E917E"/>
                </a:solidFill>
                <a:latin typeface="Lucida Sans Unicode"/>
                <a:cs typeface="Lucida Sans Unicode"/>
              </a:rPr>
              <a:t>e</a:t>
            </a:r>
            <a:r>
              <a:rPr dirty="0" sz="4200" spc="45">
                <a:solidFill>
                  <a:srgbClr val="9E917E"/>
                </a:solidFill>
                <a:latin typeface="Lucida Sans Unicode"/>
                <a:cs typeface="Lucida Sans Unicode"/>
              </a:rPr>
              <a:t>:::</a:t>
            </a:r>
            <a:r>
              <a:rPr dirty="0" baseline="1322" sz="6300" spc="67">
                <a:solidFill>
                  <a:srgbClr val="9E917E"/>
                </a:solidFill>
                <a:latin typeface="Lucida Sans Unicode"/>
                <a:cs typeface="Lucida Sans Unicode"/>
              </a:rPr>
              <a:t>:t”</a:t>
            </a:r>
            <a:r>
              <a:rPr dirty="0" baseline="1322" sz="6300">
                <a:solidFill>
                  <a:srgbClr val="9E917E"/>
                </a:solidFill>
                <a:latin typeface="Lucida Sans Unicode"/>
                <a:cs typeface="Lucida Sans Unicode"/>
              </a:rPr>
              <a:t>	</a:t>
            </a:r>
            <a:r>
              <a:rPr dirty="0" baseline="-7936" sz="6300" spc="-1245">
                <a:solidFill>
                  <a:srgbClr val="ACACAC"/>
                </a:solidFill>
                <a:latin typeface="Lucida Sans Unicode"/>
                <a:cs typeface="Lucida Sans Unicode"/>
              </a:rPr>
              <a:t>I</a:t>
            </a:r>
            <a:endParaRPr baseline="-7936" sz="6300">
              <a:latin typeface="Lucida Sans Unicode"/>
              <a:cs typeface="Lucida Sans Unicode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1079500" y="9118600"/>
            <a:ext cx="15659100" cy="38100"/>
            <a:chOff x="1079500" y="9118600"/>
            <a:chExt cx="15659100" cy="38100"/>
          </a:xfrm>
        </p:grpSpPr>
        <p:pic>
          <p:nvPicPr>
            <p:cNvPr id="57" name="object 5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9500" y="9118600"/>
              <a:ext cx="15659100" cy="38100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9500" y="9118600"/>
              <a:ext cx="15659100" cy="38100"/>
            </a:xfrm>
            <a:prstGeom prst="rect">
              <a:avLst/>
            </a:prstGeom>
          </p:spPr>
        </p:pic>
      </p:grpSp>
      <p:grpSp>
        <p:nvGrpSpPr>
          <p:cNvPr id="59" name="object 59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60" name="object 6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4749800"/>
            <a:ext cx="17462500" cy="10922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49300" y="673100"/>
            <a:ext cx="15494000" cy="622300"/>
          </a:xfrm>
          <a:custGeom>
            <a:avLst/>
            <a:gdLst/>
            <a:ahLst/>
            <a:cxnLst/>
            <a:rect l="l" t="t" r="r" b="b"/>
            <a:pathLst>
              <a:path w="15494000" h="622300">
                <a:moveTo>
                  <a:pt x="15494000" y="622300"/>
                </a:moveTo>
                <a:lnTo>
                  <a:pt x="0" y="622300"/>
                </a:lnTo>
                <a:lnTo>
                  <a:pt x="0" y="0"/>
                </a:lnTo>
                <a:lnTo>
                  <a:pt x="15494000" y="0"/>
                </a:lnTo>
                <a:lnTo>
                  <a:pt x="15494000" y="622300"/>
                </a:lnTo>
                <a:close/>
              </a:path>
            </a:pathLst>
          </a:custGeom>
          <a:solidFill>
            <a:srgbClr val="0A1C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4849" y="437444"/>
            <a:ext cx="15523210" cy="8724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50" spc="-310"/>
              <a:t>Solution</a:t>
            </a:r>
            <a:r>
              <a:rPr dirty="0" sz="5550" spc="-180"/>
              <a:t> </a:t>
            </a:r>
            <a:r>
              <a:rPr dirty="0" sz="5550" spc="-275"/>
              <a:t>Architecture:</a:t>
            </a:r>
            <a:r>
              <a:rPr dirty="0" sz="5550" spc="-225"/>
              <a:t> </a:t>
            </a:r>
            <a:r>
              <a:rPr dirty="0" sz="5550" spc="-425"/>
              <a:t>A</a:t>
            </a:r>
            <a:r>
              <a:rPr dirty="0" sz="5550" spc="-250"/>
              <a:t> </a:t>
            </a:r>
            <a:r>
              <a:rPr dirty="0" sz="5550" spc="-350"/>
              <a:t>Three-</a:t>
            </a:r>
            <a:r>
              <a:rPr dirty="0" sz="5550" spc="-345"/>
              <a:t>Phase</a:t>
            </a:r>
            <a:r>
              <a:rPr dirty="0" sz="5550" spc="-500"/>
              <a:t> </a:t>
            </a:r>
            <a:r>
              <a:rPr dirty="0" sz="5550" spc="-275"/>
              <a:t>ML</a:t>
            </a:r>
            <a:r>
              <a:rPr dirty="0" sz="5550" spc="-265"/>
              <a:t> </a:t>
            </a:r>
            <a:r>
              <a:rPr dirty="0" sz="5550" spc="-375"/>
              <a:t>Approach</a:t>
            </a:r>
            <a:endParaRPr sz="5550"/>
          </a:p>
        </p:txBody>
      </p:sp>
      <p:grpSp>
        <p:nvGrpSpPr>
          <p:cNvPr id="5" name="object 5" descr=""/>
          <p:cNvGrpSpPr/>
          <p:nvPr/>
        </p:nvGrpSpPr>
        <p:grpSpPr>
          <a:xfrm>
            <a:off x="12700" y="2870200"/>
            <a:ext cx="17462500" cy="114300"/>
            <a:chOff x="12700" y="2870200"/>
            <a:chExt cx="17462500" cy="11430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74300" y="2870200"/>
              <a:ext cx="2311400" cy="11430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0100" y="2870200"/>
              <a:ext cx="2311400" cy="1143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00" y="2870200"/>
              <a:ext cx="17462500" cy="114300"/>
            </a:xfrm>
            <a:prstGeom prst="rect">
              <a:avLst/>
            </a:prstGeom>
          </p:spPr>
        </p:pic>
      </p:grp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12700" y="3606800"/>
          <a:ext cx="17526000" cy="1104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7815"/>
                <a:gridCol w="1563369"/>
                <a:gridCol w="3428365"/>
                <a:gridCol w="1482090"/>
                <a:gridCol w="5598159"/>
              </a:tblGrid>
              <a:tr h="709930">
                <a:tc>
                  <a:txBody>
                    <a:bodyPr/>
                    <a:lstStyle/>
                    <a:p>
                      <a:pPr marL="3345179">
                        <a:lnSpc>
                          <a:spcPts val="2225"/>
                        </a:lnSpc>
                      </a:pPr>
                      <a:r>
                        <a:rPr dirty="0" sz="2750" spc="-2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Phase1:</a:t>
                      </a:r>
                      <a:endParaRPr sz="2750">
                        <a:latin typeface="Lucida Sans Unicode"/>
                        <a:cs typeface="Lucida Sans Unicode"/>
                      </a:endParaRPr>
                    </a:p>
                    <a:p>
                      <a:pPr marL="3435350">
                        <a:lnSpc>
                          <a:spcPts val="2995"/>
                        </a:lnSpc>
                      </a:pPr>
                      <a:r>
                        <a:rPr dirty="0" sz="26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Patient</a:t>
                      </a:r>
                      <a:endParaRPr sz="26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A1A3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7470"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r>
                        <a:rPr dirty="0" sz="2700" spc="-50">
                          <a:solidFill>
                            <a:srgbClr val="CDCDCD"/>
                          </a:solidFill>
                          <a:latin typeface="Lucida Sans Unicode"/>
                          <a:cs typeface="Lucida Sans Unicode"/>
                        </a:rPr>
                        <a:t>“</a:t>
                      </a:r>
                      <a:endParaRPr sz="2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5400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A1A3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6525">
                        <a:lnSpc>
                          <a:spcPts val="2155"/>
                        </a:lnSpc>
                      </a:pPr>
                      <a:r>
                        <a:rPr dirty="0" sz="2550" spc="-7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Phase</a:t>
                      </a:r>
                      <a:r>
                        <a:rPr dirty="0" sz="2550" spc="-33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550" spc="-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2:</a:t>
                      </a:r>
                      <a:endParaRPr sz="2550">
                        <a:latin typeface="Lucida Sans Unicode"/>
                        <a:cs typeface="Lucida Sans Unicode"/>
                      </a:endParaRPr>
                    </a:p>
                    <a:p>
                      <a:pPr algn="ctr" marL="98425">
                        <a:lnSpc>
                          <a:spcPts val="3085"/>
                        </a:lnSpc>
                      </a:pPr>
                      <a:r>
                        <a:rPr dirty="0" sz="2700" spc="-204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HCP</a:t>
                      </a:r>
                      <a:r>
                        <a:rPr dirty="0" sz="2700" spc="-2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700" spc="-1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Behavioral</a:t>
                      </a:r>
                      <a:endParaRPr sz="2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A1A3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00025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dirty="0" sz="2500" spc="-50">
                          <a:solidFill>
                            <a:srgbClr val="C4C4C4"/>
                          </a:solidFill>
                          <a:latin typeface="Lucida Sans Unicode"/>
                          <a:cs typeface="Lucida Sans Unicode"/>
                        </a:rPr>
                        <a:t>“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9210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A1A31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2294890">
                        <a:lnSpc>
                          <a:spcPts val="2310"/>
                        </a:lnSpc>
                      </a:pPr>
                      <a:r>
                        <a:rPr dirty="0" sz="2600" spc="-1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Phase</a:t>
                      </a:r>
                      <a:r>
                        <a:rPr dirty="0" sz="2600" spc="-36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600" spc="-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3:</a:t>
                      </a:r>
                      <a:endParaRPr sz="2600">
                        <a:latin typeface="Lucida Sans Unicode"/>
                        <a:cs typeface="Lucida Sans Unicode"/>
                      </a:endParaRPr>
                    </a:p>
                    <a:p>
                      <a:pPr algn="ctr" marR="2329180">
                        <a:lnSpc>
                          <a:spcPts val="2990"/>
                        </a:lnSpc>
                      </a:pPr>
                      <a:r>
                        <a:rPr dirty="0" sz="2500" spc="-6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Opportunity</a:t>
                      </a:r>
                      <a:endParaRPr sz="25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A1A31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3231515">
                        <a:lnSpc>
                          <a:spcPts val="2640"/>
                        </a:lnSpc>
                      </a:pPr>
                      <a:r>
                        <a:rPr dirty="0" sz="2700" spc="-1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Discovery</a:t>
                      </a:r>
                      <a:endParaRPr sz="2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A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A1C34"/>
                    </a:solidFill>
                  </a:tcPr>
                </a:tc>
                <a:tc>
                  <a:txBody>
                    <a:bodyPr/>
                    <a:lstStyle/>
                    <a:p>
                      <a:pPr marL="788035">
                        <a:lnSpc>
                          <a:spcPts val="2670"/>
                        </a:lnSpc>
                      </a:pPr>
                      <a:r>
                        <a:rPr dirty="0" sz="2850" spc="-33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Segmentation</a:t>
                      </a:r>
                      <a:endParaRPr sz="28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A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A1C34"/>
                    </a:solidFill>
                  </a:tcPr>
                </a:tc>
                <a:tc>
                  <a:txBody>
                    <a:bodyPr/>
                    <a:lstStyle/>
                    <a:p>
                      <a:pPr marL="919480">
                        <a:lnSpc>
                          <a:spcPts val="2610"/>
                        </a:lnSpc>
                      </a:pPr>
                      <a:r>
                        <a:rPr dirty="0" sz="2550" spc="-2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Prediction</a:t>
                      </a:r>
                      <a:endParaRPr sz="25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0A1C34"/>
                    </a:solidFill>
                  </a:tcPr>
                </a:tc>
              </a:tr>
            </a:tbl>
          </a:graphicData>
        </a:graphic>
      </p:graphicFrame>
      <p:grpSp>
        <p:nvGrpSpPr>
          <p:cNvPr id="10" name="object 10" descr=""/>
          <p:cNvGrpSpPr/>
          <p:nvPr/>
        </p:nvGrpSpPr>
        <p:grpSpPr>
          <a:xfrm>
            <a:off x="12700" y="5918200"/>
            <a:ext cx="17462500" cy="88900"/>
            <a:chOff x="12700" y="5918200"/>
            <a:chExt cx="17462500" cy="88900"/>
          </a:xfrm>
        </p:grpSpPr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00" y="5918200"/>
              <a:ext cx="17462500" cy="889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00" y="5918200"/>
              <a:ext cx="17462500" cy="88900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12700" y="6477000"/>
            <a:ext cx="17449800" cy="266700"/>
          </a:xfrm>
          <a:custGeom>
            <a:avLst/>
            <a:gdLst/>
            <a:ahLst/>
            <a:cxnLst/>
            <a:rect l="l" t="t" r="r" b="b"/>
            <a:pathLst>
              <a:path w="17449800" h="266700">
                <a:moveTo>
                  <a:pt x="17449800" y="266700"/>
                </a:moveTo>
                <a:lnTo>
                  <a:pt x="0" y="2667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66700"/>
                </a:lnTo>
                <a:close/>
              </a:path>
            </a:pathLst>
          </a:custGeom>
          <a:solidFill>
            <a:srgbClr val="0A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105672" y="6367638"/>
            <a:ext cx="372237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250">
                <a:solidFill>
                  <a:srgbClr val="FFFFFF"/>
                </a:solidFill>
                <a:latin typeface="Lucida Sans Unicode"/>
                <a:cs typeface="Lucida Sans Unicode"/>
              </a:rPr>
              <a:t>Quantify</a:t>
            </a:r>
            <a:r>
              <a:rPr dirty="0" sz="2350" spc="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20">
                <a:solidFill>
                  <a:srgbClr val="FFFFFF"/>
                </a:solidFill>
                <a:latin typeface="Lucida Sans Unicode"/>
                <a:cs typeface="Lucida Sans Unicode"/>
              </a:rPr>
              <a:t>addressable</a:t>
            </a:r>
            <a:r>
              <a:rPr dirty="0" sz="2350" spc="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95">
                <a:solidFill>
                  <a:srgbClr val="FFFFFF"/>
                </a:solidFill>
                <a:latin typeface="Lucida Sans Unicode"/>
                <a:cs typeface="Lucida Sans Unicode"/>
              </a:rPr>
              <a:t>universe.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238900" y="6394097"/>
            <a:ext cx="299466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131060" algn="l"/>
              </a:tabLst>
            </a:pPr>
            <a:r>
              <a:rPr dirty="0" sz="2150" spc="-120">
                <a:solidFill>
                  <a:srgbClr val="FFFFFF"/>
                </a:solidFill>
                <a:latin typeface="Lucida Sans Unicode"/>
                <a:cs typeface="Lucida Sans Unicode"/>
              </a:rPr>
              <a:t>Build</a:t>
            </a:r>
            <a:r>
              <a:rPr dirty="0" sz="21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0" i="1">
                <a:solidFill>
                  <a:srgbClr val="FFFFFF"/>
                </a:solidFill>
                <a:latin typeface="Arial"/>
                <a:cs typeface="Arial"/>
              </a:rPr>
              <a:t>cOm</a:t>
            </a:r>
            <a:r>
              <a:rPr dirty="0" sz="2150" spc="-10">
                <a:solidFill>
                  <a:srgbClr val="010F1F"/>
                </a:solidFill>
                <a:latin typeface="Lucida Sans Unicode"/>
                <a:cs typeface="Lucida Sans Unicode"/>
              </a:rPr>
              <a:t>m</a:t>
            </a:r>
            <a:r>
              <a:rPr dirty="0" sz="2150" spc="-10" i="1">
                <a:solidFill>
                  <a:srgbClr val="FFFFFF"/>
                </a:solidFill>
                <a:latin typeface="Arial"/>
                <a:cs typeface="Arial"/>
              </a:rPr>
              <a:t>erci</a:t>
            </a:r>
            <a:r>
              <a:rPr dirty="0" sz="2150" i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150" spc="-90">
                <a:solidFill>
                  <a:srgbClr val="FFFFFF"/>
                </a:solidFill>
                <a:latin typeface="Lucida Sans Unicode"/>
                <a:cs typeface="Lucida Sans Unicode"/>
              </a:rPr>
              <a:t>view</a:t>
            </a:r>
            <a:r>
              <a:rPr dirty="0" sz="2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1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858824" y="6358819"/>
            <a:ext cx="3303904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254">
                <a:solidFill>
                  <a:srgbClr val="FFFFFF"/>
                </a:solidFill>
                <a:latin typeface="Lucida Sans Unicode"/>
                <a:cs typeface="Lucida Sans Unicode"/>
              </a:rPr>
              <a:t>Connect</a:t>
            </a:r>
            <a:r>
              <a:rPr dirty="0" sz="24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305">
                <a:solidFill>
                  <a:srgbClr val="FFFFFF"/>
                </a:solidFill>
                <a:latin typeface="Lucida Sans Unicode"/>
                <a:cs typeface="Lucida Sans Unicode"/>
              </a:rPr>
              <a:t>demand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9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4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95">
                <a:solidFill>
                  <a:srgbClr val="FFFFFF"/>
                </a:solidFill>
                <a:latin typeface="Lucida Sans Unicode"/>
                <a:cs typeface="Lucida Sans Unicode"/>
              </a:rPr>
              <a:t>supply.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2700" y="6807200"/>
            <a:ext cx="17449800" cy="279400"/>
          </a:xfrm>
          <a:custGeom>
            <a:avLst/>
            <a:gdLst/>
            <a:ahLst/>
            <a:cxnLst/>
            <a:rect l="l" t="t" r="r" b="b"/>
            <a:pathLst>
              <a:path w="17449800" h="279400">
                <a:moveTo>
                  <a:pt x="174498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79400"/>
                </a:lnTo>
                <a:close/>
              </a:path>
            </a:pathLst>
          </a:custGeom>
          <a:solidFill>
            <a:srgbClr val="0A1C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510105" y="6706658"/>
            <a:ext cx="293751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300" spc="-100">
                <a:solidFill>
                  <a:srgbClr val="FFFFFF"/>
                </a:solidFill>
                <a:latin typeface="Cambria"/>
                <a:cs typeface="Cambria"/>
              </a:rPr>
              <a:t>Ident</a:t>
            </a:r>
            <a:r>
              <a:rPr dirty="0" sz="2300" spc="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300">
                <a:solidFill>
                  <a:srgbClr val="F9F9F9"/>
                </a:solidFill>
                <a:latin typeface="Cambria"/>
                <a:cs typeface="Cambria"/>
              </a:rPr>
              <a:t>fy</a:t>
            </a:r>
            <a:r>
              <a:rPr dirty="0" sz="2300" spc="100">
                <a:solidFill>
                  <a:srgbClr val="F9F9F9"/>
                </a:solidFill>
                <a:latin typeface="Cambria"/>
                <a:cs typeface="Cambria"/>
              </a:rPr>
              <a:t> </a:t>
            </a:r>
            <a:r>
              <a:rPr dirty="0" sz="2300" spc="-65">
                <a:solidFill>
                  <a:srgbClr val="FFFFFF"/>
                </a:solidFill>
                <a:latin typeface="Cambria"/>
                <a:cs typeface="Cambria"/>
              </a:rPr>
              <a:t>high-</a:t>
            </a:r>
            <a:r>
              <a:rPr dirty="0" sz="2300" spc="-40">
                <a:solidFill>
                  <a:srgbClr val="FFFFFF"/>
                </a:solidFill>
                <a:latin typeface="Cambria"/>
                <a:cs typeface="Cambria"/>
              </a:rPr>
              <a:t>conversion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481394" y="6701719"/>
            <a:ext cx="249174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60">
                <a:solidFill>
                  <a:srgbClr val="FFFFFF"/>
                </a:solidFill>
                <a:latin typeface="Cambria"/>
                <a:cs typeface="Cambria"/>
              </a:rPr>
              <a:t>400,000</a:t>
            </a:r>
            <a:r>
              <a:rPr dirty="0" sz="2400" spc="-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-110">
                <a:solidFill>
                  <a:srgbClr val="FFFFFF"/>
                </a:solidFill>
                <a:latin typeface="Cambria"/>
                <a:cs typeface="Cambria"/>
              </a:rPr>
              <a:t>prescribers.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1964122" y="6745816"/>
            <a:ext cx="312420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050" spc="-30">
                <a:solidFill>
                  <a:srgbClr val="FFFFFF"/>
                </a:solidFill>
                <a:latin typeface="Lucida Sans Unicode"/>
                <a:cs typeface="Lucida Sans Unicode"/>
              </a:rPr>
              <a:t>Produce</a:t>
            </a:r>
            <a:r>
              <a:rPr dirty="0" sz="2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45">
                <a:solidFill>
                  <a:srgbClr val="FFFFFF"/>
                </a:solidFill>
                <a:latin typeface="Lucida Sans Unicode"/>
                <a:cs typeface="Lucida Sans Unicode"/>
              </a:rPr>
              <a:t>ranked </a:t>
            </a:r>
            <a:r>
              <a:rPr dirty="0" sz="2050" spc="-70">
                <a:solidFill>
                  <a:srgbClr val="FFFFFF"/>
                </a:solidFill>
                <a:latin typeface="Lucida Sans Unicode"/>
                <a:cs typeface="Lucida Sans Unicode"/>
              </a:rPr>
              <a:t>target</a:t>
            </a:r>
            <a:r>
              <a:rPr dirty="0" sz="20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20">
                <a:solidFill>
                  <a:srgbClr val="FFFFFF"/>
                </a:solidFill>
                <a:latin typeface="Lucida Sans Unicode"/>
                <a:cs typeface="Lucida Sans Unicode"/>
              </a:rPr>
              <a:t>list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2700" y="7137400"/>
            <a:ext cx="17449800" cy="279400"/>
          </a:xfrm>
          <a:custGeom>
            <a:avLst/>
            <a:gdLst/>
            <a:ahLst/>
            <a:cxnLst/>
            <a:rect l="l" t="t" r="r" b="b"/>
            <a:pathLst>
              <a:path w="17449800" h="279400">
                <a:moveTo>
                  <a:pt x="174498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79400"/>
                </a:lnTo>
                <a:close/>
              </a:path>
            </a:pathLst>
          </a:custGeom>
          <a:solidFill>
            <a:srgbClr val="0A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2751608" y="7031919"/>
            <a:ext cx="243649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335">
                <a:solidFill>
                  <a:srgbClr val="FFFFFF"/>
                </a:solidFill>
                <a:latin typeface="Lucida Sans Unicode"/>
                <a:cs typeface="Lucida Sans Unicode"/>
              </a:rPr>
              <a:t>moments</a:t>
            </a:r>
            <a:r>
              <a:rPr dirty="0" sz="2400" spc="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80">
                <a:solidFill>
                  <a:srgbClr val="FFFFFF"/>
                </a:solidFill>
                <a:latin typeface="Lucida Sans Unicode"/>
                <a:cs typeface="Lucida Sans Unicode"/>
              </a:rPr>
              <a:t>(BMI</a:t>
            </a:r>
            <a:r>
              <a:rPr dirty="0" sz="24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›</a:t>
            </a:r>
            <a:r>
              <a:rPr dirty="0" sz="2400" spc="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300">
                <a:solidFill>
                  <a:srgbClr val="FFFFFF"/>
                </a:solidFill>
                <a:latin typeface="Lucida Sans Unicode"/>
                <a:cs typeface="Lucida Sans Unicode"/>
              </a:rPr>
              <a:t>30,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162700" y="7067197"/>
            <a:ext cx="313626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50" spc="-150">
                <a:solidFill>
                  <a:srgbClr val="FFFFFF"/>
                </a:solidFill>
                <a:latin typeface="Lucida Sans Unicode"/>
                <a:cs typeface="Lucida Sans Unicode"/>
              </a:rPr>
              <a:t>Distinguish</a:t>
            </a:r>
            <a:r>
              <a:rPr dirty="0" sz="215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90">
                <a:solidFill>
                  <a:srgbClr val="FFFFFF"/>
                </a:solidFill>
                <a:latin typeface="Lucida Sans Unicode"/>
                <a:cs typeface="Lucida Sans Unicode"/>
              </a:rPr>
              <a:t>early</a:t>
            </a:r>
            <a:r>
              <a:rPr dirty="0" sz="2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30">
                <a:solidFill>
                  <a:srgbClr val="FFFFFF"/>
                </a:solidFill>
                <a:latin typeface="Lucida Sans Unicode"/>
                <a:cs typeface="Lucida Sans Unicode"/>
              </a:rPr>
              <a:t>adOpters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2012441" y="7040739"/>
            <a:ext cx="299974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636270" algn="l"/>
              </a:tabLst>
            </a:pPr>
            <a:r>
              <a:rPr dirty="0" sz="2350" spc="-2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350" spc="-270">
                <a:solidFill>
                  <a:srgbClr val="FFFFFF"/>
                </a:solidFill>
                <a:latin typeface="Lucida Sans Unicode"/>
                <a:cs typeface="Lucida Sans Unicode"/>
              </a:rPr>
              <a:t>Why</a:t>
            </a:r>
            <a:r>
              <a:rPr dirty="0" sz="23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70">
                <a:solidFill>
                  <a:srgbClr val="FFFFFF"/>
                </a:solidFill>
                <a:latin typeface="Lucida Sans Unicode"/>
                <a:cs typeface="Lucida Sans Unicode"/>
              </a:rPr>
              <a:t>Now</a:t>
            </a:r>
            <a:r>
              <a:rPr dirty="0" sz="235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04">
                <a:solidFill>
                  <a:srgbClr val="FFFFFF"/>
                </a:solidFill>
                <a:latin typeface="Lucida Sans Unicode"/>
                <a:cs typeface="Lucida Sans Unicode"/>
              </a:rPr>
              <a:t>rationale.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2700" y="7480300"/>
            <a:ext cx="17449800" cy="279400"/>
          </a:xfrm>
          <a:custGeom>
            <a:avLst/>
            <a:gdLst/>
            <a:ahLst/>
            <a:cxnLst/>
            <a:rect l="l" t="t" r="r" b="b"/>
            <a:pathLst>
              <a:path w="17449800" h="279400">
                <a:moveTo>
                  <a:pt x="174498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79400"/>
                </a:lnTo>
                <a:close/>
              </a:path>
            </a:pathLst>
          </a:custGeom>
          <a:solidFill>
            <a:srgbClr val="081A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486605" y="7379758"/>
            <a:ext cx="2982595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300" spc="-215">
                <a:solidFill>
                  <a:srgbClr val="FFFFFF"/>
                </a:solidFill>
                <a:latin typeface="Lucida Sans Unicode"/>
                <a:cs typeface="Lucida Sans Unicode"/>
              </a:rPr>
              <a:t>metabolic</a:t>
            </a:r>
            <a:r>
              <a:rPr dirty="0" sz="230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60">
                <a:solidFill>
                  <a:srgbClr val="FFFFFF"/>
                </a:solidFill>
                <a:latin typeface="Lucida Sans Unicode"/>
                <a:cs typeface="Lucida Sans Unicode"/>
              </a:rPr>
              <a:t>deterioration).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876364" y="7406216"/>
            <a:ext cx="172783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050" spc="-135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20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55">
                <a:solidFill>
                  <a:srgbClr val="FFFFFF"/>
                </a:solidFill>
                <a:latin typeface="Lucida Sans Unicode"/>
                <a:cs typeface="Lucida Sans Unicode"/>
              </a:rPr>
              <a:t>laggards.</a:t>
            </a:r>
            <a:endParaRPr sz="2050">
              <a:latin typeface="Lucida Sans Unicode"/>
              <a:cs typeface="Lucida Sans Unicode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2700" y="7924800"/>
            <a:ext cx="17449800" cy="1219200"/>
            <a:chOff x="12700" y="7924800"/>
            <a:chExt cx="17449800" cy="1219200"/>
          </a:xfrm>
        </p:grpSpPr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00800" y="7937500"/>
              <a:ext cx="8864600" cy="120650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2700" y="7924800"/>
              <a:ext cx="17449800" cy="1219200"/>
            </a:xfrm>
            <a:custGeom>
              <a:avLst/>
              <a:gdLst/>
              <a:ahLst/>
              <a:cxnLst/>
              <a:rect l="l" t="t" r="r" b="b"/>
              <a:pathLst>
                <a:path w="17449800" h="1219200">
                  <a:moveTo>
                    <a:pt x="17449800" y="1219200"/>
                  </a:moveTo>
                  <a:lnTo>
                    <a:pt x="0" y="12192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1219200"/>
                  </a:lnTo>
                  <a:close/>
                </a:path>
              </a:pathLst>
            </a:custGeom>
            <a:solidFill>
              <a:srgbClr val="0A1C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405350" y="8274402"/>
            <a:ext cx="462407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290">
                <a:solidFill>
                  <a:srgbClr val="FFFFFF"/>
                </a:solidFill>
                <a:latin typeface="Lucida Sans Unicode"/>
                <a:cs typeface="Lucida Sans Unicode"/>
              </a:rPr>
              <a:t>Increasing</a:t>
            </a:r>
            <a:r>
              <a:rPr dirty="0" sz="2850" spc="-2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290">
                <a:solidFill>
                  <a:srgbClr val="FFFFFF"/>
                </a:solidFill>
                <a:latin typeface="Lucida Sans Unicode"/>
                <a:cs typeface="Lucida Sans Unicode"/>
              </a:rPr>
              <a:t>Revenue</a:t>
            </a:r>
            <a:r>
              <a:rPr dirty="0" sz="28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300">
                <a:solidFill>
                  <a:srgbClr val="FFFFFF"/>
                </a:solidFill>
                <a:latin typeface="Lucida Sans Unicode"/>
                <a:cs typeface="Lucida Sans Unicode"/>
              </a:rPr>
              <a:t>Acceleration</a:t>
            </a:r>
            <a:endParaRPr sz="2850">
              <a:latin typeface="Lucida Sans Unicode"/>
              <a:cs typeface="Lucida Sans Unicode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5219700"/>
            <a:ext cx="17462500" cy="1295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660400"/>
            <a:ext cx="17462500" cy="6477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2700" y="1587500"/>
            <a:ext cx="17449800" cy="419100"/>
          </a:xfrm>
          <a:custGeom>
            <a:avLst/>
            <a:gdLst/>
            <a:ahLst/>
            <a:cxnLst/>
            <a:rect l="l" t="t" r="r" b="b"/>
            <a:pathLst>
              <a:path w="17449800" h="419100">
                <a:moveTo>
                  <a:pt x="17449800" y="419100"/>
                </a:moveTo>
                <a:lnTo>
                  <a:pt x="0" y="419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19100"/>
                </a:lnTo>
                <a:close/>
              </a:path>
            </a:pathLst>
          </a:custGeom>
          <a:solidFill>
            <a:srgbClr val="0E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5506" y="1433688"/>
            <a:ext cx="7510145" cy="5759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 spc="-320"/>
              <a:t>Simulating</a:t>
            </a:r>
            <a:r>
              <a:rPr dirty="0" sz="3600" spc="40"/>
              <a:t> </a:t>
            </a:r>
            <a:r>
              <a:rPr dirty="0" sz="3600" spc="-280"/>
              <a:t>history</a:t>
            </a:r>
            <a:r>
              <a:rPr dirty="0" sz="3600" spc="80"/>
              <a:t> </a:t>
            </a:r>
            <a:r>
              <a:rPr dirty="0" sz="3600" spc="-290"/>
              <a:t>to</a:t>
            </a:r>
            <a:r>
              <a:rPr dirty="0" sz="3600" spc="-250"/>
              <a:t> </a:t>
            </a:r>
            <a:r>
              <a:rPr dirty="0" sz="3600" spc="-270"/>
              <a:t>predict</a:t>
            </a:r>
            <a:r>
              <a:rPr dirty="0" sz="3600" spc="60"/>
              <a:t> </a:t>
            </a:r>
            <a:r>
              <a:rPr dirty="0" sz="3600" spc="-235"/>
              <a:t>the</a:t>
            </a:r>
            <a:r>
              <a:rPr dirty="0" sz="3600" spc="-380"/>
              <a:t> </a:t>
            </a:r>
            <a:r>
              <a:rPr dirty="0" sz="3600" spc="-285"/>
              <a:t>future.</a:t>
            </a:r>
            <a:endParaRPr sz="3600"/>
          </a:p>
        </p:txBody>
      </p:sp>
      <p:sp>
        <p:nvSpPr>
          <p:cNvPr id="6" name="object 6" descr=""/>
          <p:cNvSpPr/>
          <p:nvPr/>
        </p:nvSpPr>
        <p:spPr>
          <a:xfrm>
            <a:off x="12700" y="2755900"/>
            <a:ext cx="17449800" cy="241300"/>
          </a:xfrm>
          <a:custGeom>
            <a:avLst/>
            <a:gdLst/>
            <a:ahLst/>
            <a:cxnLst/>
            <a:rect l="l" t="t" r="r" b="b"/>
            <a:pathLst>
              <a:path w="17449800" h="241300">
                <a:moveTo>
                  <a:pt x="17449800" y="241300"/>
                </a:moveTo>
                <a:lnTo>
                  <a:pt x="0" y="2413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41300"/>
                </a:lnTo>
                <a:close/>
              </a:path>
            </a:pathLst>
          </a:custGeom>
          <a:solidFill>
            <a:srgbClr val="0F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372333" y="2671938"/>
            <a:ext cx="126047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50">
                <a:solidFill>
                  <a:srgbClr val="FFFFFF"/>
                </a:solidFill>
                <a:latin typeface="Lucida Sans Unicode"/>
                <a:cs typeface="Lucida Sans Unicode"/>
              </a:rPr>
              <a:t>Model</a:t>
            </a:r>
            <a:r>
              <a:rPr dirty="0" sz="2350" spc="-4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5">
                <a:solidFill>
                  <a:srgbClr val="FFFFFF"/>
                </a:solidFill>
                <a:latin typeface="Lucida Sans Unicode"/>
                <a:cs typeface="Lucida Sans Unicode"/>
              </a:rPr>
              <a:t>1: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04488" y="2654300"/>
            <a:ext cx="13049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40">
                <a:solidFill>
                  <a:srgbClr val="FFFFFF"/>
                </a:solidFill>
                <a:latin typeface="Lucida Sans Unicode"/>
                <a:cs typeface="Lucida Sans Unicode"/>
              </a:rPr>
              <a:t>Model</a:t>
            </a:r>
            <a:r>
              <a:rPr dirty="0" sz="2500" spc="-2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5">
                <a:solidFill>
                  <a:srgbClr val="FFFFFF"/>
                </a:solidFill>
                <a:latin typeface="Lucida Sans Unicode"/>
                <a:cs typeface="Lucida Sans Unicode"/>
              </a:rPr>
              <a:t>2: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825587" y="2654300"/>
            <a:ext cx="12706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5">
                <a:solidFill>
                  <a:srgbClr val="FFFFFF"/>
                </a:solidFill>
                <a:latin typeface="Lucida Sans Unicode"/>
                <a:cs typeface="Lucida Sans Unicode"/>
              </a:rPr>
              <a:t>Model</a:t>
            </a:r>
            <a:r>
              <a:rPr dirty="0" sz="2500" spc="-2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75" i="1">
                <a:solidFill>
                  <a:srgbClr val="FFFFFF"/>
                </a:solidFill>
                <a:latin typeface="Arial"/>
                <a:cs typeface="Arial"/>
              </a:rPr>
              <a:t>S:</a:t>
            </a:r>
            <a:endParaRPr sz="25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2700" y="3098800"/>
            <a:ext cx="17449800" cy="317500"/>
          </a:xfrm>
          <a:custGeom>
            <a:avLst/>
            <a:gdLst/>
            <a:ahLst/>
            <a:cxnLst/>
            <a:rect l="l" t="t" r="r" b="b"/>
            <a:pathLst>
              <a:path w="17449800" h="317500">
                <a:moveTo>
                  <a:pt x="17449800" y="317500"/>
                </a:moveTo>
                <a:lnTo>
                  <a:pt x="0" y="3175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17500"/>
                </a:lnTo>
                <a:close/>
              </a:path>
            </a:pathLst>
          </a:custGeom>
          <a:solidFill>
            <a:srgbClr val="0E1F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699272" y="3027538"/>
            <a:ext cx="259143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Category</a:t>
            </a:r>
            <a:r>
              <a:rPr dirty="0" sz="23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35">
                <a:solidFill>
                  <a:srgbClr val="FFFFFF"/>
                </a:solidFill>
                <a:latin typeface="Lucida Sans Unicode"/>
                <a:cs typeface="Lucida Sans Unicode"/>
              </a:rPr>
              <a:t>Creation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19358" y="3027538"/>
            <a:ext cx="286067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Switching</a:t>
            </a:r>
            <a:r>
              <a:rPr dirty="0" sz="23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25">
                <a:solidFill>
                  <a:srgbClr val="FFFFFF"/>
                </a:solidFill>
                <a:latin typeface="Lucida Sans Unicode"/>
                <a:cs typeface="Lucida Sans Unicode"/>
              </a:rPr>
              <a:t>Dynamics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735865" y="3001080"/>
            <a:ext cx="145669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175">
                <a:solidFill>
                  <a:srgbClr val="FFFFFF"/>
                </a:solidFill>
                <a:latin typeface="Lucida Sans Unicode"/>
                <a:cs typeface="Lucida Sans Unicode"/>
              </a:rPr>
              <a:t>Disruption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2700" y="4559300"/>
            <a:ext cx="17449800" cy="292100"/>
          </a:xfrm>
          <a:custGeom>
            <a:avLst/>
            <a:gdLst/>
            <a:ahLst/>
            <a:cxnLst/>
            <a:rect l="l" t="t" r="r" b="b"/>
            <a:pathLst>
              <a:path w="17449800" h="292100">
                <a:moveTo>
                  <a:pt x="17449800" y="292100"/>
                </a:moveTo>
                <a:lnTo>
                  <a:pt x="0" y="292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92100"/>
                </a:lnTo>
                <a:close/>
              </a:path>
            </a:pathLst>
          </a:custGeom>
          <a:solidFill>
            <a:srgbClr val="0E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534712" y="4475338"/>
            <a:ext cx="235966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150">
                <a:solidFill>
                  <a:srgbClr val="C4C4C4"/>
                </a:solidFill>
                <a:latin typeface="Lucida Sans Unicode"/>
                <a:cs typeface="Lucida Sans Unicode"/>
              </a:rPr>
              <a:t>Analog:</a:t>
            </a:r>
            <a:r>
              <a:rPr dirty="0" sz="2350" spc="-65">
                <a:solidFill>
                  <a:srgbClr val="C4C4C4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75">
                <a:solidFill>
                  <a:srgbClr val="FFFFFF"/>
                </a:solidFill>
                <a:latin typeface="Lucida Sans Unicode"/>
                <a:cs typeface="Lucida Sans Unicode"/>
              </a:rPr>
              <a:t>Zepbound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179538" y="4466519"/>
            <a:ext cx="260921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175">
                <a:solidFill>
                  <a:srgbClr val="CACACA"/>
                </a:solidFill>
                <a:latin typeface="Lucida Sans Unicode"/>
                <a:cs typeface="Lucida Sans Unicode"/>
              </a:rPr>
              <a:t>Analog:</a:t>
            </a:r>
            <a:r>
              <a:rPr dirty="0" sz="2400" spc="-70">
                <a:solidFill>
                  <a:srgbClr val="CACACA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10">
                <a:solidFill>
                  <a:srgbClr val="FFFFFF"/>
                </a:solidFill>
                <a:latin typeface="Lucida Sans Unicode"/>
                <a:cs typeface="Lucida Sans Unicode"/>
              </a:rPr>
              <a:t>Orforglipron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2700" y="4889500"/>
            <a:ext cx="17449800" cy="304800"/>
          </a:xfrm>
          <a:custGeom>
            <a:avLst/>
            <a:gdLst/>
            <a:ahLst/>
            <a:cxnLst/>
            <a:rect l="l" t="t" r="r" b="b"/>
            <a:pathLst>
              <a:path w="17449800" h="304800">
                <a:moveTo>
                  <a:pt x="17449800" y="304800"/>
                </a:moveTo>
                <a:lnTo>
                  <a:pt x="0" y="3048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04800"/>
                </a:lnTo>
                <a:close/>
              </a:path>
            </a:pathLst>
          </a:custGeom>
          <a:solidFill>
            <a:srgbClr val="0E1D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902511" y="4805538"/>
            <a:ext cx="208026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125">
                <a:solidFill>
                  <a:srgbClr val="DDDDDD"/>
                </a:solidFill>
                <a:latin typeface="Lucida Sans Unicode"/>
                <a:cs typeface="Lucida Sans Unicode"/>
              </a:rPr>
              <a:t>Analog:</a:t>
            </a:r>
            <a:r>
              <a:rPr dirty="0" sz="2350" spc="-30">
                <a:solidFill>
                  <a:srgbClr val="DDDDDD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55">
                <a:solidFill>
                  <a:srgbClr val="FFFFFF"/>
                </a:solidFill>
                <a:latin typeface="Lucida Sans Unicode"/>
                <a:cs typeface="Lucida Sans Unicode"/>
              </a:rPr>
              <a:t>Wegovy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065788" y="4805538"/>
            <a:ext cx="84201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155">
                <a:solidFill>
                  <a:srgbClr val="FFFFFF"/>
                </a:solidFill>
                <a:latin typeface="Lucida Sans Unicode"/>
                <a:cs typeface="Lucida Sans Unicode"/>
              </a:rPr>
              <a:t>(2026)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2700" y="6540500"/>
            <a:ext cx="17449800" cy="304800"/>
          </a:xfrm>
          <a:custGeom>
            <a:avLst/>
            <a:gdLst/>
            <a:ahLst/>
            <a:cxnLst/>
            <a:rect l="l" t="t" r="r" b="b"/>
            <a:pathLst>
              <a:path w="17449800" h="304800">
                <a:moveTo>
                  <a:pt x="17449800" y="304800"/>
                </a:moveTo>
                <a:lnTo>
                  <a:pt x="0" y="3048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04800"/>
                </a:lnTo>
                <a:close/>
              </a:path>
            </a:pathLst>
          </a:custGeom>
          <a:solidFill>
            <a:srgbClr val="0E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727150" y="6491816"/>
            <a:ext cx="243522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050" spc="-90">
                <a:solidFill>
                  <a:srgbClr val="FFFFFF"/>
                </a:solidFill>
                <a:latin typeface="Lucida Sans Unicode"/>
                <a:cs typeface="Lucida Sans Unicode"/>
              </a:rPr>
              <a:t>innOvation-</a:t>
            </a:r>
            <a:r>
              <a:rPr dirty="0" sz="2050" spc="-120">
                <a:solidFill>
                  <a:srgbClr val="FFFFFF"/>
                </a:solidFill>
                <a:latin typeface="Lucida Sans Unicode"/>
                <a:cs typeface="Lucida Sans Unicode"/>
              </a:rPr>
              <a:t>IO</a:t>
            </a:r>
            <a:r>
              <a:rPr dirty="0" sz="205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50" spc="-165">
                <a:solidFill>
                  <a:srgbClr val="FFFFFF"/>
                </a:solidFill>
                <a:latin typeface="Lucida Sans Unicode"/>
                <a:cs typeface="Lucida Sans Unicode"/>
              </a:rPr>
              <a:t>ŁWôFd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698910" y="6447719"/>
            <a:ext cx="2018664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HCPs</a:t>
            </a:r>
            <a:r>
              <a:rPr dirty="0" sz="2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04">
                <a:solidFill>
                  <a:srgbClr val="FFFFFF"/>
                </a:solidFill>
                <a:latin typeface="Lucida Sans Unicode"/>
                <a:cs typeface="Lucida Sans Unicode"/>
              </a:rPr>
              <a:t>migrating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358296" y="6465358"/>
            <a:ext cx="223901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300" spc="-105">
                <a:solidFill>
                  <a:srgbClr val="E2E2E2"/>
                </a:solidFill>
                <a:latin typeface="Lucida Sans Unicode"/>
                <a:cs typeface="Lucida Sans Unicode"/>
              </a:rPr>
              <a:t>Insight:</a:t>
            </a:r>
            <a:r>
              <a:rPr dirty="0" sz="2300" spc="-55">
                <a:solidFill>
                  <a:srgbClr val="E2E2E2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5">
                <a:solidFill>
                  <a:srgbClr val="FFFFFF"/>
                </a:solidFill>
                <a:latin typeface="Lucida Sans Unicode"/>
                <a:cs typeface="Lucida Sans Unicode"/>
              </a:rPr>
              <a:t>Identifies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2700" y="6870700"/>
            <a:ext cx="17449800" cy="304800"/>
          </a:xfrm>
          <a:custGeom>
            <a:avLst/>
            <a:gdLst/>
            <a:ahLst/>
            <a:cxnLst/>
            <a:rect l="l" t="t" r="r" b="b"/>
            <a:pathLst>
              <a:path w="17449800" h="304800">
                <a:moveTo>
                  <a:pt x="17449800" y="304800"/>
                </a:moveTo>
                <a:lnTo>
                  <a:pt x="0" y="3048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04800"/>
                </a:lnTo>
                <a:close/>
              </a:path>
            </a:pathLst>
          </a:custGeom>
          <a:solidFill>
            <a:srgbClr val="0F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2547665" y="6760280"/>
            <a:ext cx="80010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2550" spc="-190">
                <a:solidFill>
                  <a:srgbClr val="FFFFFF"/>
                </a:solidFill>
                <a:latin typeface="Lucida Sans Unicode"/>
                <a:cs typeface="Lucida Sans Unicode"/>
              </a:rPr>
              <a:t>HCPs.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558308" y="6777919"/>
            <a:ext cx="231457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180">
                <a:solidFill>
                  <a:srgbClr val="FFFFFF"/>
                </a:solidFill>
                <a:latin typeface="Lucida Sans Unicode"/>
                <a:cs typeface="Lucida Sans Unicode"/>
              </a:rPr>
              <a:t>patients</a:t>
            </a:r>
            <a:r>
              <a:rPr dirty="0" sz="24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2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4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50">
                <a:solidFill>
                  <a:srgbClr val="FFFFFF"/>
                </a:solidFill>
                <a:latin typeface="Lucida Sans Unicode"/>
                <a:cs typeface="Lucida Sans Unicode"/>
              </a:rPr>
              <a:t>better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344633" y="6786739"/>
            <a:ext cx="228219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55">
                <a:solidFill>
                  <a:srgbClr val="FFFFFF"/>
                </a:solidFill>
                <a:latin typeface="Lucida Sans Unicode"/>
                <a:cs typeface="Lucida Sans Unicode"/>
              </a:rPr>
              <a:t>HCPs</a:t>
            </a:r>
            <a:r>
              <a:rPr dirty="0" sz="235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25">
                <a:solidFill>
                  <a:srgbClr val="FFFFFF"/>
                </a:solidFill>
                <a:latin typeface="Lucida Sans Unicode"/>
                <a:cs typeface="Lucida Sans Unicode"/>
              </a:rPr>
              <a:t>sensitive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5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12700" y="7200900"/>
            <a:ext cx="17449800" cy="292100"/>
          </a:xfrm>
          <a:custGeom>
            <a:avLst/>
            <a:gdLst/>
            <a:ahLst/>
            <a:cxnLst/>
            <a:rect l="l" t="t" r="r" b="b"/>
            <a:pathLst>
              <a:path w="17449800" h="292100">
                <a:moveTo>
                  <a:pt x="17449800" y="292100"/>
                </a:moveTo>
                <a:lnTo>
                  <a:pt x="0" y="292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92100"/>
                </a:lnTo>
                <a:close/>
              </a:path>
            </a:pathLst>
          </a:custGeom>
          <a:solidFill>
            <a:srgbClr val="0E1F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028946" y="7116939"/>
            <a:ext cx="136017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140">
                <a:solidFill>
                  <a:srgbClr val="FFFFFF"/>
                </a:solidFill>
                <a:latin typeface="Lucida Sans Unicode"/>
                <a:cs typeface="Lucida Sans Unicode"/>
              </a:rPr>
              <a:t>outcomes.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407256" y="7116939"/>
            <a:ext cx="213931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160">
                <a:solidFill>
                  <a:srgbClr val="FFFFFF"/>
                </a:solidFill>
                <a:latin typeface="Lucida Sans Unicode"/>
                <a:cs typeface="Lucida Sans Unicode"/>
              </a:rPr>
              <a:t>injection</a:t>
            </a:r>
            <a:r>
              <a:rPr dirty="0" sz="235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35">
                <a:solidFill>
                  <a:srgbClr val="FFFFFF"/>
                </a:solidFill>
                <a:latin typeface="Lucida Sans Unicode"/>
                <a:cs typeface="Lucida Sans Unicode"/>
              </a:rPr>
              <a:t>fatigue.</a:t>
            </a:r>
            <a:endParaRPr sz="2350">
              <a:latin typeface="Lucida Sans Unicode"/>
              <a:cs typeface="Lucida Sans Unicode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41700" y="9499600"/>
              <a:ext cx="1193800" cy="12700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0600" y="2768600"/>
            <a:ext cx="5397500" cy="57023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927100"/>
            <a:ext cx="17462500" cy="8509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714316" y="4745566"/>
            <a:ext cx="0" cy="3649345"/>
          </a:xfrm>
          <a:custGeom>
            <a:avLst/>
            <a:gdLst/>
            <a:ahLst/>
            <a:cxnLst/>
            <a:rect l="l" t="t" r="r" b="b"/>
            <a:pathLst>
              <a:path w="0" h="3649345">
                <a:moveTo>
                  <a:pt x="0" y="3649133"/>
                </a:moveTo>
                <a:lnTo>
                  <a:pt x="0" y="0"/>
                </a:lnTo>
              </a:path>
            </a:pathLst>
          </a:custGeom>
          <a:ln w="4233">
            <a:solidFill>
              <a:srgbClr val="5B5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765116" y="4986866"/>
            <a:ext cx="0" cy="3433445"/>
          </a:xfrm>
          <a:custGeom>
            <a:avLst/>
            <a:gdLst/>
            <a:ahLst/>
            <a:cxnLst/>
            <a:rect l="l" t="t" r="r" b="b"/>
            <a:pathLst>
              <a:path w="0" h="3433445">
                <a:moveTo>
                  <a:pt x="0" y="3433233"/>
                </a:moveTo>
                <a:lnTo>
                  <a:pt x="0" y="0"/>
                </a:lnTo>
              </a:path>
            </a:pathLst>
          </a:custGeom>
          <a:ln w="4233">
            <a:solidFill>
              <a:srgbClr val="5B544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700" y="1981200"/>
            <a:ext cx="17449800" cy="330200"/>
          </a:xfrm>
          <a:custGeom>
            <a:avLst/>
            <a:gdLst/>
            <a:ahLst/>
            <a:cxnLst/>
            <a:rect l="l" t="t" r="r" b="b"/>
            <a:pathLst>
              <a:path w="17449800" h="330200">
                <a:moveTo>
                  <a:pt x="17449800" y="330200"/>
                </a:moveTo>
                <a:lnTo>
                  <a:pt x="0" y="3302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302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222678" y="1883480"/>
            <a:ext cx="501650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100">
                <a:solidFill>
                  <a:srgbClr val="FFFFFF"/>
                </a:solidFill>
                <a:latin typeface="Lucida Sans Unicode"/>
                <a:cs typeface="Lucida Sans Unicode"/>
              </a:rPr>
              <a:t>Why</a:t>
            </a:r>
            <a:r>
              <a:rPr dirty="0" sz="25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dirty="0" sz="25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6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5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00">
                <a:solidFill>
                  <a:srgbClr val="FFFFFF"/>
                </a:solidFill>
                <a:latin typeface="Lucida Sans Unicode"/>
                <a:cs typeface="Lucida Sans Unicode"/>
              </a:rPr>
              <a:t>source</a:t>
            </a:r>
            <a:r>
              <a:rPr dirty="0" sz="255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95">
                <a:solidFill>
                  <a:srgbClr val="FFFFFF"/>
                </a:solidFill>
                <a:latin typeface="Lucida Sans Unicode"/>
                <a:cs typeface="Lucida Sans Unicode"/>
              </a:rPr>
              <a:t>isn</a:t>
            </a:r>
            <a:r>
              <a:rPr dirty="0" sz="2550" spc="-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1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55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75">
                <a:solidFill>
                  <a:srgbClr val="FFFFFF"/>
                </a:solidFill>
                <a:latin typeface="Lucida Sans Unicode"/>
                <a:cs typeface="Lucida Sans Unicode"/>
              </a:rPr>
              <a:t>enOugh.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485900" y="2768600"/>
            <a:ext cx="3289300" cy="5689600"/>
          </a:xfrm>
          <a:custGeom>
            <a:avLst/>
            <a:gdLst/>
            <a:ahLst/>
            <a:cxnLst/>
            <a:rect l="l" t="t" r="r" b="b"/>
            <a:pathLst>
              <a:path w="3289300" h="5689600">
                <a:moveTo>
                  <a:pt x="3289300" y="5689600"/>
                </a:moveTo>
                <a:lnTo>
                  <a:pt x="0" y="5689600"/>
                </a:lnTo>
                <a:lnTo>
                  <a:pt x="0" y="0"/>
                </a:lnTo>
                <a:lnTo>
                  <a:pt x="3289300" y="0"/>
                </a:lnTo>
                <a:lnTo>
                  <a:pt x="3289300" y="56896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465336" y="3121025"/>
            <a:ext cx="3365500" cy="1647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2225">
              <a:lnSpc>
                <a:spcPts val="3610"/>
              </a:lnSpc>
              <a:spcBef>
                <a:spcPts val="125"/>
              </a:spcBef>
            </a:pPr>
            <a:r>
              <a:rPr dirty="0" sz="3100" spc="-85">
                <a:solidFill>
                  <a:srgbClr val="FFFFFF"/>
                </a:solidFill>
                <a:latin typeface="Cambria"/>
                <a:cs typeface="Cambria"/>
              </a:rPr>
              <a:t>IQVIA</a:t>
            </a:r>
            <a:r>
              <a:rPr dirty="0" sz="3100" spc="-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100" spc="-20">
                <a:solidFill>
                  <a:srgbClr val="FFFFFF"/>
                </a:solidFill>
                <a:latin typeface="Cambria"/>
                <a:cs typeface="Cambria"/>
              </a:rPr>
              <a:t>LAAD</a:t>
            </a:r>
            <a:endParaRPr sz="3100">
              <a:latin typeface="Cambria"/>
              <a:cs typeface="Cambria"/>
            </a:endParaRPr>
          </a:p>
          <a:p>
            <a:pPr marL="18415">
              <a:lnSpc>
                <a:spcPts val="2770"/>
              </a:lnSpc>
              <a:tabLst>
                <a:tab pos="709295" algn="l"/>
              </a:tabLst>
            </a:pPr>
            <a:r>
              <a:rPr dirty="0" sz="2400" spc="-245">
                <a:solidFill>
                  <a:srgbClr val="FFFFFF"/>
                </a:solidFill>
                <a:latin typeface="Cambria"/>
                <a:cs typeface="Cambria"/>
              </a:rPr>
              <a:t>(1</a:t>
            </a:r>
            <a:r>
              <a:rPr dirty="0" sz="2400" spc="-5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Cambria"/>
                <a:cs typeface="Cambria"/>
              </a:rPr>
              <a:t>hu</a:t>
            </a:r>
            <a:r>
              <a:rPr dirty="0" sz="24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2400" spc="-80">
                <a:solidFill>
                  <a:srgbClr val="FFFFFF"/>
                </a:solidFill>
                <a:latin typeface="Cambria"/>
                <a:cs typeface="Cambria"/>
              </a:rPr>
              <a:t>\cccss</a:t>
            </a:r>
            <a:r>
              <a:rPr dirty="0" sz="2400" spc="-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mbria"/>
                <a:cs typeface="Cambria"/>
              </a:rPr>
              <a:t>Layer)</a:t>
            </a:r>
            <a:endParaRPr sz="2400">
              <a:latin typeface="Cambria"/>
              <a:cs typeface="Cambria"/>
            </a:endParaRPr>
          </a:p>
          <a:p>
            <a:pPr marL="21590" marR="5080" indent="-9525">
              <a:lnSpc>
                <a:spcPct val="95600"/>
              </a:lnSpc>
              <a:spcBef>
                <a:spcPts val="509"/>
              </a:spcBef>
              <a:tabLst>
                <a:tab pos="1951989" algn="l"/>
              </a:tabLst>
            </a:pPr>
            <a:r>
              <a:rPr dirty="0" sz="1700" spc="-145">
                <a:solidFill>
                  <a:srgbClr val="FFFFFF"/>
                </a:solidFill>
                <a:latin typeface="Lucida Sans Unicode"/>
                <a:cs typeface="Lucida Sans Unicode"/>
              </a:rPr>
              <a:t>Mapping</a:t>
            </a:r>
            <a:r>
              <a:rPr dirty="0" sz="17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35">
                <a:solidFill>
                  <a:srgbClr val="FFFFFF"/>
                </a:solidFill>
                <a:latin typeface="Lucida Sans Unicode"/>
                <a:cs typeface="Lucida Sans Unicode"/>
              </a:rPr>
              <a:t>paket</a:t>
            </a:r>
            <a:r>
              <a:rPr dirty="0" sz="170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45">
                <a:solidFill>
                  <a:srgbClr val="FFFFFF"/>
                </a:solidFill>
                <a:latin typeface="Lucida Sans Unicode"/>
                <a:cs typeface="Lucida Sans Unicode"/>
              </a:rPr>
              <a:t>fric</a:t>
            </a:r>
            <a:r>
              <a:rPr dirty="0" sz="1700" spc="-2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90">
                <a:solidFill>
                  <a:srgbClr val="FFFFFF"/>
                </a:solidFill>
                <a:latin typeface="Lucida Sans Unicode"/>
                <a:cs typeface="Lucida Sans Unicode"/>
              </a:rPr>
              <a:t>tion</a:t>
            </a:r>
            <a:r>
              <a:rPr dirty="0" sz="17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5">
                <a:solidFill>
                  <a:srgbClr val="EFEFEF"/>
                </a:solidFill>
                <a:latin typeface="Lucida Sans Unicode"/>
                <a:cs typeface="Lucida Sans Unicode"/>
              </a:rPr>
              <a:t>and </a:t>
            </a:r>
            <a:r>
              <a:rPr dirty="0" sz="1700" spc="-165">
                <a:solidFill>
                  <a:srgbClr val="FFFFFF"/>
                </a:solidFill>
                <a:latin typeface="Lucida Sans Unicode"/>
                <a:cs typeface="Lucida Sans Unicode"/>
              </a:rPr>
              <a:t>abandonmen</a:t>
            </a:r>
            <a:r>
              <a:rPr dirty="0" sz="1700" spc="-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700">
                <a:solidFill>
                  <a:srgbClr val="071323"/>
                </a:solidFill>
                <a:latin typeface="Lucida Sans Unicode"/>
                <a:cs typeface="Lucida Sans Unicode"/>
              </a:rPr>
              <a:t>I</a:t>
            </a:r>
            <a:r>
              <a:rPr dirty="0" sz="1700" spc="60">
                <a:solidFill>
                  <a:srgbClr val="071323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Lucida Sans Unicode"/>
                <a:cs typeface="Lucida Sans Unicode"/>
              </a:rPr>
              <a:t>tates</a:t>
            </a:r>
            <a:r>
              <a:rPr dirty="0" sz="17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1700" spc="-140">
                <a:solidFill>
                  <a:srgbClr val="FFFFFF"/>
                </a:solidFill>
                <a:latin typeface="Lucida Sans Unicode"/>
                <a:cs typeface="Lucida Sans Unicode"/>
              </a:rPr>
              <a:t>40%</a:t>
            </a:r>
            <a:r>
              <a:rPr dirty="0" sz="17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60">
                <a:solidFill>
                  <a:srgbClr val="D1D1D1"/>
                </a:solidFill>
                <a:latin typeface="Lucida Sans Unicode"/>
                <a:cs typeface="Lucida Sans Unicode"/>
              </a:rPr>
              <a:t>I</a:t>
            </a:r>
            <a:r>
              <a:rPr dirty="0" sz="1700" spc="-305">
                <a:solidFill>
                  <a:srgbClr val="D1D1D1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75">
                <a:solidFill>
                  <a:srgbClr val="FFFFFF"/>
                </a:solidFill>
                <a:latin typeface="Lucida Sans Unicode"/>
                <a:cs typeface="Lucida Sans Unicode"/>
              </a:rPr>
              <a:t>ejection)</a:t>
            </a:r>
            <a:r>
              <a:rPr dirty="0" sz="1700" spc="-75">
                <a:solidFill>
                  <a:srgbClr val="051626"/>
                </a:solidFill>
                <a:latin typeface="Lucida Sans Unicode"/>
                <a:cs typeface="Lucida Sans Unicode"/>
              </a:rPr>
              <a:t>. </a:t>
            </a:r>
            <a:r>
              <a:rPr dirty="0" sz="1700" spc="-110">
                <a:solidFill>
                  <a:srgbClr val="F9F9F9"/>
                </a:solidFill>
                <a:latin typeface="Lucida Sans Unicode"/>
                <a:cs typeface="Lucida Sans Unicode"/>
              </a:rPr>
              <a:t>Identif</a:t>
            </a:r>
            <a:r>
              <a:rPr dirty="0" sz="1700" spc="-110">
                <a:solidFill>
                  <a:srgbClr val="FFFFFF"/>
                </a:solidFill>
                <a:latin typeface="Lucida Sans Unicode"/>
                <a:cs typeface="Lucida Sans Unicode"/>
              </a:rPr>
              <a:t>ies</a:t>
            </a:r>
            <a:r>
              <a:rPr dirty="0" sz="17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35">
                <a:solidFill>
                  <a:srgbClr val="FFFFFF"/>
                </a:solidFill>
                <a:latin typeface="Lucida Sans Unicode"/>
                <a:cs typeface="Lucida Sans Unicode"/>
              </a:rPr>
              <a:t>valid</a:t>
            </a:r>
            <a:r>
              <a:rPr dirty="0" sz="17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45">
                <a:solidFill>
                  <a:srgbClr val="FFFFFF"/>
                </a:solidFill>
                <a:latin typeface="Lucida Sans Unicode"/>
                <a:cs typeface="Lucida Sans Unicode"/>
              </a:rPr>
              <a:t>pa</a:t>
            </a:r>
            <a:r>
              <a:rPr dirty="0" sz="1700" spc="-45">
                <a:solidFill>
                  <a:srgbClr val="F9F9F9"/>
                </a:solidFill>
                <a:latin typeface="Lucida Sans Unicode"/>
                <a:cs typeface="Lucida Sans Unicode"/>
              </a:rPr>
              <a:t>lienI</a:t>
            </a:r>
            <a:r>
              <a:rPr dirty="0" sz="1700" spc="5">
                <a:solidFill>
                  <a:srgbClr val="F9F9F9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Lucida Sans Unicode"/>
                <a:cs typeface="Lucida Sans Unicode"/>
              </a:rPr>
              <a:t>volume</a:t>
            </a:r>
            <a:endParaRPr sz="170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575300" y="2768600"/>
            <a:ext cx="10566400" cy="5702300"/>
            <a:chOff x="5575300" y="2768600"/>
            <a:chExt cx="10566400" cy="570230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27700" y="5727700"/>
              <a:ext cx="139700" cy="762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6100" y="7200900"/>
              <a:ext cx="241300" cy="10160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75300" y="2768600"/>
              <a:ext cx="292100" cy="57023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15800" y="2768600"/>
              <a:ext cx="50800" cy="57023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115800" y="2768600"/>
              <a:ext cx="50800" cy="57023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38100" y="5422900"/>
              <a:ext cx="2781300" cy="6096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38100" y="7569200"/>
              <a:ext cx="2032000" cy="30480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2725400" y="2768600"/>
              <a:ext cx="3416300" cy="5702300"/>
            </a:xfrm>
            <a:custGeom>
              <a:avLst/>
              <a:gdLst/>
              <a:ahLst/>
              <a:cxnLst/>
              <a:rect l="l" t="t" r="r" b="b"/>
              <a:pathLst>
                <a:path w="3416300" h="5702300">
                  <a:moveTo>
                    <a:pt x="3416300" y="5702300"/>
                  </a:moveTo>
                  <a:lnTo>
                    <a:pt x="0" y="5702300"/>
                  </a:lnTo>
                  <a:lnTo>
                    <a:pt x="0" y="0"/>
                  </a:lnTo>
                  <a:lnTo>
                    <a:pt x="3416300" y="0"/>
                  </a:lnTo>
                  <a:lnTo>
                    <a:pt x="3416300" y="5702300"/>
                  </a:lnTo>
                  <a:close/>
                </a:path>
              </a:pathLst>
            </a:custGeom>
            <a:solidFill>
              <a:srgbClr val="0818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2715290" y="4890205"/>
            <a:ext cx="234569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385">
                <a:solidFill>
                  <a:srgbClr val="FFFFFF"/>
                </a:solidFill>
                <a:latin typeface="Times New Roman"/>
                <a:cs typeface="Times New Roman"/>
              </a:rPr>
              <a:t>IQVIA</a:t>
            </a:r>
            <a:r>
              <a:rPr dirty="0" sz="32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0">
                <a:solidFill>
                  <a:srgbClr val="FFFFFF"/>
                </a:solidFill>
                <a:latin typeface="Times New Roman"/>
                <a:cs typeface="Times New Roman"/>
              </a:rPr>
              <a:t>Xponent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704191" y="6007452"/>
            <a:ext cx="2680335" cy="526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">
              <a:lnSpc>
                <a:spcPts val="1910"/>
              </a:lnSpc>
              <a:spcBef>
                <a:spcPts val="95"/>
              </a:spcBef>
              <a:tabLst>
                <a:tab pos="1151255" algn="l"/>
              </a:tabLst>
            </a:pPr>
            <a:r>
              <a:rPr dirty="0" sz="1600" spc="-65">
                <a:solidFill>
                  <a:srgbClr val="FFFFFF"/>
                </a:solidFill>
                <a:latin typeface="Times New Roman"/>
                <a:cs typeface="Times New Roman"/>
              </a:rPr>
              <a:t>DC</a:t>
            </a:r>
            <a:r>
              <a:rPr dirty="0" sz="1600" spc="-65">
                <a:solidFill>
                  <a:srgbClr val="DBDBDB"/>
                </a:solidFill>
                <a:latin typeface="Times New Roman"/>
                <a:cs typeface="Times New Roman"/>
              </a:rPr>
              <a:t>Ie</a:t>
            </a:r>
            <a:r>
              <a:rPr dirty="0" sz="1600" spc="-165">
                <a:solidFill>
                  <a:srgbClr val="DBDBDB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rent</a:t>
            </a:r>
            <a:r>
              <a:rPr dirty="0" sz="16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409">
                <a:solidFill>
                  <a:srgbClr val="FFFFFF"/>
                </a:solidFill>
                <a:latin typeface="Times New Roman"/>
                <a:cs typeface="Times New Roman"/>
              </a:rPr>
              <a:t>iate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600">
                <a:solidFill>
                  <a:srgbClr val="EFEFEF"/>
                </a:solidFill>
                <a:latin typeface="Times New Roman"/>
                <a:cs typeface="Times New Roman"/>
              </a:rPr>
              <a:t>¢</a:t>
            </a:r>
            <a:r>
              <a:rPr dirty="0" sz="1600" spc="140">
                <a:solidFill>
                  <a:srgbClr val="EFEFEF"/>
                </a:solidFill>
                <a:latin typeface="Times New Roman"/>
                <a:cs typeface="Times New Roman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imes New Roman"/>
                <a:cs typeface="Times New Roman"/>
              </a:rPr>
              <a:t>Early</a:t>
            </a:r>
            <a:r>
              <a:rPr dirty="0" sz="160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1600">
                <a:solidFill>
                  <a:srgbClr val="E4E4E4"/>
                </a:solidFill>
                <a:latin typeface="Times New Roman"/>
                <a:cs typeface="Times New Roman"/>
              </a:rPr>
              <a:t>a</a:t>
            </a:r>
            <a:r>
              <a:rPr dirty="0" sz="1600" spc="-215">
                <a:solidFill>
                  <a:srgbClr val="E4E4E4"/>
                </a:solidFill>
                <a:latin typeface="Times New Roman"/>
                <a:cs typeface="Times New Roman"/>
              </a:rPr>
              <a:t> </a:t>
            </a:r>
            <a:r>
              <a:rPr dirty="0" sz="1600" spc="-45">
                <a:solidFill>
                  <a:srgbClr val="EBEBEB"/>
                </a:solidFill>
                <a:latin typeface="Times New Roman"/>
                <a:cs typeface="Times New Roman"/>
              </a:rPr>
              <a:t>ta</a:t>
            </a:r>
            <a:r>
              <a:rPr dirty="0" sz="1600" spc="-45">
                <a:solidFill>
                  <a:srgbClr val="D1D1D1"/>
                </a:solidFill>
                <a:latin typeface="Times New Roman"/>
                <a:cs typeface="Times New Roman"/>
              </a:rPr>
              <a:t>1</a:t>
            </a:r>
            <a:r>
              <a:rPr dirty="0" sz="1600" spc="-45">
                <a:solidFill>
                  <a:srgbClr val="FFFFFF"/>
                </a:solidFill>
                <a:latin typeface="Times New Roman"/>
                <a:cs typeface="Times New Roman"/>
              </a:rPr>
              <a:t>ys</a:t>
            </a:r>
            <a:r>
              <a:rPr dirty="0" sz="1600" spc="-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2030"/>
              </a:lnSpc>
            </a:pPr>
            <a:r>
              <a:rPr dirty="0" sz="1700">
                <a:solidFill>
                  <a:srgbClr val="F9F9F9"/>
                </a:solidFill>
                <a:latin typeface="Times New Roman"/>
                <a:cs typeface="Times New Roman"/>
              </a:rPr>
              <a:t>from</a:t>
            </a:r>
            <a:r>
              <a:rPr dirty="0" sz="1700" spc="50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1700" spc="-100">
                <a:solidFill>
                  <a:srgbClr val="E8E8E8"/>
                </a:solidFill>
                <a:latin typeface="Times New Roman"/>
                <a:cs typeface="Times New Roman"/>
              </a:rPr>
              <a:t>High</a:t>
            </a:r>
            <a:r>
              <a:rPr dirty="0" sz="1700" spc="-125">
                <a:solidFill>
                  <a:srgbClr val="E8E8E8"/>
                </a:solidFill>
                <a:latin typeface="Times New Roman"/>
                <a:cs typeface="Times New Roman"/>
              </a:rPr>
              <a:t> </a:t>
            </a:r>
            <a:r>
              <a:rPr dirty="0" sz="1700" spc="-35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 sz="1700" spc="-10">
                <a:solidFill>
                  <a:srgbClr val="FFFFFF"/>
                </a:solidFill>
                <a:latin typeface="Times New Roman"/>
                <a:cs typeface="Times New Roman"/>
              </a:rPr>
              <a:t>Volume</a:t>
            </a:r>
            <a:r>
              <a:rPr dirty="0" sz="170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00" spc="-10">
                <a:solidFill>
                  <a:srgbClr val="05131F"/>
                </a:solidFill>
                <a:latin typeface="Times New Roman"/>
                <a:cs typeface="Times New Roman"/>
              </a:rPr>
              <a:t>L</a:t>
            </a:r>
            <a:r>
              <a:rPr dirty="0" sz="1700" spc="-10">
                <a:solidFill>
                  <a:srgbClr val="F9F9F9"/>
                </a:solidFill>
                <a:latin typeface="Times New Roman"/>
                <a:cs typeface="Times New Roman"/>
              </a:rPr>
              <a:t>agg</a:t>
            </a:r>
            <a:r>
              <a:rPr dirty="0" sz="1700" spc="-10">
                <a:solidFill>
                  <a:srgbClr val="FFFFFF"/>
                </a:solidFill>
                <a:latin typeface="Times New Roman"/>
                <a:cs typeface="Times New Roman"/>
              </a:rPr>
              <a:t>ards.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710515" y="7018866"/>
            <a:ext cx="1859914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160">
                <a:solidFill>
                  <a:srgbClr val="FFFFFF"/>
                </a:solidFill>
                <a:latin typeface="Times New Roman"/>
                <a:cs typeface="Times New Roman"/>
              </a:rPr>
              <a:t>Opium</a:t>
            </a:r>
            <a:r>
              <a:rPr dirty="0" sz="33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515">
                <a:solidFill>
                  <a:srgbClr val="FFFFFF"/>
                </a:solidFill>
                <a:latin typeface="Times New Roman"/>
                <a:cs typeface="Times New Roman"/>
              </a:rPr>
              <a:t>EHR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2700" y="8509000"/>
            <a:ext cx="17449800" cy="215900"/>
          </a:xfrm>
          <a:custGeom>
            <a:avLst/>
            <a:gdLst/>
            <a:ahLst/>
            <a:cxnLst/>
            <a:rect l="l" t="t" r="r" b="b"/>
            <a:pathLst>
              <a:path w="17449800" h="215900">
                <a:moveTo>
                  <a:pt x="17449800" y="215900"/>
                </a:moveTo>
                <a:lnTo>
                  <a:pt x="0" y="2159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159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2702146" y="7924094"/>
            <a:ext cx="4244340" cy="805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04">
              <a:lnSpc>
                <a:spcPts val="2080"/>
              </a:lnSpc>
              <a:spcBef>
                <a:spcPts val="105"/>
              </a:spcBef>
            </a:pPr>
            <a:r>
              <a:rPr dirty="0" sz="1800" spc="-180">
                <a:solidFill>
                  <a:srgbClr val="FFFFFF"/>
                </a:solidFill>
                <a:latin typeface="Lucida Sans Unicode"/>
                <a:cs typeface="Lucida Sans Unicode"/>
              </a:rPr>
              <a:t>Identifying</a:t>
            </a:r>
            <a:r>
              <a:rPr dirty="0" sz="1800" spc="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80">
                <a:solidFill>
                  <a:srgbClr val="FFFFFF"/>
                </a:solidFill>
                <a:latin typeface="Lucida Sans Unicode"/>
                <a:cs typeface="Lucida Sans Unicode"/>
              </a:rPr>
              <a:t>clinical</a:t>
            </a:r>
            <a:r>
              <a:rPr dirty="0" sz="18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Lucida Sans Unicode"/>
                <a:cs typeface="Lucida Sans Unicode"/>
              </a:rPr>
              <a:t>readiness.</a:t>
            </a:r>
            <a:endParaRPr sz="1800">
              <a:latin typeface="Lucida Sans Unicode"/>
              <a:cs typeface="Lucida Sans Unicode"/>
            </a:endParaRPr>
          </a:p>
          <a:p>
            <a:pPr marL="13970">
              <a:lnSpc>
                <a:spcPts val="2075"/>
              </a:lnSpc>
            </a:pPr>
            <a:r>
              <a:rPr dirty="0" sz="1800" spc="-150">
                <a:solidFill>
                  <a:srgbClr val="FFFFFF"/>
                </a:solidFill>
                <a:latin typeface="Lucida Sans Unicode"/>
                <a:cs typeface="Lucida Sans Unicode"/>
              </a:rPr>
              <a:t>BMI,</a:t>
            </a:r>
            <a:r>
              <a:rPr dirty="0" sz="18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60">
                <a:solidFill>
                  <a:srgbClr val="FFFFFF"/>
                </a:solidFill>
                <a:latin typeface="Lucida Sans Unicode"/>
                <a:cs typeface="Lucida Sans Unicode"/>
              </a:rPr>
              <a:t>Labs,</a:t>
            </a:r>
            <a:r>
              <a:rPr dirty="0" sz="18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Lucida Sans Unicode"/>
                <a:cs typeface="Lucida Sans Unicode"/>
              </a:rPr>
              <a:t>NLP</a:t>
            </a:r>
            <a:r>
              <a:rPr dirty="0" sz="18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0">
                <a:solidFill>
                  <a:srgbClr val="CACACA"/>
                </a:solidFill>
                <a:latin typeface="Lucida Sans Unicode"/>
                <a:cs typeface="Lucida Sans Unicode"/>
              </a:rPr>
              <a:t>lor</a:t>
            </a:r>
            <a:r>
              <a:rPr dirty="0" sz="1800" spc="100">
                <a:solidFill>
                  <a:srgbClr val="CACACA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75">
                <a:solidFill>
                  <a:srgbClr val="EFEFEF"/>
                </a:solidFill>
                <a:latin typeface="Lucida Sans Unicode"/>
                <a:cs typeface="Lucida Sans Unicode"/>
              </a:rPr>
              <a:t>'Injection</a:t>
            </a:r>
            <a:r>
              <a:rPr dirty="0" sz="1800" spc="-125">
                <a:solidFill>
                  <a:srgbClr val="EFEFE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50">
                <a:solidFill>
                  <a:srgbClr val="D4D4D4"/>
                </a:solidFill>
                <a:latin typeface="Lucida Sans Unicode"/>
                <a:cs typeface="Lucida Sans Unicode"/>
              </a:rPr>
              <a:t>F</a:t>
            </a:r>
            <a:r>
              <a:rPr dirty="0" sz="1800" spc="-50">
                <a:solidFill>
                  <a:srgbClr val="FFFFFF"/>
                </a:solidFill>
                <a:latin typeface="Lucida Sans Unicode"/>
                <a:cs typeface="Lucida Sans Unicode"/>
              </a:rPr>
              <a:t>atigue’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ts val="1975"/>
              </a:lnSpc>
            </a:pPr>
            <a:r>
              <a:rPr dirty="0" sz="1650" spc="-10">
                <a:solidFill>
                  <a:srgbClr val="E8E8E8"/>
                </a:solidFill>
                <a:latin typeface="Lucida Sans Unicode"/>
                <a:cs typeface="Lucida Sans Unicode"/>
              </a:rPr>
              <a:t>!J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ses</a:t>
            </a:r>
            <a:r>
              <a:rPr dirty="0" sz="165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>
                <a:solidFill>
                  <a:srgbClr val="56626E"/>
                </a:solidFill>
                <a:latin typeface="Lucida Sans Unicode"/>
                <a:cs typeface="Lucida Sans Unicode"/>
              </a:rPr>
              <a:t>P</a:t>
            </a:r>
            <a:r>
              <a:rPr dirty="0" sz="1650" spc="-10">
                <a:solidFill>
                  <a:srgbClr val="56626E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0">
                <a:solidFill>
                  <a:srgbClr val="FFFFFF"/>
                </a:solidFill>
                <a:latin typeface="Lucida Sans Unicode"/>
                <a:cs typeface="Lucida Sans Unicode"/>
              </a:rPr>
              <a:t>odabllistic</a:t>
            </a:r>
            <a:r>
              <a:rPr dirty="0" sz="1650" spc="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85">
                <a:solidFill>
                  <a:srgbClr val="F9F9F9"/>
                </a:solidFill>
                <a:latin typeface="Lucida Sans Unicode"/>
                <a:cs typeface="Lucida Sans Unicode"/>
              </a:rPr>
              <a:t>In</a:t>
            </a:r>
            <a:r>
              <a:rPr dirty="0" sz="1650" spc="-85">
                <a:solidFill>
                  <a:srgbClr val="CFCFCF"/>
                </a:solidFill>
                <a:latin typeface="Lucida Sans Unicode"/>
                <a:cs typeface="Lucida Sans Unicode"/>
              </a:rPr>
              <a:t>fe</a:t>
            </a:r>
            <a:r>
              <a:rPr dirty="0" sz="1650" spc="-85">
                <a:solidFill>
                  <a:srgbClr val="FFFFFF"/>
                </a:solidFill>
                <a:latin typeface="Lucida Sans Unicode"/>
                <a:cs typeface="Lucida Sans Unicode"/>
              </a:rPr>
              <a:t>rence</a:t>
            </a:r>
            <a:r>
              <a:rPr dirty="0" sz="16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90">
                <a:solidFill>
                  <a:srgbClr val="E2E2E2"/>
                </a:solidFill>
                <a:latin typeface="Lucida Sans Unicode"/>
                <a:cs typeface="Lucida Sans Unicode"/>
              </a:rPr>
              <a:t>lor</a:t>
            </a:r>
            <a:r>
              <a:rPr dirty="0" sz="1650" spc="-50">
                <a:solidFill>
                  <a:srgbClr val="E2E2E2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5">
                <a:solidFill>
                  <a:srgbClr val="F7F7F7"/>
                </a:solidFill>
                <a:latin typeface="Lucida Sans Unicode"/>
                <a:cs typeface="Lucida Sans Unicode"/>
              </a:rPr>
              <a:t>mis</a:t>
            </a:r>
            <a:r>
              <a:rPr dirty="0" sz="1650" spc="-105">
                <a:solidFill>
                  <a:srgbClr val="FFFFFF"/>
                </a:solidFill>
                <a:latin typeface="Lucida Sans Unicode"/>
                <a:cs typeface="Lucida Sans Unicode"/>
              </a:rPr>
              <a:t>sing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codes</a:t>
            </a:r>
            <a:endParaRPr sz="1650">
              <a:latin typeface="Lucida Sans Unicode"/>
              <a:cs typeface="Lucida Sans Unicode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3111500"/>
            <a:ext cx="17462500" cy="11557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1066800"/>
            <a:ext cx="17462500" cy="7366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5100" y="4711700"/>
            <a:ext cx="927100" cy="165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21000" y="4711700"/>
            <a:ext cx="342900" cy="3048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065000" y="4711700"/>
            <a:ext cx="977900" cy="165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86300" y="4648200"/>
            <a:ext cx="685800" cy="3937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18300" y="4711700"/>
            <a:ext cx="876300" cy="165100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12700" y="4635500"/>
            <a:ext cx="17449800" cy="673100"/>
            <a:chOff x="12700" y="4635500"/>
            <a:chExt cx="17449800" cy="673100"/>
          </a:xfrm>
        </p:grpSpPr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04400" y="4686300"/>
              <a:ext cx="939800" cy="33020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2700" y="4635500"/>
              <a:ext cx="17449800" cy="673100"/>
            </a:xfrm>
            <a:custGeom>
              <a:avLst/>
              <a:gdLst/>
              <a:ahLst/>
              <a:cxnLst/>
              <a:rect l="l" t="t" r="r" b="b"/>
              <a:pathLst>
                <a:path w="17449800" h="673100">
                  <a:moveTo>
                    <a:pt x="17449800" y="673100"/>
                  </a:moveTo>
                  <a:lnTo>
                    <a:pt x="0" y="6731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673100"/>
                  </a:lnTo>
                  <a:close/>
                </a:path>
              </a:pathLst>
            </a:custGeom>
            <a:solidFill>
              <a:srgbClr val="0C1C3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392942" y="4902200"/>
            <a:ext cx="263969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45">
                <a:solidFill>
                  <a:srgbClr val="FFFFFF"/>
                </a:solidFill>
                <a:latin typeface="Lucida Sans Unicode"/>
                <a:cs typeface="Lucida Sans Unicode"/>
              </a:rPr>
              <a:t>Innovation-</a:t>
            </a:r>
            <a:r>
              <a:rPr dirty="0" sz="2500" spc="-204">
                <a:solidFill>
                  <a:srgbClr val="FFFFFF"/>
                </a:solidFill>
                <a:latin typeface="Lucida Sans Unicode"/>
                <a:cs typeface="Lucida Sans Unicode"/>
              </a:rPr>
              <a:t>Forward.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64111" y="4911019"/>
            <a:ext cx="300926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225">
                <a:solidFill>
                  <a:srgbClr val="FFFFFF"/>
                </a:solidFill>
                <a:latin typeface="Lucida Sans Unicode"/>
                <a:cs typeface="Lucida Sans Unicode"/>
              </a:rPr>
              <a:t>Efficacy—</a:t>
            </a:r>
            <a:r>
              <a:rPr dirty="0" sz="2400" spc="-215">
                <a:solidFill>
                  <a:srgbClr val="FFFFFF"/>
                </a:solidFill>
                <a:latin typeface="Lucida Sans Unicode"/>
                <a:cs typeface="Lucida Sans Unicode"/>
              </a:rPr>
              <a:t>Driven.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90">
                <a:solidFill>
                  <a:srgbClr val="FFFFFF"/>
                </a:solidFill>
                <a:latin typeface="Lucida Sans Unicode"/>
                <a:cs typeface="Lucida Sans Unicode"/>
              </a:rPr>
              <a:t>Moses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008342" y="4884561"/>
            <a:ext cx="243268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225">
                <a:solidFill>
                  <a:srgbClr val="FFFFFF"/>
                </a:solidFill>
                <a:latin typeface="Lucida Sans Unicode"/>
                <a:cs typeface="Lucida Sans Unicode"/>
              </a:rPr>
              <a:t>Lifestyle-</a:t>
            </a:r>
            <a:r>
              <a:rPr dirty="0" sz="2600" spc="-270">
                <a:solidFill>
                  <a:srgbClr val="FFFFFF"/>
                </a:solidFill>
                <a:latin typeface="Lucida Sans Unicode"/>
                <a:cs typeface="Lucida Sans Unicode"/>
              </a:rPr>
              <a:t>Focused.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2700" y="5359400"/>
            <a:ext cx="17449800" cy="279400"/>
          </a:xfrm>
          <a:custGeom>
            <a:avLst/>
            <a:gdLst/>
            <a:ahLst/>
            <a:cxnLst/>
            <a:rect l="l" t="t" r="r" b="b"/>
            <a:pathLst>
              <a:path w="17449800" h="279400">
                <a:moveTo>
                  <a:pt x="174498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79400"/>
                </a:lnTo>
                <a:close/>
              </a:path>
            </a:pathLst>
          </a:custGeom>
          <a:solidFill>
            <a:srgbClr val="0A1C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393610" y="5253919"/>
            <a:ext cx="328104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185">
                <a:solidFill>
                  <a:srgbClr val="FFFFFF"/>
                </a:solidFill>
                <a:latin typeface="Lucida Sans Unicode"/>
                <a:cs typeface="Lucida Sans Unicode"/>
              </a:rPr>
              <a:t>Rapidly</a:t>
            </a:r>
            <a:r>
              <a:rPr dirty="0" sz="2400" spc="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85">
                <a:solidFill>
                  <a:srgbClr val="FFFFFF"/>
                </a:solidFill>
                <a:latin typeface="Lucida Sans Unicode"/>
                <a:cs typeface="Lucida Sans Unicode"/>
              </a:rPr>
              <a:t>adopts</a:t>
            </a:r>
            <a:r>
              <a:rPr dirty="0" sz="24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04">
                <a:solidFill>
                  <a:srgbClr val="FFFFFF"/>
                </a:solidFill>
                <a:latin typeface="Lucida Sans Unicode"/>
                <a:cs typeface="Lucida Sans Unicode"/>
              </a:rPr>
              <a:t>new</a:t>
            </a:r>
            <a:r>
              <a:rPr dirty="0" sz="240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tech.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660663" y="5227461"/>
            <a:ext cx="375983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260">
                <a:solidFill>
                  <a:srgbClr val="FFFFFF"/>
                </a:solidFill>
                <a:latin typeface="Lucida Sans Unicode"/>
                <a:cs typeface="Lucida Sans Unicode"/>
              </a:rPr>
              <a:t>patients</a:t>
            </a:r>
            <a:r>
              <a:rPr dirty="0" sz="26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9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6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250">
                <a:solidFill>
                  <a:srgbClr val="FFFFFF"/>
                </a:solidFill>
                <a:latin typeface="Lucida Sans Unicode"/>
                <a:cs typeface="Lucida Sans Unicode"/>
              </a:rPr>
              <a:t>better</a:t>
            </a:r>
            <a:r>
              <a:rPr dirty="0" sz="26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325">
                <a:solidFill>
                  <a:srgbClr val="FFFFFF"/>
                </a:solidFill>
                <a:latin typeface="Lucida Sans Unicode"/>
                <a:cs typeface="Lucida Sans Unicode"/>
              </a:rPr>
              <a:t>outcomes.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2009165" y="5236280"/>
            <a:ext cx="295021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-229">
                <a:solidFill>
                  <a:srgbClr val="FFFFFF"/>
                </a:solidFill>
                <a:latin typeface="Lucida Sans Unicode"/>
                <a:cs typeface="Lucida Sans Unicode"/>
              </a:rPr>
              <a:t>Prioritizes</a:t>
            </a:r>
            <a:r>
              <a:rPr dirty="0" sz="255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20">
                <a:solidFill>
                  <a:srgbClr val="FFFFFF"/>
                </a:solidFill>
                <a:latin typeface="Lucida Sans Unicode"/>
                <a:cs typeface="Lucida Sans Unicode"/>
              </a:rPr>
              <a:t>ease</a:t>
            </a:r>
            <a:r>
              <a:rPr dirty="0" sz="255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315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5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80">
                <a:solidFill>
                  <a:srgbClr val="FFFFFF"/>
                </a:solidFill>
                <a:latin typeface="Lucida Sans Unicode"/>
                <a:cs typeface="Lucida Sans Unicode"/>
              </a:rPr>
              <a:t>use.</a:t>
            </a:r>
            <a:endParaRPr sz="2550">
              <a:latin typeface="Lucida Sans Unicode"/>
              <a:cs typeface="Lucida Sans Unicode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2700" y="5969000"/>
            <a:ext cx="17462500" cy="241300"/>
            <a:chOff x="12700" y="5969000"/>
            <a:chExt cx="17462500" cy="241300"/>
          </a:xfrm>
        </p:grpSpPr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026900" y="5969000"/>
              <a:ext cx="2311400" cy="24130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67500" y="5969000"/>
              <a:ext cx="2311400" cy="2413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09700" y="5969000"/>
              <a:ext cx="2311400" cy="24130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700" y="5969000"/>
              <a:ext cx="17462500" cy="241300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12700" y="6299200"/>
            <a:ext cx="17449800" cy="292100"/>
          </a:xfrm>
          <a:custGeom>
            <a:avLst/>
            <a:gdLst/>
            <a:ahLst/>
            <a:cxnLst/>
            <a:rect l="l" t="t" r="r" b="b"/>
            <a:pathLst>
              <a:path w="17449800" h="292100">
                <a:moveTo>
                  <a:pt x="17449800" y="292100"/>
                </a:moveTo>
                <a:lnTo>
                  <a:pt x="0" y="292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92100"/>
                </a:lnTo>
                <a:close/>
              </a:path>
            </a:pathLst>
          </a:custGeom>
          <a:solidFill>
            <a:srgbClr val="08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405488" y="6184900"/>
            <a:ext cx="284353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500" spc="-200">
                <a:solidFill>
                  <a:srgbClr val="FFFFFF"/>
                </a:solidFill>
                <a:latin typeface="Lucida Sans Unicode"/>
                <a:cs typeface="Lucida Sans Unicode"/>
              </a:rPr>
              <a:t>First</a:t>
            </a:r>
            <a:r>
              <a:rPr dirty="0" sz="25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00">
                <a:solidFill>
                  <a:srgbClr val="FFFFFF"/>
                </a:solidFill>
                <a:latin typeface="Lucida Sans Unicode"/>
                <a:cs typeface="Lucida Sans Unicode"/>
              </a:rPr>
              <a:t>90-</a:t>
            </a:r>
            <a:r>
              <a:rPr dirty="0" sz="2500" spc="-275">
                <a:solidFill>
                  <a:srgbClr val="FFFFFF"/>
                </a:solidFill>
                <a:latin typeface="Lucida Sans Unicode"/>
                <a:cs typeface="Lucida Sans Unicode"/>
              </a:rPr>
              <a:t>day</a:t>
            </a:r>
            <a:r>
              <a:rPr dirty="0" sz="2500" spc="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240">
                <a:solidFill>
                  <a:srgbClr val="FFFFFF"/>
                </a:solidFill>
                <a:latin typeface="Lucida Sans Unicode"/>
                <a:cs typeface="Lucida Sans Unicode"/>
              </a:rPr>
              <a:t>writer</a:t>
            </a:r>
            <a:r>
              <a:rPr dirty="0" sz="25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3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677633" y="6202538"/>
            <a:ext cx="3927475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185">
                <a:solidFill>
                  <a:srgbClr val="FFFFFF"/>
                </a:solidFill>
                <a:latin typeface="Lucida Sans Unicode"/>
                <a:cs typeface="Lucida Sans Unicode"/>
              </a:rPr>
              <a:t>High</a:t>
            </a:r>
            <a:r>
              <a:rPr dirty="0" sz="23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40">
                <a:solidFill>
                  <a:srgbClr val="FFFFFF"/>
                </a:solidFill>
                <a:latin typeface="Lucida Sans Unicode"/>
                <a:cs typeface="Lucida Sans Unicode"/>
              </a:rPr>
              <a:t>patient</a:t>
            </a:r>
            <a:r>
              <a:rPr dirty="0" sz="23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85">
                <a:solidFill>
                  <a:srgbClr val="FFFFFF"/>
                </a:solidFill>
                <a:latin typeface="Lucida Sans Unicode"/>
                <a:cs typeface="Lucida Sans Unicode"/>
              </a:rPr>
              <a:t>turnover</a:t>
            </a:r>
            <a:r>
              <a:rPr dirty="0" sz="23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95">
                <a:solidFill>
                  <a:srgbClr val="FFFFFF"/>
                </a:solidFill>
                <a:latin typeface="Lucida Sans Unicode"/>
                <a:cs typeface="Lucida Sans Unicode"/>
              </a:rPr>
              <a:t>between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025978" y="6220177"/>
            <a:ext cx="351409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812800" algn="l"/>
                <a:tab pos="1223010" algn="l"/>
              </a:tabLst>
            </a:pPr>
            <a:r>
              <a:rPr dirty="0" sz="2200" spc="-20">
                <a:solidFill>
                  <a:srgbClr val="FFFFFF"/>
                </a:solidFill>
                <a:latin typeface="Lucida Sans Unicode"/>
                <a:cs typeface="Lucida Sans Unicode"/>
              </a:rPr>
              <a:t>High</a:t>
            </a: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200" spc="-370" i="1">
                <a:solidFill>
                  <a:srgbClr val="FFFFFF"/>
                </a:solidFill>
                <a:latin typeface="Arial"/>
                <a:cs typeface="Arial"/>
              </a:rPr>
              <a:t>Ol</a:t>
            </a:r>
            <a:r>
              <a:rPr dirty="0" sz="2200" i="1">
                <a:solidFill>
                  <a:srgbClr val="FFFFFF"/>
                </a:solidFill>
                <a:latin typeface="Arial"/>
                <a:cs typeface="Arial"/>
              </a:rPr>
              <a:t>	me</a:t>
            </a:r>
            <a:r>
              <a:rPr dirty="0" sz="2200" spc="-4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5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2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10">
                <a:solidFill>
                  <a:srgbClr val="FFFFFF"/>
                </a:solidFill>
                <a:latin typeface="Lucida Sans Unicode"/>
                <a:cs typeface="Lucida Sans Unicode"/>
              </a:rPr>
              <a:t>Oral</a:t>
            </a:r>
            <a:r>
              <a:rPr dirty="0" sz="2200" spc="-50">
                <a:solidFill>
                  <a:srgbClr val="FFFFFF"/>
                </a:solidFill>
                <a:latin typeface="Lucida Sans Unicode"/>
                <a:cs typeface="Lucida Sans Unicode"/>
              </a:rPr>
              <a:t> scripts;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12700" y="6642100"/>
            <a:ext cx="17449800" cy="279400"/>
          </a:xfrm>
          <a:custGeom>
            <a:avLst/>
            <a:gdLst/>
            <a:ahLst/>
            <a:cxnLst/>
            <a:rect l="l" t="t" r="r" b="b"/>
            <a:pathLst>
              <a:path w="17449800" h="279400">
                <a:moveTo>
                  <a:pt x="174498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79400"/>
                </a:lnTo>
                <a:close/>
              </a:path>
            </a:pathLst>
          </a:custGeom>
          <a:solidFill>
            <a:srgbClr val="0A1F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1422113" y="6541558"/>
            <a:ext cx="272542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2300" spc="-85">
                <a:solidFill>
                  <a:srgbClr val="FFFFFF"/>
                </a:solidFill>
                <a:latin typeface="Lucida Sans Unicode"/>
                <a:cs typeface="Lucida Sans Unicode"/>
              </a:rPr>
              <a:t>Wegovy</a:t>
            </a:r>
            <a:r>
              <a:rPr dirty="0" sz="23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9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23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30">
                <a:solidFill>
                  <a:srgbClr val="FFFFFF"/>
                </a:solidFill>
                <a:latin typeface="Lucida Sans Unicode"/>
                <a:cs typeface="Lucida Sans Unicode"/>
              </a:rPr>
              <a:t>Zepbound.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690373" y="6532739"/>
            <a:ext cx="1818639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2350" spc="-180">
                <a:solidFill>
                  <a:srgbClr val="FFFFFF"/>
                </a:solidFill>
                <a:latin typeface="Lucida Sans Unicode"/>
                <a:cs typeface="Lucida Sans Unicode"/>
              </a:rPr>
              <a:t>GLP-</a:t>
            </a:r>
            <a:r>
              <a:rPr dirty="0" sz="2350" spc="-185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dirty="0" sz="2350" spc="-2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50">
                <a:solidFill>
                  <a:srgbClr val="FFFFFF"/>
                </a:solidFill>
                <a:latin typeface="Lucida Sans Unicode"/>
                <a:cs typeface="Lucida Sans Unicode"/>
              </a:rPr>
              <a:t>brands.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2136908" y="6523919"/>
            <a:ext cx="331406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2209165" algn="l"/>
              </a:tabLst>
            </a:pPr>
            <a:r>
              <a:rPr dirty="0" sz="2400" spc="-145">
                <a:solidFill>
                  <a:srgbClr val="FFFFFF"/>
                </a:solidFill>
                <a:latin typeface="Lucida Sans Unicode"/>
                <a:cs typeface="Lucida Sans Unicode"/>
              </a:rPr>
              <a:t>needle</a:t>
            </a:r>
            <a:r>
              <a:rPr dirty="0" sz="24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Lucida Sans Unicode"/>
                <a:cs typeface="Lucida Sans Unicode"/>
              </a:rPr>
              <a:t>aversion</a:t>
            </a:r>
            <a:r>
              <a:rPr dirty="0" sz="24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400" spc="-19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4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50">
                <a:solidFill>
                  <a:srgbClr val="FFFFFF"/>
                </a:solidFill>
                <a:latin typeface="Lucida Sans Unicode"/>
                <a:cs typeface="Lucida Sans Unicode"/>
              </a:rPr>
              <a:t>panel.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12700" y="7251700"/>
            <a:ext cx="17462500" cy="241300"/>
            <a:chOff x="12700" y="7251700"/>
            <a:chExt cx="17462500" cy="241300"/>
          </a:xfrm>
        </p:grpSpPr>
        <p:pic>
          <p:nvPicPr>
            <p:cNvPr id="33" name="object 3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35100" y="7264400"/>
              <a:ext cx="901700" cy="21590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05600" y="7264400"/>
              <a:ext cx="965200" cy="21590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052300" y="7264400"/>
              <a:ext cx="901700" cy="21590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700" y="7251700"/>
              <a:ext cx="17462500" cy="241300"/>
            </a:xfrm>
            <a:prstGeom prst="rect">
              <a:avLst/>
            </a:prstGeom>
          </p:spPr>
        </p:pic>
      </p:grpSp>
      <p:graphicFrame>
        <p:nvGraphicFramePr>
          <p:cNvPr id="37" name="object 37" descr=""/>
          <p:cNvGraphicFramePr>
            <a:graphicFrameLocks noGrp="1"/>
          </p:cNvGraphicFramePr>
          <p:nvPr/>
        </p:nvGraphicFramePr>
        <p:xfrm>
          <a:off x="12700" y="7556040"/>
          <a:ext cx="17526000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04840"/>
                <a:gridCol w="5252720"/>
                <a:gridCol w="6490970"/>
              </a:tblGrid>
              <a:tr h="339725">
                <a:tc>
                  <a:txBody>
                    <a:bodyPr/>
                    <a:lstStyle/>
                    <a:p>
                      <a:pPr marL="1406525">
                        <a:lnSpc>
                          <a:spcPts val="2375"/>
                        </a:lnSpc>
                      </a:pPr>
                      <a:r>
                        <a:rPr dirty="0" sz="2350" spc="-18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Target</a:t>
                      </a:r>
                      <a:r>
                        <a:rPr dirty="0" sz="23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50" spc="-16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with</a:t>
                      </a:r>
                      <a:r>
                        <a:rPr dirty="0" sz="2350" spc="-9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50" spc="-13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early</a:t>
                      </a:r>
                      <a:r>
                        <a:rPr dirty="0" sz="2350" spc="6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50" spc="-15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trial</a:t>
                      </a:r>
                      <a:r>
                        <a:rPr dirty="0" sz="2350" spc="-9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50" spc="-24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da</a:t>
                      </a:r>
                      <a:r>
                        <a:rPr dirty="0" sz="2350" spc="-41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50" spc="-29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ta</a:t>
                      </a:r>
                      <a:endParaRPr sz="2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81D33"/>
                    </a:solidFill>
                  </a:tcPr>
                </a:tc>
                <a:tc>
                  <a:txBody>
                    <a:bodyPr/>
                    <a:lstStyle/>
                    <a:p>
                      <a:pPr marL="957580">
                        <a:lnSpc>
                          <a:spcPts val="2385"/>
                        </a:lnSpc>
                      </a:pPr>
                      <a:r>
                        <a:rPr dirty="0" sz="2400" spc="-26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’</a:t>
                      </a:r>
                      <a:r>
                        <a:rPr dirty="0" sz="2400" spc="-34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17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Convenience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59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+</a:t>
                      </a:r>
                      <a:r>
                        <a:rPr dirty="0" sz="2400" spc="-4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Efficacy"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81D33"/>
                    </a:solidFill>
                  </a:tcPr>
                </a:tc>
                <a:tc>
                  <a:txBody>
                    <a:bodyPr/>
                    <a:lstStyle/>
                    <a:p>
                      <a:pPr marL="1052195">
                        <a:lnSpc>
                          <a:spcPts val="2385"/>
                        </a:lnSpc>
                      </a:pPr>
                      <a:r>
                        <a:rPr dirty="0" sz="2400" spc="-16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Education</a:t>
                      </a:r>
                      <a:r>
                        <a:rPr dirty="0" sz="2400" spc="1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21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on</a:t>
                      </a:r>
                      <a:r>
                        <a:rPr dirty="0" sz="2400" spc="-204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18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Maritide</a:t>
                      </a:r>
                      <a:r>
                        <a:rPr dirty="0" sz="2400" spc="-4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4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dosing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81D33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1398270">
                        <a:lnSpc>
                          <a:spcPts val="2320"/>
                        </a:lnSpc>
                      </a:pPr>
                      <a:r>
                        <a:rPr dirty="0" sz="2350" spc="-22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&amp;</a:t>
                      </a:r>
                      <a:r>
                        <a:rPr dirty="0" sz="2350" spc="-28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50" spc="-15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speaker</a:t>
                      </a:r>
                      <a:r>
                        <a:rPr dirty="0" sz="2350" spc="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350" spc="-8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programs.</a:t>
                      </a:r>
                      <a:endParaRPr sz="23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marL="959485">
                        <a:lnSpc>
                          <a:spcPts val="2310"/>
                        </a:lnSpc>
                      </a:pPr>
                      <a:r>
                        <a:rPr dirty="0" sz="2300" spc="-5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messaging.</a:t>
                      </a:r>
                      <a:endParaRPr sz="23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0A1C33"/>
                    </a:solidFill>
                  </a:tcPr>
                </a:tc>
                <a:tc>
                  <a:txBody>
                    <a:bodyPr/>
                    <a:lstStyle/>
                    <a:p>
                      <a:pPr marL="1056005">
                        <a:lnSpc>
                          <a:spcPts val="2330"/>
                        </a:lnSpc>
                      </a:pPr>
                      <a:r>
                        <a:rPr dirty="0" sz="2400" spc="-7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frequency.</a:t>
                      </a:r>
                      <a:endParaRPr sz="24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0A1C33"/>
                    </a:solidFill>
                  </a:tcPr>
                </a:tc>
              </a:tr>
            </a:tbl>
          </a:graphicData>
        </a:graphic>
      </p:graphicFrame>
      <p:grpSp>
        <p:nvGrpSpPr>
          <p:cNvPr id="38" name="object 38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7475200" cy="9753600"/>
            <a:chOff x="0" y="0"/>
            <a:chExt cx="17475200" cy="97536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7475200" cy="97536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700" y="4660900"/>
              <a:ext cx="558800" cy="2921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5700" y="5156200"/>
              <a:ext cx="558800" cy="2794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4100" y="4940300"/>
              <a:ext cx="749300" cy="2159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305" rIns="0" bIns="0" rtlCol="0" vert="horz">
            <a:spAutoFit/>
          </a:bodyPr>
          <a:lstStyle/>
          <a:p>
            <a:pPr marL="103505" marR="5080" indent="-15240">
              <a:lnSpc>
                <a:spcPts val="6850"/>
              </a:lnSpc>
              <a:spcBef>
                <a:spcPts val="1215"/>
              </a:spcBef>
            </a:pPr>
            <a:r>
              <a:rPr dirty="0" sz="6600" spc="-340">
                <a:solidFill>
                  <a:srgbClr val="0C1C34"/>
                </a:solidFill>
                <a:latin typeface="Cambria"/>
                <a:cs typeface="Cambria"/>
              </a:rPr>
              <a:t>Technical</a:t>
            </a:r>
            <a:r>
              <a:rPr dirty="0" sz="6600" spc="105">
                <a:solidFill>
                  <a:srgbClr val="0C1C34"/>
                </a:solidFill>
                <a:latin typeface="Cambria"/>
                <a:cs typeface="Cambria"/>
              </a:rPr>
              <a:t> </a:t>
            </a:r>
            <a:r>
              <a:rPr dirty="0" sz="6600" spc="-330">
                <a:solidFill>
                  <a:srgbClr val="0A182D"/>
                </a:solidFill>
                <a:latin typeface="Cambria"/>
                <a:cs typeface="Cambria"/>
              </a:rPr>
              <a:t>Deep</a:t>
            </a:r>
            <a:r>
              <a:rPr dirty="0" sz="6600" spc="-150">
                <a:solidFill>
                  <a:srgbClr val="0A182D"/>
                </a:solidFill>
                <a:latin typeface="Cambria"/>
                <a:cs typeface="Cambria"/>
              </a:rPr>
              <a:t> </a:t>
            </a:r>
            <a:r>
              <a:rPr dirty="0" sz="6600" spc="-295">
                <a:solidFill>
                  <a:srgbClr val="0C1C34"/>
                </a:solidFill>
                <a:latin typeface="Cambria"/>
                <a:cs typeface="Cambria"/>
              </a:rPr>
              <a:t>Dive:</a:t>
            </a:r>
            <a:r>
              <a:rPr dirty="0" sz="6600" spc="-35">
                <a:solidFill>
                  <a:srgbClr val="0C1C34"/>
                </a:solidFill>
                <a:latin typeface="Cambria"/>
                <a:cs typeface="Cambria"/>
              </a:rPr>
              <a:t> </a:t>
            </a:r>
            <a:r>
              <a:rPr dirty="0" sz="6600" spc="-355">
                <a:solidFill>
                  <a:srgbClr val="0E1F38"/>
                </a:solidFill>
                <a:latin typeface="Cambria"/>
                <a:cs typeface="Cambria"/>
              </a:rPr>
              <a:t>Advanced</a:t>
            </a:r>
            <a:r>
              <a:rPr dirty="0" sz="6600" spc="210">
                <a:solidFill>
                  <a:srgbClr val="0E1F38"/>
                </a:solidFill>
                <a:latin typeface="Cambria"/>
                <a:cs typeface="Cambria"/>
              </a:rPr>
              <a:t> </a:t>
            </a:r>
            <a:r>
              <a:rPr dirty="0" sz="6600" spc="-305">
                <a:solidFill>
                  <a:srgbClr val="081C34"/>
                </a:solidFill>
                <a:latin typeface="Cambria"/>
                <a:cs typeface="Cambria"/>
              </a:rPr>
              <a:t>Analytics </a:t>
            </a:r>
            <a:r>
              <a:rPr dirty="0" sz="6600" spc="-390">
                <a:solidFill>
                  <a:srgbClr val="0A182D"/>
                </a:solidFill>
                <a:latin typeface="Cambria"/>
                <a:cs typeface="Cambria"/>
              </a:rPr>
              <a:t>with</a:t>
            </a:r>
            <a:r>
              <a:rPr dirty="0" sz="6600" spc="-140">
                <a:solidFill>
                  <a:srgbClr val="0A182D"/>
                </a:solidFill>
                <a:latin typeface="Cambria"/>
                <a:cs typeface="Cambria"/>
              </a:rPr>
              <a:t> </a:t>
            </a:r>
            <a:r>
              <a:rPr dirty="0" sz="6600" spc="-300">
                <a:solidFill>
                  <a:srgbClr val="0A162D"/>
                </a:solidFill>
                <a:latin typeface="Cambria"/>
                <a:cs typeface="Cambria"/>
              </a:rPr>
              <a:t>Explainability</a:t>
            </a:r>
            <a:endParaRPr sz="66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043118" y="4574469"/>
            <a:ext cx="3891915" cy="148844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22860" marR="5080" indent="-10795">
              <a:lnSpc>
                <a:spcPct val="99500"/>
              </a:lnSpc>
              <a:spcBef>
                <a:spcPts val="145"/>
              </a:spcBef>
            </a:pPr>
            <a:r>
              <a:rPr dirty="0" sz="2400" spc="-55">
                <a:solidFill>
                  <a:srgbClr val="0F0F0F"/>
                </a:solidFill>
                <a:latin typeface="Lucida Sans Unicode"/>
                <a:cs typeface="Lucida Sans Unicode"/>
              </a:rPr>
              <a:t>Unsupervised</a:t>
            </a:r>
            <a:r>
              <a:rPr dirty="0" sz="2400" spc="-95">
                <a:solidFill>
                  <a:srgbClr val="0F0F0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">
                <a:solidFill>
                  <a:srgbClr val="080808"/>
                </a:solidFill>
                <a:latin typeface="Lucida Sans Unicode"/>
                <a:cs typeface="Lucida Sans Unicode"/>
              </a:rPr>
              <a:t>Clustering: </a:t>
            </a:r>
            <a:r>
              <a:rPr dirty="0" sz="2400" spc="-200">
                <a:solidFill>
                  <a:srgbClr val="050505"/>
                </a:solidFill>
                <a:latin typeface="Lucida Sans Unicode"/>
                <a:cs typeface="Lucida Sans Unicode"/>
              </a:rPr>
              <a:t>Grouping</a:t>
            </a:r>
            <a:r>
              <a:rPr dirty="0" sz="2400" spc="-25">
                <a:solidFill>
                  <a:srgbClr val="050505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75">
                <a:latin typeface="Lucida Sans Unicode"/>
                <a:cs typeface="Lucida Sans Unicode"/>
              </a:rPr>
              <a:t>400k</a:t>
            </a:r>
            <a:r>
              <a:rPr dirty="0" sz="2400" spc="-70">
                <a:latin typeface="Lucida Sans Unicode"/>
                <a:cs typeface="Lucida Sans Unicode"/>
              </a:rPr>
              <a:t> </a:t>
            </a:r>
            <a:r>
              <a:rPr dirty="0" sz="2400" spc="-120">
                <a:latin typeface="Lucida Sans Unicode"/>
                <a:cs typeface="Lucida Sans Unicode"/>
              </a:rPr>
              <a:t>physicians</a:t>
            </a:r>
            <a:r>
              <a:rPr dirty="0" sz="2400" spc="25">
                <a:latin typeface="Lucida Sans Unicode"/>
                <a:cs typeface="Lucida Sans Unicode"/>
              </a:rPr>
              <a:t> </a:t>
            </a:r>
            <a:r>
              <a:rPr dirty="0" sz="2400" spc="-70">
                <a:latin typeface="Lucida Sans Unicode"/>
                <a:cs typeface="Lucida Sans Unicode"/>
              </a:rPr>
              <a:t>by </a:t>
            </a:r>
            <a:r>
              <a:rPr dirty="0" sz="2400" spc="-160">
                <a:latin typeface="Lucida Sans Unicode"/>
                <a:cs typeface="Lucida Sans Unicode"/>
              </a:rPr>
              <a:t>adoption</a:t>
            </a:r>
            <a:r>
              <a:rPr dirty="0" sz="2400" spc="-10">
                <a:latin typeface="Lucida Sans Unicode"/>
                <a:cs typeface="Lucida Sans Unicode"/>
              </a:rPr>
              <a:t> </a:t>
            </a:r>
            <a:r>
              <a:rPr dirty="0" sz="2400" spc="-160">
                <a:latin typeface="Lucida Sans Unicode"/>
                <a:cs typeface="Lucida Sans Unicode"/>
              </a:rPr>
              <a:t>behavior,</a:t>
            </a:r>
            <a:r>
              <a:rPr dirty="0" sz="2400" spc="20">
                <a:latin typeface="Lucida Sans Unicode"/>
                <a:cs typeface="Lucida Sans Unicode"/>
              </a:rPr>
              <a:t> </a:t>
            </a:r>
            <a:r>
              <a:rPr dirty="0" sz="2400" spc="-25">
                <a:solidFill>
                  <a:srgbClr val="080808"/>
                </a:solidFill>
                <a:latin typeface="Lucida Sans Unicode"/>
                <a:cs typeface="Lucida Sans Unicode"/>
              </a:rPr>
              <a:t>not </a:t>
            </a:r>
            <a:r>
              <a:rPr dirty="0" sz="2400" spc="-60">
                <a:solidFill>
                  <a:srgbClr val="070707"/>
                </a:solidFill>
                <a:latin typeface="Lucida Sans Unicode"/>
                <a:cs typeface="Lucida Sans Unicode"/>
              </a:rPr>
              <a:t>geography.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46437" y="6581069"/>
            <a:ext cx="4006215" cy="112014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20955">
              <a:lnSpc>
                <a:spcPct val="99000"/>
              </a:lnSpc>
              <a:spcBef>
                <a:spcPts val="160"/>
              </a:spcBef>
            </a:pPr>
            <a:r>
              <a:rPr dirty="0" sz="2400" spc="-65">
                <a:solidFill>
                  <a:srgbClr val="131313"/>
                </a:solidFill>
                <a:latin typeface="Lucida Sans Unicode"/>
                <a:cs typeface="Lucida Sans Unicode"/>
              </a:rPr>
              <a:t>XGBoost</a:t>
            </a:r>
            <a:r>
              <a:rPr dirty="0" sz="2400" spc="20">
                <a:solidFill>
                  <a:srgbClr val="131313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75">
                <a:solidFill>
                  <a:srgbClr val="111111"/>
                </a:solidFill>
                <a:latin typeface="Lucida Sans Unicode"/>
                <a:cs typeface="Lucida Sans Unicode"/>
              </a:rPr>
              <a:t>(Gradient-</a:t>
            </a:r>
            <a:r>
              <a:rPr dirty="0" sz="2400" spc="-10">
                <a:solidFill>
                  <a:srgbClr val="111111"/>
                </a:solidFill>
                <a:latin typeface="Lucida Sans Unicode"/>
                <a:cs typeface="Lucida Sans Unicode"/>
              </a:rPr>
              <a:t>Boosted </a:t>
            </a:r>
            <a:r>
              <a:rPr dirty="0" sz="2400" spc="-70">
                <a:solidFill>
                  <a:srgbClr val="111111"/>
                </a:solidFill>
                <a:latin typeface="Lucida Sans Unicode"/>
                <a:cs typeface="Lucida Sans Unicode"/>
              </a:rPr>
              <a:t>Trees):</a:t>
            </a:r>
            <a:r>
              <a:rPr dirty="0" sz="2400" spc="-114">
                <a:solidFill>
                  <a:srgbClr val="111111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65">
                <a:latin typeface="Lucida Sans Unicode"/>
                <a:cs typeface="Lucida Sans Unicode"/>
              </a:rPr>
              <a:t>High-</a:t>
            </a:r>
            <a:r>
              <a:rPr dirty="0" sz="2400" spc="-25">
                <a:latin typeface="Lucida Sans Unicode"/>
                <a:cs typeface="Lucida Sans Unicode"/>
              </a:rPr>
              <a:t>accuracy </a:t>
            </a:r>
            <a:r>
              <a:rPr dirty="0" sz="2400" spc="-130">
                <a:solidFill>
                  <a:srgbClr val="0A0A0A"/>
                </a:solidFill>
                <a:latin typeface="Lucida Sans Unicode"/>
                <a:cs typeface="Lucida Sans Unicode"/>
              </a:rPr>
              <a:t>scoring</a:t>
            </a:r>
            <a:r>
              <a:rPr dirty="0" sz="2400" spc="-5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45">
                <a:solidFill>
                  <a:srgbClr val="0A0A0A"/>
                </a:solidFill>
                <a:latin typeface="Lucida Sans Unicode"/>
                <a:cs typeface="Lucida Sans Unicode"/>
              </a:rPr>
              <a:t>of</a:t>
            </a:r>
            <a:r>
              <a:rPr dirty="0" sz="2400" spc="80">
                <a:solidFill>
                  <a:srgbClr val="0A0A0A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70">
                <a:solidFill>
                  <a:srgbClr val="070707"/>
                </a:solidFill>
                <a:latin typeface="Lucida Sans Unicode"/>
                <a:cs typeface="Lucida Sans Unicode"/>
              </a:rPr>
              <a:t>adoption</a:t>
            </a:r>
            <a:r>
              <a:rPr dirty="0" sz="2400" spc="-70">
                <a:solidFill>
                  <a:srgbClr val="070707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75">
                <a:latin typeface="Lucida Sans Unicode"/>
                <a:cs typeface="Lucida Sans Unicode"/>
              </a:rPr>
              <a:t>likelihood.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50376" y="3456516"/>
            <a:ext cx="1164971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146165" algn="l"/>
              </a:tabLst>
            </a:pPr>
            <a:r>
              <a:rPr dirty="0" sz="3300" spc="-170">
                <a:solidFill>
                  <a:srgbClr val="0E0E0E"/>
                </a:solidFill>
                <a:latin typeface="Lucida Sans Unicode"/>
                <a:cs typeface="Lucida Sans Unicode"/>
              </a:rPr>
              <a:t>The</a:t>
            </a:r>
            <a:r>
              <a:rPr dirty="0" sz="3300" spc="-260">
                <a:solidFill>
                  <a:srgbClr val="0E0E0E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0">
                <a:solidFill>
                  <a:srgbClr val="0F0F0F"/>
                </a:solidFill>
                <a:latin typeface="Lucida Sans Unicode"/>
                <a:cs typeface="Lucida Sans Unicode"/>
              </a:rPr>
              <a:t>Engine</a:t>
            </a:r>
            <a:r>
              <a:rPr dirty="0" sz="3300">
                <a:solidFill>
                  <a:srgbClr val="0F0F0F"/>
                </a:solidFill>
                <a:latin typeface="Lucida Sans Unicode"/>
                <a:cs typeface="Lucida Sans Unicode"/>
              </a:rPr>
              <a:t>	</a:t>
            </a:r>
            <a:r>
              <a:rPr dirty="0" sz="3300" spc="-210">
                <a:solidFill>
                  <a:srgbClr val="010E1A"/>
                </a:solidFill>
                <a:latin typeface="Lucida Sans Unicode"/>
                <a:cs typeface="Lucida Sans Unicode"/>
              </a:rPr>
              <a:t>The</a:t>
            </a:r>
            <a:r>
              <a:rPr dirty="0" sz="3300" spc="-125">
                <a:solidFill>
                  <a:srgbClr val="010E1A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20">
                <a:solidFill>
                  <a:srgbClr val="111111"/>
                </a:solidFill>
                <a:latin typeface="Lucida Sans Unicode"/>
                <a:cs typeface="Lucida Sans Unicode"/>
              </a:rPr>
              <a:t>"Glass</a:t>
            </a:r>
            <a:r>
              <a:rPr dirty="0" sz="3300" spc="-140">
                <a:solidFill>
                  <a:srgbClr val="111111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55">
                <a:solidFill>
                  <a:srgbClr val="030C1C"/>
                </a:solidFill>
                <a:latin typeface="Lucida Sans Unicode"/>
                <a:cs typeface="Lucida Sans Unicode"/>
              </a:rPr>
              <a:t>Box”</a:t>
            </a:r>
            <a:r>
              <a:rPr dirty="0" sz="3300" spc="-45">
                <a:solidFill>
                  <a:srgbClr val="030C1C"/>
                </a:solidFill>
                <a:latin typeface="Lucida Sans Unicode"/>
                <a:cs typeface="Lucida Sans Unicode"/>
              </a:rPr>
              <a:t> </a:t>
            </a:r>
            <a:r>
              <a:rPr dirty="0" sz="3300" spc="-145">
                <a:latin typeface="Lucida Sans Unicode"/>
                <a:cs typeface="Lucida Sans Unicode"/>
              </a:rPr>
              <a:t>Explainability</a:t>
            </a:r>
            <a:endParaRPr sz="33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667900" y="4520847"/>
            <a:ext cx="422402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90">
                <a:solidFill>
                  <a:srgbClr val="050505"/>
                </a:solidFill>
                <a:latin typeface="Lucida Sans Unicode"/>
                <a:cs typeface="Lucida Sans Unicode"/>
              </a:rPr>
              <a:t>Example</a:t>
            </a:r>
            <a:r>
              <a:rPr dirty="0" sz="2150" spc="-10">
                <a:solidFill>
                  <a:srgbClr val="050505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14">
                <a:latin typeface="Lucida Sans Unicode"/>
                <a:cs typeface="Lucida Sans Unicode"/>
              </a:rPr>
              <a:t>SHAP</a:t>
            </a:r>
            <a:r>
              <a:rPr dirty="0" sz="2150" spc="-10">
                <a:latin typeface="Lucida Sans Unicode"/>
                <a:cs typeface="Lucida Sans Unicode"/>
              </a:rPr>
              <a:t> </a:t>
            </a:r>
            <a:r>
              <a:rPr dirty="0" sz="2150" spc="-180">
                <a:solidFill>
                  <a:srgbClr val="050505"/>
                </a:solidFill>
                <a:latin typeface="Lucida Sans Unicode"/>
                <a:cs typeface="Lucida Sans Unicode"/>
              </a:rPr>
              <a:t>Contribution</a:t>
            </a:r>
            <a:r>
              <a:rPr dirty="0" sz="2150" spc="110">
                <a:solidFill>
                  <a:srgbClr val="050505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-150">
                <a:latin typeface="Lucida Sans Unicode"/>
                <a:cs typeface="Lucida Sans Unicode"/>
              </a:rPr>
              <a:t>Analysis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800168" y="5347405"/>
            <a:ext cx="270827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65">
                <a:solidFill>
                  <a:srgbClr val="161616"/>
                </a:solidFill>
                <a:latin typeface="Lucida Sans Unicode"/>
                <a:cs typeface="Lucida Sans Unicode"/>
              </a:rPr>
              <a:t>High</a:t>
            </a:r>
            <a:r>
              <a:rPr dirty="0" sz="1950" spc="-20">
                <a:solidFill>
                  <a:srgbClr val="161616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80">
                <a:solidFill>
                  <a:srgbClr val="0C0C0C"/>
                </a:solidFill>
                <a:latin typeface="Lucida Sans Unicode"/>
                <a:cs typeface="Lucida Sans Unicode"/>
              </a:rPr>
              <a:t>Zepbound</a:t>
            </a:r>
            <a:r>
              <a:rPr dirty="0" sz="1950" spc="30">
                <a:solidFill>
                  <a:srgbClr val="0C0C0C"/>
                </a:solidFill>
                <a:latin typeface="Lucida Sans Unicode"/>
                <a:cs typeface="Lucida Sans Unicode"/>
              </a:rPr>
              <a:t> </a:t>
            </a:r>
            <a:r>
              <a:rPr dirty="0" sz="1950" spc="-114">
                <a:solidFill>
                  <a:srgbClr val="080808"/>
                </a:solidFill>
                <a:latin typeface="Lucida Sans Unicode"/>
                <a:cs typeface="Lucida Sans Unicode"/>
              </a:rPr>
              <a:t>Switching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65991" y="6232525"/>
            <a:ext cx="335724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70">
                <a:solidFill>
                  <a:srgbClr val="0C0C0C"/>
                </a:solidFill>
                <a:latin typeface="Lucida Sans Unicode"/>
                <a:cs typeface="Lucida Sans Unicode"/>
              </a:rPr>
              <a:t>Metabolic</a:t>
            </a:r>
            <a:r>
              <a:rPr dirty="0" sz="1850" spc="-65">
                <a:solidFill>
                  <a:srgbClr val="0C0C0C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00">
                <a:solidFill>
                  <a:srgbClr val="080808"/>
                </a:solidFill>
                <a:latin typeface="Lucida Sans Unicode"/>
                <a:cs typeface="Lucida Sans Unicode"/>
              </a:rPr>
              <a:t>Deterioration</a:t>
            </a:r>
            <a:r>
              <a:rPr dirty="0" sz="1850" spc="-15">
                <a:solidFill>
                  <a:srgbClr val="080808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20">
                <a:solidFill>
                  <a:srgbClr val="0F0F0F"/>
                </a:solidFill>
                <a:latin typeface="Lucida Sans Unicode"/>
                <a:cs typeface="Lucida Sans Unicode"/>
              </a:rPr>
              <a:t>in</a:t>
            </a:r>
            <a:r>
              <a:rPr dirty="0" sz="1850" spc="-165">
                <a:solidFill>
                  <a:srgbClr val="0F0F0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20">
                <a:latin typeface="Lucida Sans Unicode"/>
                <a:cs typeface="Lucida Sans Unicode"/>
              </a:rPr>
              <a:t>Panel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78791" y="7108825"/>
            <a:ext cx="253111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75">
                <a:solidFill>
                  <a:srgbClr val="0F0F0F"/>
                </a:solidFill>
                <a:latin typeface="Lucida Sans Unicode"/>
                <a:cs typeface="Lucida Sans Unicode"/>
              </a:rPr>
              <a:t>History</a:t>
            </a:r>
            <a:r>
              <a:rPr dirty="0" sz="1850" spc="25">
                <a:solidFill>
                  <a:srgbClr val="0F0F0F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65">
                <a:solidFill>
                  <a:srgbClr val="0C0C0C"/>
                </a:solidFill>
                <a:latin typeface="Lucida Sans Unicode"/>
                <a:cs typeface="Lucida Sans Unicode"/>
              </a:rPr>
              <a:t>of</a:t>
            </a:r>
            <a:r>
              <a:rPr dirty="0" sz="1850" spc="10">
                <a:solidFill>
                  <a:srgbClr val="0C0C0C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14">
                <a:solidFill>
                  <a:srgbClr val="111111"/>
                </a:solidFill>
                <a:latin typeface="Lucida Sans Unicode"/>
                <a:cs typeface="Lucida Sans Unicode"/>
              </a:rPr>
              <a:t>Oral</a:t>
            </a:r>
            <a:r>
              <a:rPr dirty="0" sz="1850" spc="-90">
                <a:solidFill>
                  <a:srgbClr val="111111"/>
                </a:solidFill>
                <a:latin typeface="Lucida Sans Unicode"/>
                <a:cs typeface="Lucida Sans Unicode"/>
              </a:rPr>
              <a:t> </a:t>
            </a:r>
            <a:r>
              <a:rPr dirty="0" sz="1850" spc="-110">
                <a:latin typeface="Lucida Sans Unicode"/>
                <a:cs typeface="Lucida Sans Unicode"/>
              </a:rPr>
              <a:t>Adoption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552639" y="8008408"/>
            <a:ext cx="2836545" cy="6959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860">
              <a:lnSpc>
                <a:spcPts val="2580"/>
              </a:lnSpc>
              <a:spcBef>
                <a:spcPts val="90"/>
              </a:spcBef>
            </a:pPr>
            <a:r>
              <a:rPr dirty="0" sz="2300" spc="-155">
                <a:solidFill>
                  <a:srgbClr val="0C0C0C"/>
                </a:solidFill>
                <a:latin typeface="Lucida Sans Unicode"/>
                <a:cs typeface="Lucida Sans Unicode"/>
              </a:rPr>
              <a:t>We</a:t>
            </a:r>
            <a:r>
              <a:rPr dirty="0" sz="2300" spc="-325">
                <a:solidFill>
                  <a:srgbClr val="0C0C0C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225">
                <a:latin typeface="Lucida Sans Unicode"/>
                <a:cs typeface="Lucida Sans Unicode"/>
              </a:rPr>
              <a:t>don't</a:t>
            </a:r>
            <a:r>
              <a:rPr dirty="0" sz="2300" spc="105">
                <a:latin typeface="Lucida Sans Unicode"/>
                <a:cs typeface="Lucida Sans Unicode"/>
              </a:rPr>
              <a:t> </a:t>
            </a:r>
            <a:r>
              <a:rPr dirty="0" sz="2300" spc="-285">
                <a:solidFill>
                  <a:srgbClr val="050505"/>
                </a:solidFill>
                <a:latin typeface="Lucida Sans Unicode"/>
                <a:cs typeface="Lucida Sans Unicode"/>
              </a:rPr>
              <a:t>just</a:t>
            </a:r>
            <a:r>
              <a:rPr dirty="0" sz="2300" spc="-185">
                <a:solidFill>
                  <a:srgbClr val="050505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95">
                <a:latin typeface="Lucida Sans Unicode"/>
                <a:cs typeface="Lucida Sans Unicode"/>
              </a:rPr>
              <a:t>give</a:t>
            </a:r>
            <a:r>
              <a:rPr dirty="0" sz="2300" spc="-175">
                <a:latin typeface="Lucida Sans Unicode"/>
                <a:cs typeface="Lucida Sans Unicode"/>
              </a:rPr>
              <a:t> </a:t>
            </a:r>
            <a:r>
              <a:rPr dirty="0" sz="2300" spc="-320">
                <a:solidFill>
                  <a:srgbClr val="1A1A1A"/>
                </a:solidFill>
                <a:latin typeface="Lucida Sans Unicode"/>
                <a:cs typeface="Lucida Sans Unicode"/>
              </a:rPr>
              <a:t>a</a:t>
            </a:r>
            <a:endParaRPr sz="2300">
              <a:latin typeface="Lucida Sans Unicode"/>
              <a:cs typeface="Lucida Sans Unicode"/>
            </a:endParaRPr>
          </a:p>
          <a:p>
            <a:pPr marL="12700">
              <a:lnSpc>
                <a:spcPts val="2700"/>
              </a:lnSpc>
            </a:pPr>
            <a:r>
              <a:rPr dirty="0" sz="2400" spc="-254">
                <a:latin typeface="Lucida Sans Unicode"/>
                <a:cs typeface="Lucida Sans Unicode"/>
              </a:rPr>
              <a:t>score;</a:t>
            </a:r>
            <a:r>
              <a:rPr dirty="0" sz="2400" spc="-70">
                <a:latin typeface="Lucida Sans Unicode"/>
                <a:cs typeface="Lucida Sans Unicode"/>
              </a:rPr>
              <a:t> </a:t>
            </a:r>
            <a:r>
              <a:rPr dirty="0" sz="2400" spc="-260">
                <a:solidFill>
                  <a:srgbClr val="080808"/>
                </a:solidFill>
                <a:latin typeface="Lucida Sans Unicode"/>
                <a:cs typeface="Lucida Sans Unicode"/>
              </a:rPr>
              <a:t>we</a:t>
            </a:r>
            <a:r>
              <a:rPr dirty="0" sz="2400" spc="-240">
                <a:solidFill>
                  <a:srgbClr val="080808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50">
                <a:latin typeface="Lucida Sans Unicode"/>
                <a:cs typeface="Lucida Sans Unicode"/>
              </a:rPr>
              <a:t>give</a:t>
            </a:r>
            <a:r>
              <a:rPr dirty="0" sz="2400" spc="-200">
                <a:latin typeface="Lucida Sans Unicode"/>
                <a:cs typeface="Lucida Sans Unicode"/>
              </a:rPr>
              <a:t> </a:t>
            </a:r>
            <a:r>
              <a:rPr dirty="0" sz="2400" spc="-440">
                <a:solidFill>
                  <a:srgbClr val="6E7780"/>
                </a:solidFill>
                <a:latin typeface="Lucida Sans Unicode"/>
                <a:cs typeface="Lucida Sans Unicode"/>
              </a:rPr>
              <a:t>a</a:t>
            </a:r>
            <a:r>
              <a:rPr dirty="0" sz="2400" spc="-155">
                <a:solidFill>
                  <a:srgbClr val="6E7780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90">
                <a:latin typeface="Lucida Sans Unicode"/>
                <a:cs typeface="Lucida Sans Unicode"/>
              </a:rPr>
              <a:t>reason.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4102100"/>
            <a:ext cx="17462500" cy="546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2717800"/>
            <a:ext cx="17462500" cy="9144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00" y="838200"/>
            <a:ext cx="17462500" cy="67310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2700" y="1651000"/>
            <a:ext cx="17449800" cy="355600"/>
          </a:xfrm>
          <a:custGeom>
            <a:avLst/>
            <a:gdLst/>
            <a:ahLst/>
            <a:cxnLst/>
            <a:rect l="l" t="t" r="r" b="b"/>
            <a:pathLst>
              <a:path w="17449800" h="355600">
                <a:moveTo>
                  <a:pt x="17449800" y="355600"/>
                </a:moveTo>
                <a:lnTo>
                  <a:pt x="0" y="3556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55600"/>
                </a:lnTo>
                <a:close/>
              </a:path>
            </a:pathLst>
          </a:custGeom>
          <a:solidFill>
            <a:srgbClr val="0C1D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23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9"/>
              <a:t>Proving</a:t>
            </a:r>
            <a:r>
              <a:rPr dirty="0" spc="45"/>
              <a:t> </a:t>
            </a:r>
            <a:r>
              <a:rPr dirty="0" spc="-395"/>
              <a:t>the</a:t>
            </a:r>
            <a:r>
              <a:rPr dirty="0" spc="-350"/>
              <a:t> </a:t>
            </a:r>
            <a:r>
              <a:rPr dirty="0" spc="-480"/>
              <a:t>model</a:t>
            </a:r>
            <a:r>
              <a:rPr dirty="0" spc="-185"/>
              <a:t> </a:t>
            </a:r>
            <a:r>
              <a:rPr dirty="0" spc="-415"/>
              <a:t>by</a:t>
            </a:r>
            <a:r>
              <a:rPr dirty="0" spc="-195"/>
              <a:t> </a:t>
            </a:r>
            <a:r>
              <a:rPr dirty="0" spc="-459"/>
              <a:t>simulating</a:t>
            </a:r>
            <a:r>
              <a:rPr dirty="0" spc="-25"/>
              <a:t> </a:t>
            </a:r>
            <a:r>
              <a:rPr dirty="0" spc="-360"/>
              <a:t>the</a:t>
            </a:r>
            <a:r>
              <a:rPr dirty="0" spc="-305"/>
              <a:t> </a:t>
            </a:r>
            <a:r>
              <a:rPr dirty="0" spc="-500"/>
              <a:t>2026</a:t>
            </a:r>
            <a:r>
              <a:rPr dirty="0" spc="-90"/>
              <a:t> </a:t>
            </a:r>
            <a:r>
              <a:rPr dirty="0" spc="-440"/>
              <a:t>competitor</a:t>
            </a:r>
            <a:r>
              <a:rPr dirty="0" spc="-25"/>
              <a:t> </a:t>
            </a:r>
            <a:r>
              <a:rPr dirty="0" spc="-409"/>
              <a:t>launch.</a:t>
            </a:r>
          </a:p>
        </p:txBody>
      </p:sp>
      <p:sp>
        <p:nvSpPr>
          <p:cNvPr id="7" name="object 7" descr=""/>
          <p:cNvSpPr/>
          <p:nvPr/>
        </p:nvSpPr>
        <p:spPr>
          <a:xfrm>
            <a:off x="12700" y="4851400"/>
            <a:ext cx="17449800" cy="330200"/>
          </a:xfrm>
          <a:custGeom>
            <a:avLst/>
            <a:gdLst/>
            <a:ahLst/>
            <a:cxnLst/>
            <a:rect l="l" t="t" r="r" b="b"/>
            <a:pathLst>
              <a:path w="17449800" h="330200">
                <a:moveTo>
                  <a:pt x="17449800" y="330200"/>
                </a:moveTo>
                <a:lnTo>
                  <a:pt x="0" y="3302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30200"/>
                </a:lnTo>
                <a:close/>
              </a:path>
            </a:pathLst>
          </a:custGeom>
          <a:solidFill>
            <a:srgbClr val="0C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670786" y="4731102"/>
            <a:ext cx="144653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65">
                <a:solidFill>
                  <a:srgbClr val="FFFFFF"/>
                </a:solidFill>
                <a:latin typeface="Lucida Sans Unicode"/>
                <a:cs typeface="Lucida Sans Unicode"/>
              </a:rPr>
              <a:t>Jan</a:t>
            </a:r>
            <a:r>
              <a:rPr dirty="0" sz="2850" spc="-2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60">
                <a:solidFill>
                  <a:srgbClr val="FFFFFF"/>
                </a:solidFill>
                <a:latin typeface="Lucida Sans Unicode"/>
                <a:cs typeface="Lucida Sans Unicode"/>
              </a:rPr>
              <a:t>2026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467472" y="4739922"/>
            <a:ext cx="217868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65">
                <a:solidFill>
                  <a:srgbClr val="FFFFFF"/>
                </a:solidFill>
                <a:latin typeface="Lucida Sans Unicode"/>
                <a:cs typeface="Lucida Sans Unicode"/>
              </a:rPr>
              <a:t>April</a:t>
            </a:r>
            <a:r>
              <a:rPr dirty="0" sz="2750" spc="-4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55">
                <a:solidFill>
                  <a:srgbClr val="FFFFFF"/>
                </a:solidFill>
                <a:latin typeface="Lucida Sans Unicode"/>
                <a:cs typeface="Lucida Sans Unicode"/>
              </a:rPr>
              <a:t>10,</a:t>
            </a:r>
            <a:r>
              <a:rPr dirty="0" sz="2750" spc="-3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90">
                <a:solidFill>
                  <a:srgbClr val="FFFFFF"/>
                </a:solidFill>
                <a:latin typeface="Lucida Sans Unicode"/>
                <a:cs typeface="Lucida Sans Unicode"/>
              </a:rPr>
              <a:t>2026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910832" y="4722283"/>
            <a:ext cx="1679575" cy="4699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00" spc="114">
                <a:solidFill>
                  <a:srgbClr val="FFFFFF"/>
                </a:solidFill>
                <a:latin typeface="Calibri"/>
                <a:cs typeface="Calibri"/>
              </a:rPr>
              <a:t>June</a:t>
            </a:r>
            <a:r>
              <a:rPr dirty="0" sz="29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9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160446" y="4748741"/>
            <a:ext cx="155384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00">
                <a:solidFill>
                  <a:srgbClr val="FFFFFF"/>
                </a:solidFill>
                <a:latin typeface="Lucida Sans Unicode"/>
                <a:cs typeface="Lucida Sans Unicode"/>
              </a:rPr>
              <a:t>Aug</a:t>
            </a:r>
            <a:r>
              <a:rPr dirty="0" sz="2700" spc="-2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90">
                <a:solidFill>
                  <a:srgbClr val="FFFFFF"/>
                </a:solidFill>
                <a:latin typeface="Lucida Sans Unicode"/>
                <a:cs typeface="Lucida Sans Unicode"/>
              </a:rPr>
              <a:t>2026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308379" y="4739922"/>
            <a:ext cx="1647189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40">
                <a:solidFill>
                  <a:srgbClr val="FFFFFF"/>
                </a:solidFill>
                <a:latin typeface="Lucida Sans Unicode"/>
                <a:cs typeface="Lucida Sans Unicode"/>
              </a:rPr>
              <a:t>Sept</a:t>
            </a:r>
            <a:r>
              <a:rPr dirty="0" sz="2750" spc="-2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10">
                <a:solidFill>
                  <a:srgbClr val="FFFFFF"/>
                </a:solidFill>
                <a:latin typeface="Lucida Sans Unicode"/>
                <a:cs typeface="Lucida Sans Unicode"/>
              </a:rPr>
              <a:t>2026</a:t>
            </a:r>
            <a:endParaRPr sz="2750">
              <a:latin typeface="Lucida Sans Unicode"/>
              <a:cs typeface="Lucida Sans Unicode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700" y="5321300"/>
            <a:ext cx="17449800" cy="292100"/>
            <a:chOff x="12700" y="5321300"/>
            <a:chExt cx="17449800" cy="292100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28400" y="5334000"/>
              <a:ext cx="1219200" cy="27940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700" y="5321300"/>
              <a:ext cx="17449800" cy="292100"/>
            </a:xfrm>
            <a:custGeom>
              <a:avLst/>
              <a:gdLst/>
              <a:ahLst/>
              <a:cxnLst/>
              <a:rect l="l" t="t" r="r" b="b"/>
              <a:pathLst>
                <a:path w="17449800" h="292100">
                  <a:moveTo>
                    <a:pt x="17449800" y="292100"/>
                  </a:moveTo>
                  <a:lnTo>
                    <a:pt x="0" y="2921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292100"/>
                  </a:lnTo>
                  <a:close/>
                </a:path>
              </a:pathLst>
            </a:custGeom>
            <a:solidFill>
              <a:srgbClr val="0C1C3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345277" y="5242277"/>
            <a:ext cx="206375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2200" spc="-114">
                <a:solidFill>
                  <a:srgbClr val="FFFFFF"/>
                </a:solidFill>
                <a:latin typeface="Lucida Sans Unicode"/>
                <a:cs typeface="Lucida Sans Unicode"/>
              </a:rPr>
              <a:t>MOdeI</a:t>
            </a:r>
            <a:r>
              <a:rPr dirty="0" sz="22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40">
                <a:solidFill>
                  <a:srgbClr val="FFFFFF"/>
                </a:solidFill>
                <a:latin typeface="Lucida Sans Unicode"/>
                <a:cs typeface="Lucida Sans Unicode"/>
              </a:rPr>
              <a:t>Finalized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351065" y="5198180"/>
            <a:ext cx="240601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2550" spc="-290">
                <a:solidFill>
                  <a:srgbClr val="FFFFFF"/>
                </a:solidFill>
                <a:latin typeface="Lucida Sans Unicode"/>
                <a:cs typeface="Lucida Sans Unicode"/>
              </a:rPr>
              <a:t>FDA</a:t>
            </a:r>
            <a:r>
              <a:rPr dirty="0" sz="2550" spc="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70">
                <a:solidFill>
                  <a:srgbClr val="FFFFFF"/>
                </a:solidFill>
                <a:latin typeface="Lucida Sans Unicode"/>
                <a:cs typeface="Lucida Sans Unicode"/>
              </a:rPr>
              <a:t>Target</a:t>
            </a:r>
            <a:r>
              <a:rPr dirty="0" sz="25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15">
                <a:solidFill>
                  <a:srgbClr val="FFFFFF"/>
                </a:solidFill>
                <a:latin typeface="Lucida Sans Unicode"/>
                <a:cs typeface="Lucida Sans Unicode"/>
              </a:rPr>
              <a:t>Action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13523" y="5198180"/>
            <a:ext cx="2463800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2550" spc="-220">
                <a:solidFill>
                  <a:srgbClr val="FFFFFF"/>
                </a:solidFill>
                <a:latin typeface="Lucida Sans Unicode"/>
                <a:cs typeface="Lucida Sans Unicode"/>
              </a:rPr>
              <a:t>Initial</a:t>
            </a:r>
            <a:r>
              <a:rPr dirty="0" sz="25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50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255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155">
                <a:solidFill>
                  <a:srgbClr val="FFFFFF"/>
                </a:solidFill>
                <a:latin typeface="Lucida Sans Unicode"/>
                <a:cs typeface="Lucida Sans Unicode"/>
              </a:rPr>
              <a:t>Read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142770" y="5198180"/>
            <a:ext cx="1977389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2550" spc="-240">
                <a:solidFill>
                  <a:srgbClr val="FFFFFF"/>
                </a:solidFill>
                <a:latin typeface="Lucida Sans Unicode"/>
                <a:cs typeface="Lucida Sans Unicode"/>
              </a:rPr>
              <a:t>Maritide</a:t>
            </a:r>
            <a:r>
              <a:rPr dirty="0" sz="25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50" spc="-210">
                <a:solidFill>
                  <a:srgbClr val="FFFFFF"/>
                </a:solidFill>
                <a:latin typeface="Lucida Sans Unicode"/>
                <a:cs typeface="Lucida Sans Unicode"/>
              </a:rPr>
              <a:t>Model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2700" y="5651500"/>
            <a:ext cx="17449800" cy="292100"/>
          </a:xfrm>
          <a:custGeom>
            <a:avLst/>
            <a:gdLst/>
            <a:ahLst/>
            <a:cxnLst/>
            <a:rect l="l" t="t" r="r" b="b"/>
            <a:pathLst>
              <a:path w="17449800" h="292100">
                <a:moveTo>
                  <a:pt x="17449800" y="292100"/>
                </a:moveTo>
                <a:lnTo>
                  <a:pt x="0" y="292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92100"/>
                </a:lnTo>
                <a:close/>
              </a:path>
            </a:pathLst>
          </a:custGeom>
          <a:solidFill>
            <a:srgbClr val="0C1C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946659" y="5558719"/>
            <a:ext cx="282194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(Ba</a:t>
            </a:r>
            <a:r>
              <a:rPr dirty="0" sz="2400" spc="-4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60">
                <a:solidFill>
                  <a:srgbClr val="FFFFFF"/>
                </a:solidFill>
                <a:latin typeface="Lucida Sans Unicode"/>
                <a:cs typeface="Lucida Sans Unicode"/>
              </a:rPr>
              <a:t>seline</a:t>
            </a:r>
            <a:r>
              <a:rPr dirty="0" sz="24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30">
                <a:solidFill>
                  <a:srgbClr val="FFFFFF"/>
                </a:solidFill>
                <a:latin typeface="Lucida Sans Unicode"/>
                <a:cs typeface="Lucida Sans Unicode"/>
              </a:rPr>
              <a:t>Predictions)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619410" y="5558719"/>
            <a:ext cx="185166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Date</a:t>
            </a:r>
            <a:r>
              <a:rPr dirty="0" sz="24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30">
                <a:solidFill>
                  <a:srgbClr val="FFFFFF"/>
                </a:solidFill>
                <a:latin typeface="Lucida Sans Unicode"/>
                <a:cs typeface="Lucida Sans Unicode"/>
              </a:rPr>
              <a:t>{Launch)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499860" y="5558719"/>
            <a:ext cx="2494280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130">
                <a:solidFill>
                  <a:srgbClr val="FFFFFF"/>
                </a:solidFill>
                <a:latin typeface="Lucida Sans Unicode"/>
                <a:cs typeface="Lucida Sans Unicode"/>
              </a:rPr>
              <a:t>(First</a:t>
            </a:r>
            <a:r>
              <a:rPr dirty="0" sz="24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440">
                <a:solidFill>
                  <a:srgbClr val="FFFFFF"/>
                </a:solidFill>
                <a:latin typeface="Lucida Sans Unicode"/>
                <a:cs typeface="Lucida Sans Unicode"/>
              </a:rPr>
              <a:t>90—</a:t>
            </a:r>
            <a:r>
              <a:rPr dirty="0" sz="2400" spc="-335">
                <a:solidFill>
                  <a:srgbClr val="FFFFFF"/>
                </a:solidFill>
                <a:latin typeface="Lucida Sans Unicode"/>
                <a:cs typeface="Lucida Sans Unicode"/>
              </a:rPr>
              <a:t>day</a:t>
            </a:r>
            <a:r>
              <a:rPr dirty="0" sz="2400" spc="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0">
                <a:solidFill>
                  <a:srgbClr val="FFFFFF"/>
                </a:solidFill>
                <a:latin typeface="Lucida Sans Unicode"/>
                <a:cs typeface="Lucida Sans Unicode"/>
              </a:rPr>
              <a:t>Data)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0814974" y="5558719"/>
            <a:ext cx="225742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400" spc="-180">
                <a:solidFill>
                  <a:srgbClr val="FFFFFF"/>
                </a:solidFill>
                <a:latin typeface="Lucida Sans Unicode"/>
                <a:cs typeface="Lucida Sans Unicode"/>
              </a:rPr>
              <a:t>Validation</a:t>
            </a:r>
            <a:r>
              <a:rPr dirty="0" sz="24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Lucida Sans Unicode"/>
                <a:cs typeface="Lucida Sans Unicode"/>
              </a:rPr>
              <a:t>Report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4261172" y="5585177"/>
            <a:ext cx="170815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2200" spc="-95">
                <a:solidFill>
                  <a:srgbClr val="FFFFFF"/>
                </a:solidFill>
                <a:latin typeface="Lucida Sans Unicode"/>
                <a:cs typeface="Lucida Sans Unicode"/>
              </a:rPr>
              <a:t>RecalibŁätiOn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2700" y="7035800"/>
            <a:ext cx="17449800" cy="546100"/>
          </a:xfrm>
          <a:custGeom>
            <a:avLst/>
            <a:gdLst/>
            <a:ahLst/>
            <a:cxnLst/>
            <a:rect l="l" t="t" r="r" b="b"/>
            <a:pathLst>
              <a:path w="17449800" h="546100">
                <a:moveTo>
                  <a:pt x="17449800" y="546100"/>
                </a:moveTo>
                <a:lnTo>
                  <a:pt x="0" y="546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546100"/>
                </a:lnTo>
                <a:close/>
              </a:path>
            </a:pathLst>
          </a:custGeom>
          <a:solidFill>
            <a:srgbClr val="0C1D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899801" y="6851297"/>
            <a:ext cx="13710285" cy="734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650" spc="-300">
                <a:solidFill>
                  <a:srgbClr val="E8BA6E"/>
                </a:solidFill>
                <a:latin typeface="Lucida Sans Unicode"/>
                <a:cs typeface="Lucida Sans Unicode"/>
              </a:rPr>
              <a:t>Target</a:t>
            </a:r>
            <a:r>
              <a:rPr dirty="0" sz="4650" spc="-70">
                <a:solidFill>
                  <a:srgbClr val="E8BA6E"/>
                </a:solidFill>
                <a:latin typeface="Lucida Sans Unicode"/>
                <a:cs typeface="Lucida Sans Unicode"/>
              </a:rPr>
              <a:t> </a:t>
            </a:r>
            <a:r>
              <a:rPr dirty="0" sz="4650" spc="-175">
                <a:solidFill>
                  <a:srgbClr val="D6B582"/>
                </a:solidFill>
                <a:latin typeface="Lucida Sans Unicode"/>
                <a:cs typeface="Lucida Sans Unicode"/>
              </a:rPr>
              <a:t>Accuracy:</a:t>
            </a:r>
            <a:r>
              <a:rPr dirty="0" sz="4650" spc="-195">
                <a:solidFill>
                  <a:srgbClr val="D6B582"/>
                </a:solidFill>
                <a:latin typeface="Lucida Sans Unicode"/>
                <a:cs typeface="Lucida Sans Unicode"/>
              </a:rPr>
              <a:t> </a:t>
            </a:r>
            <a:r>
              <a:rPr dirty="0" sz="4650">
                <a:solidFill>
                  <a:srgbClr val="3D1F00"/>
                </a:solidFill>
                <a:latin typeface="Lucida Sans Unicode"/>
                <a:cs typeface="Lucida Sans Unicode"/>
              </a:rPr>
              <a:t>60%</a:t>
            </a:r>
            <a:r>
              <a:rPr dirty="0" sz="4650" spc="-130">
                <a:solidFill>
                  <a:srgbClr val="3D1F00"/>
                </a:solidFill>
                <a:latin typeface="Lucida Sans Unicode"/>
                <a:cs typeface="Lucida Sans Unicode"/>
              </a:rPr>
              <a:t> </a:t>
            </a:r>
            <a:r>
              <a:rPr dirty="0" sz="4650" spc="-260">
                <a:solidFill>
                  <a:srgbClr val="EDBD6E"/>
                </a:solidFill>
                <a:latin typeface="Lucida Sans Unicode"/>
                <a:cs typeface="Lucida Sans Unicode"/>
              </a:rPr>
              <a:t>Initial</a:t>
            </a:r>
            <a:r>
              <a:rPr dirty="0" sz="4650" spc="-210">
                <a:solidFill>
                  <a:srgbClr val="EDBD6E"/>
                </a:solidFill>
                <a:latin typeface="Lucida Sans Unicode"/>
                <a:cs typeface="Lucida Sans Unicode"/>
              </a:rPr>
              <a:t> </a:t>
            </a:r>
            <a:r>
              <a:rPr dirty="0" sz="4650" spc="-1110">
                <a:solidFill>
                  <a:srgbClr val="F4AC49"/>
                </a:solidFill>
                <a:latin typeface="Lucida Sans Unicode"/>
                <a:cs typeface="Lucida Sans Unicode"/>
              </a:rPr>
              <a:t>-</a:t>
            </a:r>
            <a:r>
              <a:rPr dirty="0" sz="4650" spc="-1520">
                <a:solidFill>
                  <a:srgbClr val="F4AC49"/>
                </a:solidFill>
                <a:latin typeface="Lucida Sans Unicode"/>
                <a:cs typeface="Lucida Sans Unicode"/>
              </a:rPr>
              <a:t>+</a:t>
            </a:r>
            <a:r>
              <a:rPr dirty="0" sz="4650" spc="-215">
                <a:solidFill>
                  <a:srgbClr val="F4AC49"/>
                </a:solidFill>
                <a:latin typeface="Lucida Sans Unicode"/>
                <a:cs typeface="Lucida Sans Unicode"/>
              </a:rPr>
              <a:t> </a:t>
            </a:r>
            <a:r>
              <a:rPr dirty="0" sz="4650">
                <a:solidFill>
                  <a:srgbClr val="412100"/>
                </a:solidFill>
                <a:latin typeface="Lucida Sans Unicode"/>
                <a:cs typeface="Lucida Sans Unicode"/>
              </a:rPr>
              <a:t>80%</a:t>
            </a:r>
            <a:r>
              <a:rPr dirty="0" sz="4650" spc="-5">
                <a:solidFill>
                  <a:srgbClr val="412100"/>
                </a:solidFill>
                <a:latin typeface="Lucida Sans Unicode"/>
                <a:cs typeface="Lucida Sans Unicode"/>
              </a:rPr>
              <a:t> </a:t>
            </a:r>
            <a:r>
              <a:rPr dirty="0" sz="4650" spc="-210">
                <a:solidFill>
                  <a:srgbClr val="D8B170"/>
                </a:solidFill>
                <a:latin typeface="Lucida Sans Unicode"/>
                <a:cs typeface="Lucida Sans Unicode"/>
              </a:rPr>
              <a:t>Post-</a:t>
            </a:r>
            <a:r>
              <a:rPr dirty="0" sz="4650" spc="-140">
                <a:solidFill>
                  <a:srgbClr val="D8B170"/>
                </a:solidFill>
                <a:latin typeface="Lucida Sans Unicode"/>
                <a:cs typeface="Lucida Sans Unicode"/>
              </a:rPr>
              <a:t>Calibration</a:t>
            </a:r>
            <a:endParaRPr sz="4650">
              <a:latin typeface="Lucida Sans Unicode"/>
              <a:cs typeface="Lucida Sans Unicode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2700" y="7785100"/>
            <a:ext cx="17449800" cy="304800"/>
          </a:xfrm>
          <a:prstGeom prst="rect">
            <a:avLst/>
          </a:prstGeom>
          <a:solidFill>
            <a:srgbClr val="0C1D31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15875">
              <a:lnSpc>
                <a:spcPts val="2270"/>
              </a:lnSpc>
            </a:pPr>
            <a:r>
              <a:rPr dirty="0" sz="2350" spc="-70">
                <a:solidFill>
                  <a:srgbClr val="FFFFFF"/>
                </a:solidFill>
                <a:latin typeface="Lucida Sans Unicode"/>
                <a:cs typeface="Lucida Sans Unicode"/>
              </a:rPr>
              <a:t>Model</a:t>
            </a:r>
            <a:r>
              <a:rPr dirty="0" sz="23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75">
                <a:solidFill>
                  <a:srgbClr val="FFFFFF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23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improvement</a:t>
            </a:r>
            <a:r>
              <a:rPr dirty="0" sz="23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5">
                <a:solidFill>
                  <a:srgbClr val="FFFFFF"/>
                </a:solidFill>
                <a:latin typeface="Lucida Sans Unicode"/>
                <a:cs typeface="Lucida Sans Unicode"/>
              </a:rPr>
              <a:t>following</a:t>
            </a:r>
            <a:r>
              <a:rPr dirty="0" sz="23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14">
                <a:solidFill>
                  <a:srgbClr val="FFFFFF"/>
                </a:solidFill>
                <a:latin typeface="Lucida Sans Unicode"/>
                <a:cs typeface="Lucida Sans Unicode"/>
              </a:rPr>
              <a:t>initial</a:t>
            </a:r>
            <a:r>
              <a:rPr dirty="0" sz="23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25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dirty="0" sz="2350" spc="-70">
                <a:solidFill>
                  <a:srgbClr val="FFFFFF"/>
                </a:solidFill>
                <a:latin typeface="Lucida Sans Unicode"/>
                <a:cs typeface="Lucida Sans Unicode"/>
              </a:rPr>
              <a:t>world</a:t>
            </a:r>
            <a:r>
              <a:rPr dirty="0" sz="2350" spc="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55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23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Lucida Sans Unicode"/>
                <a:cs typeface="Lucida Sans Unicode"/>
              </a:rPr>
              <a:t>ingestion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2700" y="8140700"/>
            <a:ext cx="17449800" cy="304800"/>
          </a:xfrm>
          <a:prstGeom prst="rect">
            <a:avLst/>
          </a:prstGeom>
          <a:solidFill>
            <a:srgbClr val="0C1D31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4445">
              <a:lnSpc>
                <a:spcPts val="2260"/>
              </a:lnSpc>
            </a:pPr>
            <a:r>
              <a:rPr dirty="0" sz="2300" spc="-2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3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50">
                <a:solidFill>
                  <a:srgbClr val="FFFFFF"/>
                </a:solidFill>
                <a:latin typeface="Lucida Sans Unicode"/>
                <a:cs typeface="Lucida Sans Unicode"/>
              </a:rPr>
              <a:t>recalibration</a:t>
            </a:r>
            <a:r>
              <a:rPr dirty="0" sz="230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0">
                <a:solidFill>
                  <a:srgbClr val="FFFFFF"/>
                </a:solidFill>
                <a:latin typeface="Lucida Sans Unicode"/>
                <a:cs typeface="Lucida Sans Unicode"/>
              </a:rPr>
              <a:t>against</a:t>
            </a:r>
            <a:r>
              <a:rPr dirty="0" sz="23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55">
                <a:solidFill>
                  <a:srgbClr val="FFFFFF"/>
                </a:solidFill>
                <a:latin typeface="Lucida Sans Unicode"/>
                <a:cs typeface="Lucida Sans Unicode"/>
              </a:rPr>
              <a:t>OrfOrgl</a:t>
            </a:r>
            <a:r>
              <a:rPr dirty="0" sz="23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75">
                <a:solidFill>
                  <a:srgbClr val="FFFFFF"/>
                </a:solidFill>
                <a:latin typeface="Lucida Sans Unicode"/>
                <a:cs typeface="Lucida Sans Unicode"/>
              </a:rPr>
              <a:t>pron</a:t>
            </a:r>
            <a:r>
              <a:rPr dirty="0" sz="23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45">
                <a:solidFill>
                  <a:srgbClr val="FFFFFF"/>
                </a:solidFill>
                <a:latin typeface="Lucida Sans Unicode"/>
                <a:cs typeface="Lucida Sans Unicode"/>
              </a:rPr>
              <a:t>launch</a:t>
            </a:r>
            <a:r>
              <a:rPr dirty="0" sz="23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Lucida Sans Unicode"/>
                <a:cs typeface="Lucida Sans Unicode"/>
              </a:rPr>
              <a:t>data.</a:t>
            </a:r>
            <a:endParaRPr sz="2300">
              <a:latin typeface="Lucida Sans Unicode"/>
              <a:cs typeface="Lucida Sans Unicode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1346200"/>
            <a:ext cx="17462500" cy="78740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346200" y="2142067"/>
            <a:ext cx="11904345" cy="67945"/>
            <a:chOff x="1346200" y="2142067"/>
            <a:chExt cx="11904345" cy="67945"/>
          </a:xfrm>
        </p:grpSpPr>
        <p:sp>
          <p:nvSpPr>
            <p:cNvPr id="4" name="object 4" descr=""/>
            <p:cNvSpPr/>
            <p:nvPr/>
          </p:nvSpPr>
          <p:spPr>
            <a:xfrm>
              <a:off x="1346200" y="2194983"/>
              <a:ext cx="11904345" cy="0"/>
            </a:xfrm>
            <a:custGeom>
              <a:avLst/>
              <a:gdLst/>
              <a:ahLst/>
              <a:cxnLst/>
              <a:rect l="l" t="t" r="r" b="b"/>
              <a:pathLst>
                <a:path w="11904344" h="0">
                  <a:moveTo>
                    <a:pt x="0" y="0"/>
                  </a:moveTo>
                  <a:lnTo>
                    <a:pt x="11904133" y="0"/>
                  </a:lnTo>
                </a:path>
              </a:pathLst>
            </a:custGeom>
            <a:ln w="29633">
              <a:solidFill>
                <a:srgbClr val="382B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46200" y="2156883"/>
              <a:ext cx="11904345" cy="0"/>
            </a:xfrm>
            <a:custGeom>
              <a:avLst/>
              <a:gdLst/>
              <a:ahLst/>
              <a:cxnLst/>
              <a:rect l="l" t="t" r="r" b="b"/>
              <a:pathLst>
                <a:path w="11904344" h="0">
                  <a:moveTo>
                    <a:pt x="0" y="0"/>
                  </a:moveTo>
                  <a:lnTo>
                    <a:pt x="11904133" y="0"/>
                  </a:lnTo>
                </a:path>
              </a:pathLst>
            </a:custGeom>
            <a:ln w="29633">
              <a:solidFill>
                <a:srgbClr val="382B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2700" y="2895600"/>
            <a:ext cx="17449800" cy="406400"/>
          </a:xfrm>
          <a:custGeom>
            <a:avLst/>
            <a:gdLst/>
            <a:ahLst/>
            <a:cxnLst/>
            <a:rect l="l" t="t" r="r" b="b"/>
            <a:pathLst>
              <a:path w="17449800" h="406400">
                <a:moveTo>
                  <a:pt x="17449800" y="406400"/>
                </a:moveTo>
                <a:lnTo>
                  <a:pt x="0" y="4064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06400"/>
                </a:lnTo>
                <a:close/>
              </a:path>
            </a:pathLst>
          </a:custGeom>
          <a:solidFill>
            <a:srgbClr val="0C1C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17076" y="2764366"/>
            <a:ext cx="11363325" cy="5334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170"/>
              <a:t>The</a:t>
            </a:r>
            <a:r>
              <a:rPr dirty="0" sz="3300" spc="-290"/>
              <a:t> </a:t>
            </a:r>
            <a:r>
              <a:rPr dirty="0" sz="3300" spc="-210"/>
              <a:t>model</a:t>
            </a:r>
            <a:r>
              <a:rPr dirty="0" sz="3300" spc="-55"/>
              <a:t> </a:t>
            </a:r>
            <a:r>
              <a:rPr dirty="0" sz="3300" spc="-155"/>
              <a:t>adapts</a:t>
            </a:r>
            <a:r>
              <a:rPr dirty="0" sz="3300" spc="-130"/>
              <a:t> </a:t>
            </a:r>
            <a:r>
              <a:rPr dirty="0" sz="3300" spc="-150"/>
              <a:t>to</a:t>
            </a:r>
            <a:r>
              <a:rPr dirty="0" sz="3300" spc="-245"/>
              <a:t> </a:t>
            </a:r>
            <a:r>
              <a:rPr dirty="0" sz="3300" spc="-200"/>
              <a:t>pricing</a:t>
            </a:r>
            <a:r>
              <a:rPr dirty="0" sz="3300" spc="-60"/>
              <a:t> </a:t>
            </a:r>
            <a:r>
              <a:rPr dirty="0" sz="3300" spc="-140"/>
              <a:t>shocks</a:t>
            </a:r>
            <a:r>
              <a:rPr dirty="0" sz="3300" spc="-20"/>
              <a:t> </a:t>
            </a:r>
            <a:r>
              <a:rPr dirty="0" sz="3300" spc="-210"/>
              <a:t>and</a:t>
            </a:r>
            <a:r>
              <a:rPr dirty="0" sz="3300" spc="-190"/>
              <a:t> </a:t>
            </a:r>
            <a:r>
              <a:rPr dirty="0" sz="3300" spc="-105"/>
              <a:t>Medicare</a:t>
            </a:r>
            <a:r>
              <a:rPr dirty="0" sz="3300" spc="-50"/>
              <a:t> </a:t>
            </a:r>
            <a:r>
              <a:rPr dirty="0" sz="3300" spc="-165"/>
              <a:t>expansion.</a:t>
            </a:r>
            <a:endParaRPr sz="3300"/>
          </a:p>
        </p:txBody>
      </p:sp>
      <p:grpSp>
        <p:nvGrpSpPr>
          <p:cNvPr id="8" name="object 8" descr=""/>
          <p:cNvGrpSpPr/>
          <p:nvPr/>
        </p:nvGrpSpPr>
        <p:grpSpPr>
          <a:xfrm>
            <a:off x="12700" y="3835400"/>
            <a:ext cx="17449800" cy="4610100"/>
            <a:chOff x="12700" y="3835400"/>
            <a:chExt cx="17449800" cy="4610100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800" y="6146800"/>
              <a:ext cx="12700" cy="22860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700" y="3835400"/>
              <a:ext cx="17449800" cy="4610100"/>
            </a:xfrm>
            <a:custGeom>
              <a:avLst/>
              <a:gdLst/>
              <a:ahLst/>
              <a:cxnLst/>
              <a:rect l="l" t="t" r="r" b="b"/>
              <a:pathLst>
                <a:path w="17449800" h="4610100">
                  <a:moveTo>
                    <a:pt x="17449800" y="4610100"/>
                  </a:moveTo>
                  <a:lnTo>
                    <a:pt x="0" y="4610100"/>
                  </a:lnTo>
                  <a:lnTo>
                    <a:pt x="0" y="0"/>
                  </a:lnTo>
                  <a:lnTo>
                    <a:pt x="17449800" y="0"/>
                  </a:lnTo>
                  <a:lnTo>
                    <a:pt x="17449800" y="4610100"/>
                  </a:lnTo>
                  <a:close/>
                </a:path>
              </a:pathLst>
            </a:custGeom>
            <a:solidFill>
              <a:srgbClr val="0A1D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455733" y="4024841"/>
            <a:ext cx="134429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0">
                <a:solidFill>
                  <a:srgbClr val="FFFFFF"/>
                </a:solidFill>
                <a:latin typeface="Lucida Sans Unicode"/>
                <a:cs typeface="Lucida Sans Unicode"/>
              </a:rPr>
              <a:t>Channel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67120" y="4024841"/>
            <a:ext cx="283845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14">
                <a:solidFill>
                  <a:srgbClr val="FFFFFF"/>
                </a:solidFill>
                <a:latin typeface="Lucida Sans Unicode"/>
                <a:cs typeface="Lucida Sans Unicode"/>
              </a:rPr>
              <a:t>EGt.</a:t>
            </a:r>
            <a:r>
              <a:rPr dirty="0" sz="2700" spc="-4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55">
                <a:solidFill>
                  <a:srgbClr val="FFFFFF"/>
                </a:solidFill>
                <a:latin typeface="Lucida Sans Unicode"/>
                <a:cs typeface="Lucida Sans Unicode"/>
              </a:rPr>
              <a:t>Monthly</a:t>
            </a:r>
            <a:r>
              <a:rPr dirty="0" sz="27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0">
                <a:solidFill>
                  <a:srgbClr val="FFFFFF"/>
                </a:solidFill>
                <a:latin typeface="Lucida Sans Unicode"/>
                <a:cs typeface="Lucida Sans Unicode"/>
              </a:rPr>
              <a:t>Cost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505621" y="4024841"/>
            <a:ext cx="217741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5">
                <a:solidFill>
                  <a:srgbClr val="FFFFFF"/>
                </a:solidFill>
                <a:latin typeface="Lucida Sans Unicode"/>
                <a:cs typeface="Lucida Sans Unicode"/>
              </a:rPr>
              <a:t>Model</a:t>
            </a:r>
            <a:r>
              <a:rPr dirty="0" sz="2700" spc="-3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30">
                <a:solidFill>
                  <a:srgbClr val="FFFFFF"/>
                </a:solidFill>
                <a:latin typeface="Lucida Sans Unicode"/>
                <a:cs typeface="Lucida Sans Unicode"/>
              </a:rPr>
              <a:t>Impact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52175" y="4858102"/>
            <a:ext cx="4364990" cy="862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385"/>
              </a:lnSpc>
              <a:spcBef>
                <a:spcPts val="95"/>
              </a:spcBef>
            </a:pPr>
            <a:r>
              <a:rPr dirty="0" sz="2850" spc="-185">
                <a:solidFill>
                  <a:srgbClr val="FFFFFF"/>
                </a:solidFill>
                <a:latin typeface="Lucida Sans Unicode"/>
                <a:cs typeface="Lucida Sans Unicode"/>
              </a:rPr>
              <a:t>Medicare</a:t>
            </a:r>
            <a:r>
              <a:rPr dirty="0" sz="285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20">
                <a:solidFill>
                  <a:srgbClr val="FFFFFF"/>
                </a:solidFill>
                <a:latin typeface="Lucida Sans Unicode"/>
                <a:cs typeface="Lucida Sans Unicode"/>
              </a:rPr>
              <a:t>Part</a:t>
            </a:r>
            <a:r>
              <a:rPr dirty="0" sz="285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345">
                <a:solidFill>
                  <a:srgbClr val="FFFFFF"/>
                </a:solidFill>
                <a:latin typeface="Lucida Sans Unicode"/>
                <a:cs typeface="Lucida Sans Unicode"/>
              </a:rPr>
              <a:t>D</a:t>
            </a:r>
            <a:r>
              <a:rPr dirty="0" sz="285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85">
                <a:solidFill>
                  <a:srgbClr val="FFFFFF"/>
                </a:solidFill>
                <a:latin typeface="Lucida Sans Unicode"/>
                <a:cs typeface="Lucida Sans Unicode"/>
              </a:rPr>
              <a:t>(Pilot</a:t>
            </a:r>
            <a:r>
              <a:rPr dirty="0" sz="28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70">
                <a:solidFill>
                  <a:srgbClr val="FFFFFF"/>
                </a:solidFill>
                <a:latin typeface="Lucida Sans Unicode"/>
                <a:cs typeface="Lucida Sans Unicode"/>
              </a:rPr>
              <a:t>st‘’‘s</a:t>
            </a:r>
            <a:endParaRPr sz="2750">
              <a:latin typeface="Lucida Sans Unicode"/>
              <a:cs typeface="Lucida Sans Unicode"/>
            </a:endParaRPr>
          </a:p>
          <a:p>
            <a:pPr marL="30480">
              <a:lnSpc>
                <a:spcPts val="3204"/>
              </a:lnSpc>
            </a:pPr>
            <a:r>
              <a:rPr dirty="0" sz="2700" spc="-200">
                <a:solidFill>
                  <a:srgbClr val="FFFFFF"/>
                </a:solidFill>
                <a:latin typeface="Lucida Sans Unicode"/>
                <a:cs typeface="Lucida Sans Unicode"/>
              </a:rPr>
              <a:t>April</a:t>
            </a:r>
            <a:r>
              <a:rPr dirty="0" sz="2700" spc="-2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365">
                <a:solidFill>
                  <a:srgbClr val="FFFFFF"/>
                </a:solidFill>
                <a:latin typeface="Lucida Sans Unicode"/>
                <a:cs typeface="Lucida Sans Unicode"/>
              </a:rPr>
              <a:t>1,</a:t>
            </a:r>
            <a:r>
              <a:rPr dirty="0" sz="27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20">
                <a:solidFill>
                  <a:srgbClr val="FFFFFF"/>
                </a:solidFill>
                <a:latin typeface="Lucida Sans Unicode"/>
                <a:cs typeface="Lucida Sans Unicode"/>
              </a:rPr>
              <a:t>2026)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261992" y="5006622"/>
            <a:ext cx="233299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00">
                <a:solidFill>
                  <a:srgbClr val="FFFFFF"/>
                </a:solidFill>
                <a:latin typeface="Lucida Sans Unicode"/>
                <a:cs typeface="Lucida Sans Unicode"/>
              </a:rPr>
              <a:t>$245</a:t>
            </a:r>
            <a:r>
              <a:rPr dirty="0" sz="27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35">
                <a:solidFill>
                  <a:srgbClr val="FFFFFF"/>
                </a:solidFill>
                <a:latin typeface="Lucida Sans Unicode"/>
                <a:cs typeface="Lucida Sans Unicode"/>
              </a:rPr>
              <a:t>(Capped)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470096" y="6327422"/>
            <a:ext cx="376809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220">
                <a:solidFill>
                  <a:srgbClr val="FFFFFF"/>
                </a:solidFill>
                <a:latin typeface="Lucida Sans Unicode"/>
                <a:cs typeface="Lucida Sans Unicode"/>
              </a:rPr>
              <a:t>TrumpRx.gov</a:t>
            </a:r>
            <a:r>
              <a:rPr dirty="0" sz="275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40">
                <a:solidFill>
                  <a:srgbClr val="FFFFFF"/>
                </a:solidFill>
                <a:latin typeface="Lucida Sans Unicode"/>
                <a:cs typeface="Lucida Sans Unicode"/>
              </a:rPr>
              <a:t>(Cash</a:t>
            </a:r>
            <a:r>
              <a:rPr dirty="0" sz="27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Lucida Sans Unicode"/>
                <a:cs typeface="Lucida Sans Unicode"/>
              </a:rPr>
              <a:t>Pay)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114978" y="6327422"/>
            <a:ext cx="100203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440">
                <a:solidFill>
                  <a:srgbClr val="000F1F"/>
                </a:solidFill>
                <a:latin typeface="Lucida Sans Unicode"/>
                <a:cs typeface="Lucida Sans Unicode"/>
              </a:rPr>
              <a:t>'</a:t>
            </a:r>
            <a:r>
              <a:rPr dirty="0" sz="2750" spc="90">
                <a:solidFill>
                  <a:srgbClr val="000F1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00">
                <a:solidFill>
                  <a:srgbClr val="FFFFFF"/>
                </a:solidFill>
                <a:latin typeface="Lucida Sans Unicode"/>
                <a:cs typeface="Lucida Sans Unicode"/>
              </a:rPr>
              <a:t>$350</a:t>
            </a:r>
            <a:endParaRPr sz="275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54642" y="7589660"/>
            <a:ext cx="322135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47675" algn="l"/>
              </a:tabLst>
            </a:pPr>
            <a:r>
              <a:rPr dirty="0" sz="2600" spc="-25">
                <a:solidFill>
                  <a:srgbClr val="FFFFFF"/>
                </a:solidFill>
                <a:latin typeface="Lucida Sans Unicode"/>
                <a:cs typeface="Lucida Sans Unicode"/>
              </a:rPr>
              <a:t>Li</a:t>
            </a:r>
            <a:r>
              <a:rPr dirty="0" sz="26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600" spc="-40">
                <a:solidFill>
                  <a:srgbClr val="FFFFFF"/>
                </a:solidFill>
                <a:latin typeface="Lucida Sans Unicode"/>
                <a:cs typeface="Lucida Sans Unicode"/>
              </a:rPr>
              <a:t>yDirect</a:t>
            </a:r>
            <a:r>
              <a:rPr dirty="0" sz="26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60">
                <a:solidFill>
                  <a:srgbClr val="FFFFFF"/>
                </a:solidFill>
                <a:latin typeface="Lucida Sans Unicode"/>
                <a:cs typeface="Lucida Sans Unicode"/>
              </a:rPr>
              <a:t>(DTC</a:t>
            </a:r>
            <a:r>
              <a:rPr dirty="0" sz="26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75">
                <a:solidFill>
                  <a:srgbClr val="FFFFFF"/>
                </a:solidFill>
                <a:latin typeface="Lucida Sans Unicode"/>
                <a:cs typeface="Lucida Sans Unicode"/>
              </a:rPr>
              <a:t>Oral)</a:t>
            </a:r>
            <a:endParaRPr sz="26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504615" y="4866922"/>
            <a:ext cx="6379845" cy="8534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ts val="3275"/>
              </a:lnSpc>
              <a:spcBef>
                <a:spcPts val="125"/>
              </a:spcBef>
            </a:pPr>
            <a:r>
              <a:rPr dirty="0" sz="2750" spc="-150">
                <a:solidFill>
                  <a:srgbClr val="FFFFFF"/>
                </a:solidFill>
                <a:latin typeface="Lucida Sans Unicode"/>
                <a:cs typeface="Lucida Sans Unicode"/>
              </a:rPr>
              <a:t>Identify</a:t>
            </a:r>
            <a:r>
              <a:rPr dirty="0" sz="27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Lucida Sans Unicode"/>
                <a:cs typeface="Lucida Sans Unicode"/>
              </a:rPr>
              <a:t>HCPs</a:t>
            </a:r>
            <a:r>
              <a:rPr dirty="0" sz="275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8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750" spc="-2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90">
                <a:solidFill>
                  <a:srgbClr val="FFFFFF"/>
                </a:solidFill>
                <a:latin typeface="Lucida Sans Unicode"/>
                <a:cs typeface="Lucida Sans Unicode"/>
              </a:rPr>
              <a:t>high</a:t>
            </a:r>
            <a:r>
              <a:rPr dirty="0" sz="27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50" spc="-180">
                <a:solidFill>
                  <a:srgbClr val="FFFFFF"/>
                </a:solidFill>
                <a:latin typeface="Lucida Sans Unicode"/>
                <a:cs typeface="Lucida Sans Unicode"/>
              </a:rPr>
              <a:t>Medicare-</a:t>
            </a:r>
            <a:r>
              <a:rPr dirty="0" sz="2750" spc="-70">
                <a:solidFill>
                  <a:srgbClr val="FFFFFF"/>
                </a:solidFill>
                <a:latin typeface="Lucida Sans Unicode"/>
                <a:cs typeface="Lucida Sans Unicode"/>
              </a:rPr>
              <a:t>eligible</a:t>
            </a:r>
            <a:endParaRPr sz="2750">
              <a:latin typeface="Lucida Sans Unicode"/>
              <a:cs typeface="Lucida Sans Unicode"/>
            </a:endParaRPr>
          </a:p>
          <a:p>
            <a:pPr marL="12700">
              <a:lnSpc>
                <a:spcPts val="3215"/>
              </a:lnSpc>
            </a:pPr>
            <a:r>
              <a:rPr dirty="0" sz="2700" spc="-110">
                <a:solidFill>
                  <a:srgbClr val="FFFFFF"/>
                </a:solidFill>
                <a:latin typeface="Lucida Sans Unicode"/>
                <a:cs typeface="Lucida Sans Unicode"/>
              </a:rPr>
              <a:t>patient</a:t>
            </a:r>
            <a:r>
              <a:rPr dirty="0" sz="27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Lucida Sans Unicode"/>
                <a:cs typeface="Lucida Sans Unicode"/>
              </a:rPr>
              <a:t>skew.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517143" y="6097763"/>
            <a:ext cx="5807710" cy="874394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 marR="5080" indent="17145">
              <a:lnSpc>
                <a:spcPts val="3100"/>
              </a:lnSpc>
              <a:spcBef>
                <a:spcPts val="605"/>
              </a:spcBef>
            </a:pPr>
            <a:r>
              <a:rPr dirty="0" sz="2950" spc="-325">
                <a:solidFill>
                  <a:srgbClr val="FFFFFF"/>
                </a:solidFill>
                <a:latin typeface="Lucida Sans Unicode"/>
                <a:cs typeface="Lucida Sans Unicode"/>
              </a:rPr>
              <a:t>Track</a:t>
            </a:r>
            <a:r>
              <a:rPr dirty="0" sz="29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330">
                <a:solidFill>
                  <a:srgbClr val="FFFFFF"/>
                </a:solidFill>
                <a:latin typeface="Lucida Sans Unicode"/>
                <a:cs typeface="Lucida Sans Unicode"/>
              </a:rPr>
              <a:t>non-</a:t>
            </a:r>
            <a:r>
              <a:rPr dirty="0" sz="2950" spc="-254">
                <a:solidFill>
                  <a:srgbClr val="FFFFFF"/>
                </a:solidFill>
                <a:latin typeface="Lucida Sans Unicode"/>
                <a:cs typeface="Lucida Sans Unicode"/>
              </a:rPr>
              <a:t>traditional</a:t>
            </a:r>
            <a:r>
              <a:rPr dirty="0" sz="295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95">
                <a:solidFill>
                  <a:srgbClr val="FFFFFF"/>
                </a:solidFill>
                <a:latin typeface="Lucida Sans Unicode"/>
                <a:cs typeface="Lucida Sans Unicode"/>
              </a:rPr>
              <a:t>adoption</a:t>
            </a:r>
            <a:r>
              <a:rPr dirty="0" sz="2950" spc="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275">
                <a:solidFill>
                  <a:srgbClr val="FFFFFF"/>
                </a:solidFill>
                <a:latin typeface="Lucida Sans Unicode"/>
                <a:cs typeface="Lucida Sans Unicode"/>
              </a:rPr>
              <a:t>signals </a:t>
            </a:r>
            <a:r>
              <a:rPr dirty="0" sz="2950" spc="-265">
                <a:solidFill>
                  <a:srgbClr val="FFFFFF"/>
                </a:solidFill>
                <a:latin typeface="Lucida Sans Unicode"/>
                <a:cs typeface="Lucida Sans Unicode"/>
              </a:rPr>
              <a:t>outside</a:t>
            </a:r>
            <a:r>
              <a:rPr dirty="0" sz="29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Lucida Sans Unicode"/>
                <a:cs typeface="Lucida Sans Unicode"/>
              </a:rPr>
              <a:t>PBMs.</a:t>
            </a:r>
            <a:endParaRPr sz="295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262923" y="7593541"/>
            <a:ext cx="274193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70">
                <a:solidFill>
                  <a:srgbClr val="FFFFFF"/>
                </a:solidFill>
                <a:latin typeface="Lucida Sans Unicode"/>
                <a:cs typeface="Lucida Sans Unicode"/>
              </a:rPr>
              <a:t>$149</a:t>
            </a:r>
            <a:r>
              <a:rPr dirty="0" sz="27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45">
                <a:solidFill>
                  <a:srgbClr val="FFFFFF"/>
                </a:solidFill>
                <a:latin typeface="Lucida Sans Unicode"/>
                <a:cs typeface="Lucida Sans Unicode"/>
              </a:rPr>
              <a:t>(Start</a:t>
            </a:r>
            <a:r>
              <a:rPr dirty="0" sz="27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65">
                <a:solidFill>
                  <a:srgbClr val="FFFFFF"/>
                </a:solidFill>
                <a:latin typeface="Lucida Sans Unicode"/>
                <a:cs typeface="Lucida Sans Unicode"/>
              </a:rPr>
              <a:t>DOse)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518321" y="7593541"/>
            <a:ext cx="590169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65">
                <a:solidFill>
                  <a:srgbClr val="FFFFFF"/>
                </a:solidFill>
                <a:latin typeface="Lucida Sans Unicode"/>
                <a:cs typeface="Lucida Sans Unicode"/>
              </a:rPr>
              <a:t>Monitor</a:t>
            </a:r>
            <a:r>
              <a:rPr dirty="0" sz="2700" spc="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130">
                <a:solidFill>
                  <a:srgbClr val="FFFFFF"/>
                </a:solidFill>
                <a:latin typeface="Lucida Sans Unicode"/>
                <a:cs typeface="Lucida Sans Unicode"/>
              </a:rPr>
              <a:t>telehealth-</a:t>
            </a:r>
            <a:r>
              <a:rPr dirty="0" sz="2700" spc="-125">
                <a:solidFill>
                  <a:srgbClr val="FFFFFF"/>
                </a:solidFill>
                <a:latin typeface="Lucida Sans Unicode"/>
                <a:cs typeface="Lucida Sans Unicode"/>
              </a:rPr>
              <a:t>friendly</a:t>
            </a:r>
            <a:r>
              <a:rPr dirty="0" sz="270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-80">
                <a:solidFill>
                  <a:srgbClr val="FFFFFF"/>
                </a:solidFill>
                <a:latin typeface="Lucida Sans Unicode"/>
                <a:cs typeface="Lucida Sans Unicode"/>
              </a:rPr>
              <a:t>physicians.</a:t>
            </a:r>
            <a:endParaRPr sz="2700">
              <a:latin typeface="Lucida Sans Unicode"/>
              <a:cs typeface="Lucida Sans Unicode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24" name="object 2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34959" y="3511550"/>
            <a:ext cx="133096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3750" spc="-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750" spc="-52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740400" y="3670300"/>
            <a:ext cx="1181100" cy="342900"/>
          </a:xfrm>
          <a:custGeom>
            <a:avLst/>
            <a:gdLst/>
            <a:ahLst/>
            <a:cxnLst/>
            <a:rect l="l" t="t" r="r" b="b"/>
            <a:pathLst>
              <a:path w="1181100" h="342900">
                <a:moveTo>
                  <a:pt x="1181100" y="342900"/>
                </a:moveTo>
                <a:lnTo>
                  <a:pt x="0" y="342900"/>
                </a:lnTo>
                <a:lnTo>
                  <a:pt x="0" y="0"/>
                </a:lnTo>
                <a:lnTo>
                  <a:pt x="1181100" y="0"/>
                </a:lnTo>
                <a:lnTo>
                  <a:pt x="1181100" y="342900"/>
                </a:lnTo>
                <a:close/>
              </a:path>
            </a:pathLst>
          </a:custGeom>
          <a:solidFill>
            <a:srgbClr val="1C36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13193" y="3511550"/>
            <a:ext cx="1202690" cy="596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135">
                <a:latin typeface="Cambria"/>
                <a:cs typeface="Cambria"/>
              </a:rPr>
              <a:t>Model</a:t>
            </a:r>
            <a:endParaRPr sz="3750">
              <a:latin typeface="Cambria"/>
              <a:cs typeface="Cambr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461500" y="3670300"/>
            <a:ext cx="1651000" cy="342900"/>
          </a:xfrm>
          <a:custGeom>
            <a:avLst/>
            <a:gdLst/>
            <a:ahLst/>
            <a:cxnLst/>
            <a:rect l="l" t="t" r="r" b="b"/>
            <a:pathLst>
              <a:path w="1651000" h="342900">
                <a:moveTo>
                  <a:pt x="1651000" y="342900"/>
                </a:moveTo>
                <a:lnTo>
                  <a:pt x="0" y="342900"/>
                </a:lnTo>
                <a:lnTo>
                  <a:pt x="0" y="0"/>
                </a:lnTo>
                <a:lnTo>
                  <a:pt x="1651000" y="0"/>
                </a:lnTo>
                <a:lnTo>
                  <a:pt x="1651000" y="342900"/>
                </a:lnTo>
                <a:close/>
              </a:path>
            </a:pathLst>
          </a:custGeom>
          <a:solidFill>
            <a:srgbClr val="2A4B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434293" y="3511550"/>
            <a:ext cx="1675764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90">
                <a:solidFill>
                  <a:srgbClr val="FFFFFF"/>
                </a:solidFill>
                <a:latin typeface="Cambria"/>
                <a:cs typeface="Cambria"/>
              </a:rPr>
              <a:t>Maritide</a:t>
            </a:r>
            <a:endParaRPr sz="3750">
              <a:latin typeface="Cambria"/>
              <a:cs typeface="Cambr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461500" y="4152900"/>
            <a:ext cx="1701800" cy="444500"/>
          </a:xfrm>
          <a:custGeom>
            <a:avLst/>
            <a:gdLst/>
            <a:ahLst/>
            <a:cxnLst/>
            <a:rect l="l" t="t" r="r" b="b"/>
            <a:pathLst>
              <a:path w="1701800" h="444500">
                <a:moveTo>
                  <a:pt x="1701800" y="444500"/>
                </a:moveTo>
                <a:lnTo>
                  <a:pt x="0" y="444500"/>
                </a:lnTo>
                <a:lnTo>
                  <a:pt x="0" y="0"/>
                </a:lnTo>
                <a:lnTo>
                  <a:pt x="1701800" y="0"/>
                </a:lnTo>
                <a:lnTo>
                  <a:pt x="1701800" y="444500"/>
                </a:lnTo>
                <a:close/>
              </a:path>
            </a:pathLst>
          </a:custGeom>
          <a:solidFill>
            <a:srgbClr val="3462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466288" y="3994150"/>
            <a:ext cx="167640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75">
                <a:solidFill>
                  <a:srgbClr val="FFFFFF"/>
                </a:solidFill>
                <a:latin typeface="Times New Roman"/>
                <a:cs typeface="Times New Roman"/>
              </a:rPr>
              <a:t>Mapping</a:t>
            </a:r>
            <a:endParaRPr sz="3750">
              <a:latin typeface="Times New Roman"/>
              <a:cs typeface="Times New Roman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200" y="2895600"/>
            <a:ext cx="8077200" cy="5918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774700"/>
            <a:ext cx="17462500" cy="6985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2700" y="1828800"/>
            <a:ext cx="17449800" cy="393700"/>
          </a:xfrm>
          <a:custGeom>
            <a:avLst/>
            <a:gdLst/>
            <a:ahLst/>
            <a:cxnLst/>
            <a:rect l="l" t="t" r="r" b="b"/>
            <a:pathLst>
              <a:path w="17449800" h="393700">
                <a:moveTo>
                  <a:pt x="17449800" y="393700"/>
                </a:moveTo>
                <a:lnTo>
                  <a:pt x="0" y="3937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393700"/>
                </a:lnTo>
                <a:close/>
              </a:path>
            </a:pathLst>
          </a:custGeom>
          <a:solidFill>
            <a:srgbClr val="0A1D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3817" y="1684866"/>
            <a:ext cx="8218805" cy="5334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275"/>
              <a:t>DeliVering</a:t>
            </a:r>
            <a:r>
              <a:rPr dirty="0" sz="3300" spc="60"/>
              <a:t> </a:t>
            </a:r>
            <a:r>
              <a:rPr dirty="0" sz="3300" spc="-204"/>
              <a:t>actionable</a:t>
            </a:r>
            <a:r>
              <a:rPr dirty="0" sz="3300" spc="-45"/>
              <a:t> </a:t>
            </a:r>
            <a:r>
              <a:rPr dirty="0" sz="3300" spc="-150"/>
              <a:t>intelrgence</a:t>
            </a:r>
            <a:r>
              <a:rPr dirty="0" sz="3300" spc="114"/>
              <a:t> </a:t>
            </a:r>
            <a:r>
              <a:rPr dirty="0" sz="3300" spc="-204"/>
              <a:t>to</a:t>
            </a:r>
            <a:r>
              <a:rPr dirty="0" sz="3300" spc="-145"/>
              <a:t> </a:t>
            </a:r>
            <a:r>
              <a:rPr dirty="0" sz="3300" spc="-200"/>
              <a:t>the</a:t>
            </a:r>
            <a:r>
              <a:rPr dirty="0" sz="3300" spc="-165"/>
              <a:t> </a:t>
            </a:r>
            <a:r>
              <a:rPr dirty="0" sz="3300" spc="-80"/>
              <a:t>field.</a:t>
            </a:r>
            <a:endParaRPr sz="3300"/>
          </a:p>
        </p:txBody>
      </p:sp>
      <p:sp>
        <p:nvSpPr>
          <p:cNvPr id="6" name="object 6" descr=""/>
          <p:cNvSpPr/>
          <p:nvPr/>
        </p:nvSpPr>
        <p:spPr>
          <a:xfrm>
            <a:off x="9829800" y="2895600"/>
            <a:ext cx="6591300" cy="5905500"/>
          </a:xfrm>
          <a:custGeom>
            <a:avLst/>
            <a:gdLst/>
            <a:ahLst/>
            <a:cxnLst/>
            <a:rect l="l" t="t" r="r" b="b"/>
            <a:pathLst>
              <a:path w="6591300" h="5905500">
                <a:moveTo>
                  <a:pt x="6591300" y="5905500"/>
                </a:moveTo>
                <a:lnTo>
                  <a:pt x="0" y="5905500"/>
                </a:lnTo>
                <a:lnTo>
                  <a:pt x="0" y="0"/>
                </a:lnTo>
                <a:lnTo>
                  <a:pt x="6591300" y="0"/>
                </a:lnTo>
                <a:lnTo>
                  <a:pt x="6591300" y="5905500"/>
                </a:lnTo>
                <a:close/>
              </a:path>
            </a:pathLst>
          </a:custGeom>
          <a:solidFill>
            <a:srgbClr val="07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807940" y="3018013"/>
            <a:ext cx="6617334" cy="42659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0795">
              <a:lnSpc>
                <a:spcPct val="100000"/>
              </a:lnSpc>
              <a:spcBef>
                <a:spcPts val="135"/>
              </a:spcBef>
            </a:pPr>
            <a:r>
              <a:rPr dirty="0" sz="4200" spc="-100">
                <a:solidFill>
                  <a:srgbClr val="FFFFFF"/>
                </a:solidFill>
                <a:latin typeface="Cambria"/>
                <a:cs typeface="Cambria"/>
              </a:rPr>
              <a:t>Use</a:t>
            </a:r>
            <a:r>
              <a:rPr dirty="0" sz="4200" spc="-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4200" spc="-10">
                <a:solidFill>
                  <a:srgbClr val="FFFFFF"/>
                </a:solidFill>
                <a:latin typeface="Cambria"/>
                <a:cs typeface="Cambria"/>
              </a:rPr>
              <a:t>Cases:</a:t>
            </a:r>
            <a:endParaRPr sz="4200">
              <a:latin typeface="Cambria"/>
              <a:cs typeface="Cambria"/>
            </a:endParaRPr>
          </a:p>
          <a:p>
            <a:pPr marL="639445" marR="295275" indent="-635635">
              <a:lnSpc>
                <a:spcPct val="105800"/>
              </a:lnSpc>
              <a:spcBef>
                <a:spcPts val="2580"/>
              </a:spcBef>
              <a:tabLst>
                <a:tab pos="649605" algn="l"/>
                <a:tab pos="4198620" algn="l"/>
                <a:tab pos="5398135" algn="l"/>
              </a:tabLst>
            </a:pPr>
            <a:r>
              <a:rPr dirty="0" sz="2600" spc="-50">
                <a:solidFill>
                  <a:srgbClr val="CFBFA7"/>
                </a:solidFill>
                <a:latin typeface="Cambria"/>
                <a:cs typeface="Cambria"/>
              </a:rPr>
              <a:t>-</a:t>
            </a:r>
            <a:r>
              <a:rPr dirty="0" sz="2600">
                <a:solidFill>
                  <a:srgbClr val="CFBFA7"/>
                </a:solidFill>
                <a:latin typeface="Cambria"/>
                <a:cs typeface="Cambria"/>
              </a:rPr>
              <a:t>		</a:t>
            </a:r>
            <a:r>
              <a:rPr dirty="0" sz="2600">
                <a:solidFill>
                  <a:srgbClr val="FFFFFF"/>
                </a:solidFill>
                <a:latin typeface="Cambria"/>
                <a:cs typeface="Cambria"/>
              </a:rPr>
              <a:t>Field</a:t>
            </a:r>
            <a:r>
              <a:rPr dirty="0" sz="2600" spc="4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600" spc="50">
                <a:solidFill>
                  <a:srgbClr val="FFFFFF"/>
                </a:solidFill>
                <a:latin typeface="Cambria"/>
                <a:cs typeface="Cambria"/>
              </a:rPr>
              <a:t>Force:</a:t>
            </a:r>
            <a:r>
              <a:rPr dirty="0" sz="2600" spc="4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mbria"/>
                <a:cs typeface="Cambria"/>
              </a:rPr>
              <a:t>Prioritized</a:t>
            </a:r>
            <a:r>
              <a:rPr dirty="0" sz="26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2600" spc="-10">
                <a:solidFill>
                  <a:srgbClr val="FFFFFF"/>
                </a:solidFill>
                <a:latin typeface="Cambria"/>
                <a:cs typeface="Cambria"/>
              </a:rPr>
              <a:t>routing</a:t>
            </a:r>
            <a:r>
              <a:rPr dirty="0" sz="26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2600" spc="114">
                <a:solidFill>
                  <a:srgbClr val="FFFFFF"/>
                </a:solidFill>
                <a:latin typeface="Cambria"/>
                <a:cs typeface="Cambria"/>
              </a:rPr>
              <a:t>based </a:t>
            </a:r>
            <a:r>
              <a:rPr dirty="0" sz="2600" spc="65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dirty="0" sz="2600" spc="1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600">
                <a:solidFill>
                  <a:srgbClr val="FFFFFF"/>
                </a:solidFill>
                <a:latin typeface="Cambria"/>
                <a:cs typeface="Cambria"/>
              </a:rPr>
              <a:t>'Why</a:t>
            </a:r>
            <a:r>
              <a:rPr dirty="0" sz="2600" spc="3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600" spc="50">
                <a:solidFill>
                  <a:srgbClr val="FFFFFF"/>
                </a:solidFill>
                <a:latin typeface="Cambria"/>
                <a:cs typeface="Cambria"/>
              </a:rPr>
              <a:t>Now'</a:t>
            </a:r>
            <a:r>
              <a:rPr dirty="0" sz="2600" spc="24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Cambria"/>
                <a:cs typeface="Cambria"/>
              </a:rPr>
              <a:t>ratiOnale.</a:t>
            </a:r>
            <a:endParaRPr sz="2600">
              <a:latin typeface="Cambria"/>
              <a:cs typeface="Cambria"/>
            </a:endParaRPr>
          </a:p>
          <a:p>
            <a:pPr marL="645795" indent="-645795">
              <a:lnSpc>
                <a:spcPts val="3625"/>
              </a:lnSpc>
              <a:spcBef>
                <a:spcPts val="2430"/>
              </a:spcBef>
              <a:buClr>
                <a:srgbClr val="CFBFA7"/>
              </a:buClr>
              <a:buChar char="-"/>
              <a:tabLst>
                <a:tab pos="645795" algn="l"/>
                <a:tab pos="2373630" algn="l"/>
              </a:tabLst>
            </a:pPr>
            <a:r>
              <a:rPr dirty="0" sz="3250" spc="-305">
                <a:solidFill>
                  <a:srgbClr val="FFFFFF"/>
                </a:solidFill>
                <a:latin typeface="Cambria"/>
                <a:cs typeface="Cambria"/>
              </a:rPr>
              <a:t>Marketing</a:t>
            </a:r>
            <a:r>
              <a:rPr dirty="0" sz="325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3250" spc="-160">
                <a:solidFill>
                  <a:srgbClr val="FFFFFF"/>
                </a:solidFill>
                <a:latin typeface="Cambria"/>
                <a:cs typeface="Cambria"/>
              </a:rPr>
              <a:t>Segment-</a:t>
            </a:r>
            <a:r>
              <a:rPr dirty="0" sz="3250" spc="-10">
                <a:solidFill>
                  <a:srgbClr val="FFFFFF"/>
                </a:solidFill>
                <a:latin typeface="Cambria"/>
                <a:cs typeface="Cambria"/>
              </a:rPr>
              <a:t>specific</a:t>
            </a:r>
            <a:endParaRPr sz="3250">
              <a:latin typeface="Cambria"/>
              <a:cs typeface="Cambria"/>
            </a:endParaRPr>
          </a:p>
          <a:p>
            <a:pPr marL="652780">
              <a:lnSpc>
                <a:spcPts val="3565"/>
              </a:lnSpc>
              <a:tabLst>
                <a:tab pos="2411730" algn="l"/>
                <a:tab pos="4665980" algn="l"/>
              </a:tabLst>
            </a:pPr>
            <a:r>
              <a:rPr dirty="0" sz="3200" spc="-75">
                <a:solidFill>
                  <a:srgbClr val="FFFFFF"/>
                </a:solidFill>
                <a:latin typeface="Cambria"/>
                <a:cs typeface="Cambria"/>
              </a:rPr>
              <a:t>messaging</a:t>
            </a:r>
            <a:r>
              <a:rPr dirty="0" sz="32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3200" spc="-90">
                <a:solidFill>
                  <a:srgbClr val="FFFFFF"/>
                </a:solidFill>
                <a:latin typeface="Cambria"/>
                <a:cs typeface="Cambria"/>
              </a:rPr>
              <a:t>(Convenience</a:t>
            </a:r>
            <a:r>
              <a:rPr dirty="0" sz="32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3200" spc="-60">
                <a:solidFill>
                  <a:srgbClr val="FFFFFF"/>
                </a:solidFill>
                <a:latin typeface="Cambria"/>
                <a:cs typeface="Cambria"/>
              </a:rPr>
              <a:t>vs.</a:t>
            </a:r>
            <a:r>
              <a:rPr dirty="0" sz="3200" spc="-7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00" spc="-140">
                <a:solidFill>
                  <a:srgbClr val="FFFFFF"/>
                </a:solidFill>
                <a:latin typeface="Cambria"/>
                <a:cs typeface="Cambria"/>
              </a:rPr>
              <a:t>Efficacy).</a:t>
            </a:r>
            <a:endParaRPr sz="3200">
              <a:latin typeface="Cambria"/>
              <a:cs typeface="Cambria"/>
            </a:endParaRPr>
          </a:p>
          <a:p>
            <a:pPr marL="633730" marR="397510" indent="-634365">
              <a:lnSpc>
                <a:spcPts val="3300"/>
              </a:lnSpc>
              <a:spcBef>
                <a:spcPts val="2920"/>
              </a:spcBef>
              <a:buClr>
                <a:srgbClr val="CFBFA7"/>
              </a:buClr>
              <a:buChar char="-"/>
              <a:tabLst>
                <a:tab pos="643890" algn="l"/>
                <a:tab pos="1868170" algn="l"/>
                <a:tab pos="2155825" algn="l"/>
              </a:tabLst>
            </a:pPr>
            <a:r>
              <a:rPr dirty="0" sz="3250" spc="-10">
                <a:solidFill>
                  <a:srgbClr val="FFFFFF"/>
                </a:solidFill>
                <a:latin typeface="Cambria"/>
                <a:cs typeface="Cambria"/>
              </a:rPr>
              <a:t>Strategy</a:t>
            </a:r>
            <a:r>
              <a:rPr dirty="0" sz="325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3250" spc="-204">
                <a:solidFill>
                  <a:srgbClr val="FFFFFF"/>
                </a:solidFill>
                <a:latin typeface="Cambria"/>
                <a:cs typeface="Cambria"/>
              </a:rPr>
              <a:t>Identification</a:t>
            </a:r>
            <a:r>
              <a:rPr dirty="0" sz="3250" spc="-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50" spc="-8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dirty="0" sz="3250" spc="-1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50" spc="-340">
                <a:solidFill>
                  <a:srgbClr val="FFFFFF"/>
                </a:solidFill>
                <a:latin typeface="Cambria"/>
                <a:cs typeface="Cambria"/>
              </a:rPr>
              <a:t>new</a:t>
            </a:r>
            <a:r>
              <a:rPr dirty="0" sz="3250" spc="16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50" spc="-300">
                <a:solidFill>
                  <a:srgbClr val="FFFFFF"/>
                </a:solidFill>
                <a:latin typeface="Cambria"/>
                <a:cs typeface="Cambria"/>
              </a:rPr>
              <a:t>KOLs </a:t>
            </a:r>
            <a:r>
              <a:rPr dirty="0" sz="3250" spc="-3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3250" spc="-265">
                <a:solidFill>
                  <a:srgbClr val="FFFFFF"/>
                </a:solidFill>
                <a:latin typeface="Cambria"/>
                <a:cs typeface="Cambria"/>
              </a:rPr>
              <a:t>leading</a:t>
            </a:r>
            <a:r>
              <a:rPr dirty="0" sz="325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3250" spc="-22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dirty="0" sz="3250" spc="1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50" spc="-285">
                <a:solidFill>
                  <a:srgbClr val="FFFFFF"/>
                </a:solidFill>
                <a:latin typeface="Cambria"/>
                <a:cs typeface="Cambria"/>
              </a:rPr>
              <a:t>oral</a:t>
            </a:r>
            <a:r>
              <a:rPr dirty="0" sz="3250" spc="28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3250" spc="-50">
                <a:solidFill>
                  <a:srgbClr val="FFFFFF"/>
                </a:solidFill>
                <a:latin typeface="Cambria"/>
                <a:cs typeface="Cambria"/>
              </a:rPr>
              <a:t>wave.</a:t>
            </a:r>
            <a:endParaRPr sz="3250">
              <a:latin typeface="Cambria"/>
              <a:cs typeface="Cambri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1054100"/>
            <a:ext cx="17462500" cy="6731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2700" y="2590800"/>
            <a:ext cx="17449800" cy="444500"/>
          </a:xfrm>
          <a:custGeom>
            <a:avLst/>
            <a:gdLst/>
            <a:ahLst/>
            <a:cxnLst/>
            <a:rect l="l" t="t" r="r" b="b"/>
            <a:pathLst>
              <a:path w="17449800" h="444500">
                <a:moveTo>
                  <a:pt x="17449800" y="444500"/>
                </a:moveTo>
                <a:lnTo>
                  <a:pt x="0" y="4445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44500"/>
                </a:lnTo>
                <a:close/>
              </a:path>
            </a:pathLst>
          </a:custGeom>
          <a:solidFill>
            <a:srgbClr val="0A1A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34362" y="2445455"/>
            <a:ext cx="5422900" cy="7029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50" spc="-425"/>
              <a:t>1.</a:t>
            </a:r>
            <a:r>
              <a:rPr dirty="0" sz="4450" spc="-480"/>
              <a:t> </a:t>
            </a:r>
            <a:r>
              <a:rPr dirty="0" sz="4450" spc="-165"/>
              <a:t>Immediate</a:t>
            </a:r>
            <a:r>
              <a:rPr dirty="0" sz="4450" spc="-145"/>
              <a:t> </a:t>
            </a:r>
            <a:r>
              <a:rPr dirty="0" sz="4450" spc="-60"/>
              <a:t>Actions</a:t>
            </a:r>
            <a:endParaRPr sz="4450"/>
          </a:p>
        </p:txBody>
      </p:sp>
      <p:sp>
        <p:nvSpPr>
          <p:cNvPr id="5" name="object 5" descr=""/>
          <p:cNvSpPr/>
          <p:nvPr/>
        </p:nvSpPr>
        <p:spPr>
          <a:xfrm>
            <a:off x="12700" y="3314700"/>
            <a:ext cx="17449800" cy="469900"/>
          </a:xfrm>
          <a:custGeom>
            <a:avLst/>
            <a:gdLst/>
            <a:ahLst/>
            <a:cxnLst/>
            <a:rect l="l" t="t" r="r" b="b"/>
            <a:pathLst>
              <a:path w="17449800" h="469900">
                <a:moveTo>
                  <a:pt x="17449800" y="469900"/>
                </a:moveTo>
                <a:lnTo>
                  <a:pt x="0" y="4699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69900"/>
                </a:lnTo>
                <a:close/>
              </a:path>
            </a:pathLst>
          </a:custGeom>
          <a:solidFill>
            <a:srgbClr val="0A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2700" y="3937000"/>
            <a:ext cx="17449800" cy="495300"/>
          </a:xfrm>
          <a:custGeom>
            <a:avLst/>
            <a:gdLst/>
            <a:ahLst/>
            <a:cxnLst/>
            <a:rect l="l" t="t" r="r" b="b"/>
            <a:pathLst>
              <a:path w="17449800" h="495300">
                <a:moveTo>
                  <a:pt x="17449800" y="495300"/>
                </a:moveTo>
                <a:lnTo>
                  <a:pt x="0" y="4953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953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2700" y="4584700"/>
            <a:ext cx="17449800" cy="469900"/>
          </a:xfrm>
          <a:custGeom>
            <a:avLst/>
            <a:gdLst/>
            <a:ahLst/>
            <a:cxnLst/>
            <a:rect l="l" t="t" r="r" b="b"/>
            <a:pathLst>
              <a:path w="17449800" h="469900">
                <a:moveTo>
                  <a:pt x="17449800" y="469900"/>
                </a:moveTo>
                <a:lnTo>
                  <a:pt x="0" y="4699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699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700" y="5359400"/>
            <a:ext cx="17449800" cy="546100"/>
          </a:xfrm>
          <a:custGeom>
            <a:avLst/>
            <a:gdLst/>
            <a:ahLst/>
            <a:cxnLst/>
            <a:rect l="l" t="t" r="r" b="b"/>
            <a:pathLst>
              <a:path w="17449800" h="546100">
                <a:moveTo>
                  <a:pt x="17449800" y="546100"/>
                </a:moveTo>
                <a:lnTo>
                  <a:pt x="0" y="546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546100"/>
                </a:lnTo>
                <a:close/>
              </a:path>
            </a:pathLst>
          </a:custGeom>
          <a:solidFill>
            <a:srgbClr val="0A1A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700" y="6070600"/>
            <a:ext cx="17449800" cy="495300"/>
          </a:xfrm>
          <a:custGeom>
            <a:avLst/>
            <a:gdLst/>
            <a:ahLst/>
            <a:cxnLst/>
            <a:rect l="l" t="t" r="r" b="b"/>
            <a:pathLst>
              <a:path w="17449800" h="495300">
                <a:moveTo>
                  <a:pt x="17449800" y="495300"/>
                </a:moveTo>
                <a:lnTo>
                  <a:pt x="0" y="4953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953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2700" y="6731000"/>
            <a:ext cx="17449800" cy="495300"/>
          </a:xfrm>
          <a:custGeom>
            <a:avLst/>
            <a:gdLst/>
            <a:ahLst/>
            <a:cxnLst/>
            <a:rect l="l" t="t" r="r" b="b"/>
            <a:pathLst>
              <a:path w="17449800" h="495300">
                <a:moveTo>
                  <a:pt x="17449800" y="495300"/>
                </a:moveTo>
                <a:lnTo>
                  <a:pt x="0" y="4953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953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2700" y="7531100"/>
            <a:ext cx="17449800" cy="419100"/>
          </a:xfrm>
          <a:custGeom>
            <a:avLst/>
            <a:gdLst/>
            <a:ahLst/>
            <a:cxnLst/>
            <a:rect l="l" t="t" r="r" b="b"/>
            <a:pathLst>
              <a:path w="17449800" h="419100">
                <a:moveTo>
                  <a:pt x="17449800" y="419100"/>
                </a:moveTo>
                <a:lnTo>
                  <a:pt x="0" y="4191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19100"/>
                </a:lnTo>
                <a:close/>
              </a:path>
            </a:pathLst>
          </a:custGeom>
          <a:solidFill>
            <a:srgbClr val="0A1C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700" y="8242300"/>
            <a:ext cx="17449800" cy="482600"/>
          </a:xfrm>
          <a:custGeom>
            <a:avLst/>
            <a:gdLst/>
            <a:ahLst/>
            <a:cxnLst/>
            <a:rect l="l" t="t" r="r" b="b"/>
            <a:pathLst>
              <a:path w="17449800" h="482600">
                <a:moveTo>
                  <a:pt x="17449800" y="482600"/>
                </a:moveTo>
                <a:lnTo>
                  <a:pt x="0" y="4826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82600"/>
                </a:lnTo>
                <a:close/>
              </a:path>
            </a:pathLst>
          </a:custGeom>
          <a:solidFill>
            <a:srgbClr val="0A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061169" y="3134077"/>
            <a:ext cx="13268325" cy="557911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085850" indent="-671830">
              <a:lnSpc>
                <a:spcPct val="100000"/>
              </a:lnSpc>
              <a:spcBef>
                <a:spcPts val="470"/>
              </a:spcBef>
              <a:buClr>
                <a:srgbClr val="EFC180"/>
              </a:buClr>
              <a:buChar char="-"/>
              <a:tabLst>
                <a:tab pos="1085850" algn="l"/>
              </a:tabLst>
            </a:pPr>
            <a:r>
              <a:rPr dirty="0" sz="3850" spc="-125">
                <a:solidFill>
                  <a:srgbClr val="FFFFFF"/>
                </a:solidFill>
                <a:latin typeface="Lucida Sans Unicode"/>
                <a:cs typeface="Lucida Sans Unicode"/>
              </a:rPr>
              <a:t>Secure</a:t>
            </a:r>
            <a:r>
              <a:rPr dirty="0" sz="38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95">
                <a:solidFill>
                  <a:srgbClr val="AF8C5E"/>
                </a:solidFill>
                <a:latin typeface="Lucida Sans Unicode"/>
                <a:cs typeface="Lucida Sans Unicode"/>
              </a:rPr>
              <a:t>TPA</a:t>
            </a:r>
            <a:r>
              <a:rPr dirty="0" sz="3850" spc="50">
                <a:solidFill>
                  <a:srgbClr val="AF8C5E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160">
                <a:solidFill>
                  <a:srgbClr val="FFFFFF"/>
                </a:solidFill>
                <a:latin typeface="Lucida Sans Unicode"/>
                <a:cs typeface="Lucida Sans Unicode"/>
              </a:rPr>
              <a:t>Access:</a:t>
            </a:r>
            <a:r>
              <a:rPr dirty="0" sz="38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360">
                <a:solidFill>
                  <a:srgbClr val="FFFFFF"/>
                </a:solidFill>
                <a:latin typeface="Lucida Sans Unicode"/>
                <a:cs typeface="Lucida Sans Unicode"/>
              </a:rPr>
              <a:t>Optum,</a:t>
            </a:r>
            <a:r>
              <a:rPr dirty="0" sz="38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320">
                <a:solidFill>
                  <a:srgbClr val="FFFFFF"/>
                </a:solidFill>
                <a:latin typeface="Lucida Sans Unicode"/>
                <a:cs typeface="Lucida Sans Unicode"/>
              </a:rPr>
              <a:t>IQVIA</a:t>
            </a:r>
            <a:r>
              <a:rPr dirty="0" sz="385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80">
                <a:solidFill>
                  <a:srgbClr val="FFFFFF"/>
                </a:solidFill>
                <a:latin typeface="Lucida Sans Unicode"/>
                <a:cs typeface="Lucida Sans Unicode"/>
              </a:rPr>
              <a:t>LAAD,</a:t>
            </a:r>
            <a:r>
              <a:rPr dirty="0" sz="385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310">
                <a:solidFill>
                  <a:srgbClr val="FFFFFF"/>
                </a:solidFill>
                <a:latin typeface="Lucida Sans Unicode"/>
                <a:cs typeface="Lucida Sans Unicode"/>
              </a:rPr>
              <a:t>Xponent.</a:t>
            </a:r>
            <a:endParaRPr sz="3850">
              <a:latin typeface="Lucida Sans Unicode"/>
              <a:cs typeface="Lucida Sans Unicode"/>
            </a:endParaRPr>
          </a:p>
          <a:p>
            <a:pPr marL="1093470" indent="-679450">
              <a:lnSpc>
                <a:spcPct val="100000"/>
              </a:lnSpc>
              <a:spcBef>
                <a:spcPts val="380"/>
              </a:spcBef>
              <a:buClr>
                <a:srgbClr val="EDBF7C"/>
              </a:buClr>
              <a:buChar char="-"/>
              <a:tabLst>
                <a:tab pos="1093470" algn="l"/>
              </a:tabLst>
            </a:pPr>
            <a:r>
              <a:rPr dirty="0" sz="3850" spc="-185">
                <a:solidFill>
                  <a:srgbClr val="EFBA6E"/>
                </a:solidFill>
                <a:latin typeface="Lucida Sans Unicode"/>
                <a:cs typeface="Lucida Sans Unicode"/>
              </a:rPr>
              <a:t>Align</a:t>
            </a:r>
            <a:r>
              <a:rPr dirty="0" sz="3850" spc="-434">
                <a:solidFill>
                  <a:srgbClr val="EFBA6E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120">
                <a:solidFill>
                  <a:srgbClr val="D8B88A"/>
                </a:solidFill>
                <a:latin typeface="Lucida Sans Unicode"/>
                <a:cs typeface="Lucida Sans Unicode"/>
              </a:rPr>
              <a:t>Protocol:</a:t>
            </a:r>
            <a:r>
              <a:rPr dirty="0" sz="3850" spc="-60">
                <a:solidFill>
                  <a:srgbClr val="D8B88A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165">
                <a:solidFill>
                  <a:srgbClr val="FFFFFF"/>
                </a:solidFill>
                <a:latin typeface="Lucida Sans Unicode"/>
                <a:cs typeface="Lucida Sans Unicode"/>
              </a:rPr>
              <a:t>C4</a:t>
            </a:r>
            <a:r>
              <a:rPr dirty="0" sz="3850" spc="-2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54">
                <a:solidFill>
                  <a:srgbClr val="FFFFFF"/>
                </a:solidFill>
                <a:latin typeface="Lucida Sans Unicode"/>
                <a:cs typeface="Lucida Sans Unicode"/>
              </a:rPr>
              <a:t>Center</a:t>
            </a:r>
            <a:r>
              <a:rPr dirty="0" sz="38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31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8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190">
                <a:solidFill>
                  <a:srgbClr val="FFFFFF"/>
                </a:solidFill>
                <a:latin typeface="Lucida Sans Unicode"/>
                <a:cs typeface="Lucida Sans Unicode"/>
              </a:rPr>
              <a:t>Research</a:t>
            </a:r>
            <a:r>
              <a:rPr dirty="0" sz="38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4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r>
              <a:rPr dirty="0" sz="38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85">
                <a:solidFill>
                  <a:srgbClr val="FFFFFF"/>
                </a:solidFill>
                <a:latin typeface="Lucida Sans Unicode"/>
                <a:cs typeface="Lucida Sans Unicode"/>
              </a:rPr>
              <a:t>sharing.</a:t>
            </a:r>
            <a:endParaRPr sz="3850">
              <a:latin typeface="Lucida Sans Unicode"/>
              <a:cs typeface="Lucida Sans Unicode"/>
            </a:endParaRPr>
          </a:p>
          <a:p>
            <a:pPr marL="1097280" indent="-685800">
              <a:lnSpc>
                <a:spcPct val="100000"/>
              </a:lnSpc>
              <a:spcBef>
                <a:spcPts val="80"/>
              </a:spcBef>
              <a:buClr>
                <a:srgbClr val="EBBF82"/>
              </a:buClr>
              <a:buChar char="-"/>
              <a:tabLst>
                <a:tab pos="1097280" algn="l"/>
              </a:tabLst>
            </a:pPr>
            <a:r>
              <a:rPr dirty="0" sz="4150" spc="-365">
                <a:solidFill>
                  <a:srgbClr val="FFFFFF"/>
                </a:solidFill>
                <a:latin typeface="Lucida Sans Unicode"/>
                <a:cs typeface="Lucida Sans Unicode"/>
              </a:rPr>
              <a:t>Schedule</a:t>
            </a:r>
            <a:r>
              <a:rPr dirty="0" sz="415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150" spc="-420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41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150" spc="-425">
                <a:solidFill>
                  <a:srgbClr val="FFFFFF"/>
                </a:solidFill>
                <a:latin typeface="Lucida Sans Unicode"/>
                <a:cs typeface="Lucida Sans Unicode"/>
              </a:rPr>
              <a:t>Definition</a:t>
            </a:r>
            <a:r>
              <a:rPr dirty="0" sz="4150" spc="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150" spc="-470">
                <a:solidFill>
                  <a:srgbClr val="FFFFFF"/>
                </a:solidFill>
                <a:latin typeface="Lucida Sans Unicode"/>
                <a:cs typeface="Lucida Sans Unicode"/>
              </a:rPr>
              <a:t>Workshop.</a:t>
            </a:r>
            <a:endParaRPr sz="4150">
              <a:latin typeface="Lucida Sans Unicode"/>
              <a:cs typeface="Lucida Sans Unicode"/>
            </a:endParaRPr>
          </a:p>
          <a:p>
            <a:pPr marL="638175" indent="-615315">
              <a:lnSpc>
                <a:spcPct val="100000"/>
              </a:lnSpc>
              <a:spcBef>
                <a:spcPts val="1320"/>
              </a:spcBef>
              <a:buAutoNum type="arabicPeriod" startAt="2"/>
              <a:tabLst>
                <a:tab pos="638175" algn="l"/>
              </a:tabLst>
            </a:pPr>
            <a:r>
              <a:rPr dirty="0" sz="4350">
                <a:solidFill>
                  <a:srgbClr val="FFFFFF"/>
                </a:solidFill>
                <a:latin typeface="Lucida Sans Unicode"/>
                <a:cs typeface="Lucida Sans Unicode"/>
              </a:rPr>
              <a:t>Key</a:t>
            </a:r>
            <a:r>
              <a:rPr dirty="0" sz="43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350" spc="-85">
                <a:solidFill>
                  <a:srgbClr val="FFFFFF"/>
                </a:solidFill>
                <a:latin typeface="Lucida Sans Unicode"/>
                <a:cs typeface="Lucida Sans Unicode"/>
              </a:rPr>
              <a:t>Workshop</a:t>
            </a:r>
            <a:r>
              <a:rPr dirty="0" sz="435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350" spc="-10">
                <a:solidFill>
                  <a:srgbClr val="FFFFFF"/>
                </a:solidFill>
                <a:latin typeface="Lucida Sans Unicode"/>
                <a:cs typeface="Lucida Sans Unicode"/>
              </a:rPr>
              <a:t>Decision</a:t>
            </a:r>
            <a:endParaRPr sz="4350">
              <a:latin typeface="Lucida Sans Unicode"/>
              <a:cs typeface="Lucida Sans Unicode"/>
            </a:endParaRPr>
          </a:p>
          <a:p>
            <a:pPr lvl="1" marL="1093470" indent="-679450">
              <a:lnSpc>
                <a:spcPct val="100000"/>
              </a:lnSpc>
              <a:spcBef>
                <a:spcPts val="580"/>
              </a:spcBef>
              <a:buClr>
                <a:srgbClr val="EFBF7C"/>
              </a:buClr>
              <a:buChar char="-"/>
              <a:tabLst>
                <a:tab pos="1093470" algn="l"/>
              </a:tabLst>
            </a:pPr>
            <a:r>
              <a:rPr dirty="0" sz="3850" spc="-225">
                <a:solidFill>
                  <a:srgbClr val="E1B372"/>
                </a:solidFill>
                <a:latin typeface="Lucida Sans Unicode"/>
                <a:cs typeface="Lucida Sans Unicode"/>
              </a:rPr>
              <a:t>Adoption</a:t>
            </a:r>
            <a:r>
              <a:rPr dirty="0" sz="3850" spc="-70">
                <a:solidFill>
                  <a:srgbClr val="E1B372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120">
                <a:solidFill>
                  <a:srgbClr val="CFB68A"/>
                </a:solidFill>
                <a:latin typeface="Lucida Sans Unicode"/>
                <a:cs typeface="Lucida Sans Unicode"/>
              </a:rPr>
              <a:t>Window:</a:t>
            </a:r>
            <a:r>
              <a:rPr dirty="0" sz="3850" spc="-260">
                <a:solidFill>
                  <a:srgbClr val="CFB68A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340">
                <a:solidFill>
                  <a:srgbClr val="FFFFFF"/>
                </a:solidFill>
                <a:latin typeface="Lucida Sans Unicode"/>
                <a:cs typeface="Lucida Sans Unicode"/>
              </a:rPr>
              <a:t>90-</a:t>
            </a:r>
            <a:r>
              <a:rPr dirty="0" sz="3850" spc="-310">
                <a:solidFill>
                  <a:srgbClr val="FFFFFF"/>
                </a:solidFill>
                <a:latin typeface="Lucida Sans Unicode"/>
                <a:cs typeface="Lucida Sans Unicode"/>
              </a:rPr>
              <a:t>day</a:t>
            </a:r>
            <a:r>
              <a:rPr dirty="0" sz="3850" spc="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60">
                <a:solidFill>
                  <a:srgbClr val="FFFFFF"/>
                </a:solidFill>
                <a:latin typeface="Lucida Sans Unicode"/>
                <a:cs typeface="Lucida Sans Unicode"/>
              </a:rPr>
              <a:t>(Innovator)</a:t>
            </a:r>
            <a:r>
              <a:rPr dirty="0" sz="3850" spc="4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165">
                <a:solidFill>
                  <a:srgbClr val="FFFFFF"/>
                </a:solidFill>
                <a:latin typeface="Lucida Sans Unicode"/>
                <a:cs typeface="Lucida Sans Unicode"/>
              </a:rPr>
              <a:t>vs.</a:t>
            </a:r>
            <a:r>
              <a:rPr dirty="0" sz="3850" spc="-5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340">
                <a:solidFill>
                  <a:srgbClr val="FFFFFF"/>
                </a:solidFill>
                <a:latin typeface="Lucida Sans Unicode"/>
                <a:cs typeface="Lucida Sans Unicode"/>
              </a:rPr>
              <a:t>180-</a:t>
            </a:r>
            <a:r>
              <a:rPr dirty="0" sz="3850" spc="-315">
                <a:solidFill>
                  <a:srgbClr val="FFFFFF"/>
                </a:solidFill>
                <a:latin typeface="Lucida Sans Unicode"/>
                <a:cs typeface="Lucida Sans Unicode"/>
              </a:rPr>
              <a:t>day?</a:t>
            </a:r>
            <a:endParaRPr sz="3850">
              <a:latin typeface="Lucida Sans Unicode"/>
              <a:cs typeface="Lucida Sans Unicode"/>
            </a:endParaRPr>
          </a:p>
          <a:p>
            <a:pPr lvl="1" marL="1075055" indent="-662305">
              <a:lnSpc>
                <a:spcPct val="100000"/>
              </a:lnSpc>
              <a:spcBef>
                <a:spcPts val="430"/>
              </a:spcBef>
              <a:buClr>
                <a:srgbClr val="EDBF7B"/>
              </a:buClr>
              <a:buChar char="-"/>
              <a:tabLst>
                <a:tab pos="1075055" algn="l"/>
              </a:tabLst>
            </a:pPr>
            <a:r>
              <a:rPr dirty="0" sz="4000" spc="-220">
                <a:solidFill>
                  <a:srgbClr val="E9B369"/>
                </a:solidFill>
                <a:latin typeface="Lucida Sans Unicode"/>
                <a:cs typeface="Lucida Sans Unicode"/>
              </a:rPr>
              <a:t>Hypothesis:</a:t>
            </a:r>
            <a:r>
              <a:rPr dirty="0" sz="4000" spc="-105">
                <a:solidFill>
                  <a:srgbClr val="E9B369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380">
                <a:solidFill>
                  <a:srgbClr val="FFFFFF"/>
                </a:solidFill>
                <a:latin typeface="Lucida Sans Unicode"/>
                <a:cs typeface="Lucida Sans Unicode"/>
              </a:rPr>
              <a:t>Defining</a:t>
            </a:r>
            <a:r>
              <a:rPr dirty="0" sz="4000" spc="6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340">
                <a:solidFill>
                  <a:srgbClr val="FFFFFF"/>
                </a:solidFill>
                <a:latin typeface="Lucida Sans Unicode"/>
                <a:cs typeface="Lucida Sans Unicode"/>
              </a:rPr>
              <a:t>Action</a:t>
            </a:r>
            <a:r>
              <a:rPr dirty="0" sz="400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355">
                <a:solidFill>
                  <a:srgbClr val="FFFFFF"/>
                </a:solidFill>
                <a:latin typeface="Lucida Sans Unicode"/>
                <a:cs typeface="Lucida Sans Unicode"/>
              </a:rPr>
              <a:t>Moments'</a:t>
            </a:r>
            <a:r>
              <a:rPr dirty="0" sz="40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9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4000" spc="-4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320">
                <a:solidFill>
                  <a:srgbClr val="FFFFFF"/>
                </a:solidFill>
                <a:latin typeface="Lucida Sans Unicode"/>
                <a:cs typeface="Lucida Sans Unicode"/>
              </a:rPr>
              <a:t>patient</a:t>
            </a:r>
            <a:r>
              <a:rPr dirty="0" sz="4000" spc="3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395">
                <a:solidFill>
                  <a:srgbClr val="FFFFFF"/>
                </a:solidFill>
                <a:latin typeface="Lucida Sans Unicode"/>
                <a:cs typeface="Lucida Sans Unicode"/>
              </a:rPr>
              <a:t>journey.</a:t>
            </a:r>
            <a:endParaRPr sz="4000">
              <a:latin typeface="Lucida Sans Unicode"/>
              <a:cs typeface="Lucida Sans Unicode"/>
            </a:endParaRPr>
          </a:p>
          <a:p>
            <a:pPr marL="661670" indent="-648970">
              <a:lnSpc>
                <a:spcPct val="100000"/>
              </a:lnSpc>
              <a:spcBef>
                <a:spcPts val="1350"/>
              </a:spcBef>
              <a:buAutoNum type="arabicPeriod" startAt="2"/>
              <a:tabLst>
                <a:tab pos="661670" algn="l"/>
              </a:tabLst>
            </a:pPr>
            <a:r>
              <a:rPr dirty="0" sz="4350" spc="-10">
                <a:solidFill>
                  <a:srgbClr val="FFFFFF"/>
                </a:solidFill>
                <a:latin typeface="Lucida Sans Unicode"/>
                <a:cs typeface="Lucida Sans Unicode"/>
              </a:rPr>
              <a:t>Governance</a:t>
            </a:r>
            <a:endParaRPr sz="4350">
              <a:latin typeface="Lucida Sans Unicode"/>
              <a:cs typeface="Lucida Sans Unicode"/>
            </a:endParaRPr>
          </a:p>
          <a:p>
            <a:pPr lvl="1" marL="1075055" indent="-662305">
              <a:lnSpc>
                <a:spcPct val="100000"/>
              </a:lnSpc>
              <a:spcBef>
                <a:spcPts val="330"/>
              </a:spcBef>
              <a:buClr>
                <a:srgbClr val="E8B675"/>
              </a:buClr>
              <a:buChar char="-"/>
              <a:tabLst>
                <a:tab pos="1075055" algn="l"/>
              </a:tabLst>
            </a:pPr>
            <a:r>
              <a:rPr dirty="0" sz="4000" spc="-315">
                <a:solidFill>
                  <a:srgbClr val="FFFFFF"/>
                </a:solidFill>
                <a:latin typeface="Lucida Sans Unicode"/>
                <a:cs typeface="Lucida Sans Unicode"/>
              </a:rPr>
              <a:t>Bi-</a:t>
            </a:r>
            <a:r>
              <a:rPr dirty="0" sz="4000" spc="-355">
                <a:solidFill>
                  <a:srgbClr val="FFFFFF"/>
                </a:solidFill>
                <a:latin typeface="Lucida Sans Unicode"/>
                <a:cs typeface="Lucida Sans Unicode"/>
              </a:rPr>
              <a:t>weekly</a:t>
            </a:r>
            <a:r>
              <a:rPr dirty="0" sz="4000" spc="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325">
                <a:solidFill>
                  <a:srgbClr val="FFFFFF"/>
                </a:solidFill>
                <a:latin typeface="Lucida Sans Unicode"/>
                <a:cs typeface="Lucida Sans Unicode"/>
              </a:rPr>
              <a:t>progress</a:t>
            </a:r>
            <a:r>
              <a:rPr dirty="0" sz="40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54">
                <a:solidFill>
                  <a:srgbClr val="FFFFFF"/>
                </a:solidFill>
                <a:latin typeface="Lucida Sans Unicode"/>
                <a:cs typeface="Lucida Sans Unicode"/>
              </a:rPr>
              <a:t>reviews</a:t>
            </a:r>
            <a:r>
              <a:rPr dirty="0" sz="40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355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40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65">
                <a:solidFill>
                  <a:srgbClr val="FFFFFF"/>
                </a:solidFill>
                <a:latin typeface="Lucida Sans Unicode"/>
                <a:cs typeface="Lucida Sans Unicode"/>
              </a:rPr>
              <a:t>Steering</a:t>
            </a:r>
            <a:r>
              <a:rPr dirty="0" sz="40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400">
                <a:solidFill>
                  <a:srgbClr val="FFFFFF"/>
                </a:solidFill>
                <a:latin typeface="Lucida Sans Unicode"/>
                <a:cs typeface="Lucida Sans Unicode"/>
              </a:rPr>
              <a:t>Committee.</a:t>
            </a:r>
            <a:endParaRPr sz="4000">
              <a:latin typeface="Lucida Sans Unicode"/>
              <a:cs typeface="Lucida Sans Unicode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" y="2578100"/>
            <a:ext cx="17462500" cy="26670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00" y="927100"/>
            <a:ext cx="17462500" cy="8509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2700" y="2197100"/>
            <a:ext cx="17449800" cy="228600"/>
          </a:xfrm>
          <a:custGeom>
            <a:avLst/>
            <a:gdLst/>
            <a:ahLst/>
            <a:cxnLst/>
            <a:rect l="l" t="t" r="r" b="b"/>
            <a:pathLst>
              <a:path w="17449800" h="228600">
                <a:moveTo>
                  <a:pt x="17449800" y="228600"/>
                </a:moveTo>
                <a:lnTo>
                  <a:pt x="0" y="2286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228600"/>
                </a:lnTo>
                <a:close/>
              </a:path>
            </a:pathLst>
          </a:custGeom>
          <a:solidFill>
            <a:srgbClr val="0C1D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244687" y="2082800"/>
            <a:ext cx="178244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80">
                <a:solidFill>
                  <a:srgbClr val="FFFFFF"/>
                </a:solidFill>
                <a:latin typeface="Lucida Sans Unicode"/>
                <a:cs typeface="Lucida Sans Unicode"/>
              </a:rPr>
              <a:t>Future</a:t>
            </a:r>
            <a:r>
              <a:rPr dirty="0" sz="25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340">
                <a:solidFill>
                  <a:srgbClr val="FFFFFF"/>
                </a:solidFill>
                <a:latin typeface="Lucida Sans Unicode"/>
                <a:cs typeface="Lucida Sans Unicode"/>
              </a:rPr>
              <a:t>Growth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2700" y="5753100"/>
            <a:ext cx="17449800" cy="457200"/>
          </a:xfrm>
          <a:custGeom>
            <a:avLst/>
            <a:gdLst/>
            <a:ahLst/>
            <a:cxnLst/>
            <a:rect l="l" t="t" r="r" b="b"/>
            <a:pathLst>
              <a:path w="17449800" h="457200">
                <a:moveTo>
                  <a:pt x="174498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57200"/>
                </a:lnTo>
                <a:close/>
              </a:path>
            </a:pathLst>
          </a:custGeom>
          <a:solidFill>
            <a:srgbClr val="0C1D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2700" y="6299200"/>
            <a:ext cx="17449800" cy="457200"/>
          </a:xfrm>
          <a:custGeom>
            <a:avLst/>
            <a:gdLst/>
            <a:ahLst/>
            <a:cxnLst/>
            <a:rect l="l" t="t" r="r" b="b"/>
            <a:pathLst>
              <a:path w="17449800" h="457200">
                <a:moveTo>
                  <a:pt x="174498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57200"/>
                </a:lnTo>
                <a:close/>
              </a:path>
            </a:pathLst>
          </a:custGeom>
          <a:solidFill>
            <a:srgbClr val="0C1D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700" y="7137400"/>
            <a:ext cx="17449800" cy="457200"/>
          </a:xfrm>
          <a:custGeom>
            <a:avLst/>
            <a:gdLst/>
            <a:ahLst/>
            <a:cxnLst/>
            <a:rect l="l" t="t" r="r" b="b"/>
            <a:pathLst>
              <a:path w="17449800" h="457200">
                <a:moveTo>
                  <a:pt x="174498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57200"/>
                </a:lnTo>
                <a:close/>
              </a:path>
            </a:pathLst>
          </a:custGeom>
          <a:solidFill>
            <a:srgbClr val="0A1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2700" y="7683500"/>
            <a:ext cx="17449800" cy="457200"/>
          </a:xfrm>
          <a:custGeom>
            <a:avLst/>
            <a:gdLst/>
            <a:ahLst/>
            <a:cxnLst/>
            <a:rect l="l" t="t" r="r" b="b"/>
            <a:pathLst>
              <a:path w="17449800" h="457200">
                <a:moveTo>
                  <a:pt x="174498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457200"/>
                </a:lnTo>
                <a:close/>
              </a:path>
            </a:pathLst>
          </a:custGeom>
          <a:solidFill>
            <a:srgbClr val="0C1C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2700" y="8572500"/>
            <a:ext cx="17449800" cy="571500"/>
          </a:xfrm>
          <a:custGeom>
            <a:avLst/>
            <a:gdLst/>
            <a:ahLst/>
            <a:cxnLst/>
            <a:rect l="l" t="t" r="r" b="b"/>
            <a:pathLst>
              <a:path w="17449800" h="571500">
                <a:moveTo>
                  <a:pt x="17449800" y="571500"/>
                </a:moveTo>
                <a:lnTo>
                  <a:pt x="0" y="571500"/>
                </a:lnTo>
                <a:lnTo>
                  <a:pt x="0" y="0"/>
                </a:lnTo>
                <a:lnTo>
                  <a:pt x="17449800" y="0"/>
                </a:lnTo>
                <a:lnTo>
                  <a:pt x="17449800" y="571500"/>
                </a:lnTo>
                <a:close/>
              </a:path>
            </a:pathLst>
          </a:custGeom>
          <a:solidFill>
            <a:srgbClr val="0A1C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2787681" y="5575652"/>
            <a:ext cx="11859895" cy="3577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1750">
              <a:lnSpc>
                <a:spcPts val="4810"/>
              </a:lnSpc>
              <a:spcBef>
                <a:spcPts val="95"/>
              </a:spcBef>
            </a:pPr>
            <a:r>
              <a:rPr dirty="0" sz="4100" spc="-114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dirty="0" sz="4100" spc="-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70">
                <a:solidFill>
                  <a:srgbClr val="FFFFFF"/>
                </a:solidFill>
                <a:latin typeface="Calibri"/>
                <a:cs typeface="Calibri"/>
              </a:rPr>
              <a:t>Beacon</a:t>
            </a:r>
            <a:r>
              <a:rPr dirty="0" sz="4100" spc="-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114">
                <a:solidFill>
                  <a:srgbClr val="FFFFFF"/>
                </a:solidFill>
                <a:latin typeface="Calibri"/>
                <a:cs typeface="Calibri"/>
              </a:rPr>
              <a:t>transitions</a:t>
            </a:r>
            <a:r>
              <a:rPr dirty="0" sz="41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145">
                <a:solidFill>
                  <a:srgbClr val="FFFFFF"/>
                </a:solidFill>
                <a:latin typeface="Calibri"/>
                <a:cs typeface="Calibri"/>
              </a:rPr>
              <a:t>Amgen</a:t>
            </a:r>
            <a:r>
              <a:rPr dirty="0" sz="41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29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41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90">
                <a:solidFill>
                  <a:srgbClr val="FFFFFF"/>
                </a:solidFill>
                <a:latin typeface="Calibri"/>
                <a:cs typeface="Calibri"/>
              </a:rPr>
              <a:t>reacting</a:t>
            </a:r>
            <a:r>
              <a:rPr dirty="0" sz="41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100" spc="-25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4100">
              <a:latin typeface="Calibri"/>
              <a:cs typeface="Calibri"/>
            </a:endParaRPr>
          </a:p>
          <a:p>
            <a:pPr algn="ctr" marL="107314">
              <a:lnSpc>
                <a:spcPts val="4210"/>
              </a:lnSpc>
            </a:pPr>
            <a:r>
              <a:rPr dirty="0" sz="3600" spc="-275">
                <a:solidFill>
                  <a:srgbClr val="FFFFFF"/>
                </a:solidFill>
                <a:latin typeface="Lucida Sans Unicode"/>
                <a:cs typeface="Lucida Sans Unicode"/>
              </a:rPr>
              <a:t>market</a:t>
            </a:r>
            <a:r>
              <a:rPr dirty="0" sz="36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600" spc="-195">
                <a:solidFill>
                  <a:srgbClr val="FFFFFF"/>
                </a:solidFill>
                <a:latin typeface="Lucida Sans Unicode"/>
                <a:cs typeface="Lucida Sans Unicode"/>
              </a:rPr>
              <a:t>shifts</a:t>
            </a:r>
            <a:r>
              <a:rPr dirty="0" sz="36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600" spc="-24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6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600" spc="-135">
                <a:solidFill>
                  <a:srgbClr val="C39C6E"/>
                </a:solidFill>
                <a:latin typeface="Lucida Sans Unicode"/>
                <a:cs typeface="Lucida Sans Unicode"/>
              </a:rPr>
              <a:t>anticipating</a:t>
            </a:r>
            <a:r>
              <a:rPr dirty="0" sz="3600" spc="-10">
                <a:solidFill>
                  <a:srgbClr val="C39C6E"/>
                </a:solidFill>
                <a:latin typeface="Lucida Sans Unicode"/>
                <a:cs typeface="Lucida Sans Unicode"/>
              </a:rPr>
              <a:t> </a:t>
            </a:r>
            <a:r>
              <a:rPr dirty="0" sz="3600" spc="-10">
                <a:solidFill>
                  <a:srgbClr val="E4C89A"/>
                </a:solidFill>
                <a:latin typeface="Lucida Sans Unicode"/>
                <a:cs typeface="Lucida Sans Unicode"/>
              </a:rPr>
              <a:t>them.</a:t>
            </a:r>
            <a:endParaRPr sz="3600">
              <a:latin typeface="Lucida Sans Unicode"/>
              <a:cs typeface="Lucida Sans Unicode"/>
            </a:endParaRPr>
          </a:p>
          <a:p>
            <a:pPr algn="ctr" marL="12700" marR="5080">
              <a:lnSpc>
                <a:spcPts val="4200"/>
              </a:lnSpc>
              <a:spcBef>
                <a:spcPts val="2620"/>
              </a:spcBef>
            </a:pPr>
            <a:r>
              <a:rPr dirty="0" sz="3750" spc="-15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dirty="0" sz="37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325">
                <a:solidFill>
                  <a:srgbClr val="FFFFFF"/>
                </a:solidFill>
                <a:latin typeface="Lucida Sans Unicode"/>
                <a:cs typeface="Lucida Sans Unicode"/>
              </a:rPr>
              <a:t>learning</a:t>
            </a:r>
            <a:r>
              <a:rPr dirty="0" sz="37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400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37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27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75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385">
                <a:solidFill>
                  <a:srgbClr val="FFFFFF"/>
                </a:solidFill>
                <a:latin typeface="Lucida Sans Unicode"/>
                <a:cs typeface="Lucida Sans Unicode"/>
              </a:rPr>
              <a:t>Orforglipron</a:t>
            </a:r>
            <a:r>
              <a:rPr dirty="0" sz="3750" spc="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330">
                <a:solidFill>
                  <a:srgbClr val="FFFFFF"/>
                </a:solidFill>
                <a:latin typeface="Lucida Sans Unicode"/>
                <a:cs typeface="Lucida Sans Unicode"/>
              </a:rPr>
              <a:t>launch</a:t>
            </a:r>
            <a:r>
              <a:rPr dirty="0" sz="3750" spc="-2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25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3750" spc="-2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415">
                <a:solidFill>
                  <a:srgbClr val="FFFFFF"/>
                </a:solidFill>
                <a:latin typeface="Lucida Sans Unicode"/>
                <a:cs typeface="Lucida Sans Unicode"/>
              </a:rPr>
              <a:t>2026,</a:t>
            </a:r>
            <a:r>
              <a:rPr dirty="0" sz="3750" spc="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254">
                <a:solidFill>
                  <a:srgbClr val="FFFFFF"/>
                </a:solidFill>
                <a:latin typeface="Lucida Sans Unicode"/>
                <a:cs typeface="Lucida Sans Unicode"/>
              </a:rPr>
              <a:t>we</a:t>
            </a:r>
            <a:r>
              <a:rPr dirty="0" sz="3750" spc="-2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325">
                <a:solidFill>
                  <a:srgbClr val="FFFFFF"/>
                </a:solidFill>
                <a:latin typeface="Lucida Sans Unicode"/>
                <a:cs typeface="Lucida Sans Unicode"/>
              </a:rPr>
              <a:t>ensure </a:t>
            </a:r>
            <a:r>
              <a:rPr dirty="0" sz="3750" spc="-305">
                <a:solidFill>
                  <a:srgbClr val="FFFFFF"/>
                </a:solidFill>
                <a:latin typeface="Lucida Sans Unicode"/>
                <a:cs typeface="Lucida Sans Unicode"/>
              </a:rPr>
              <a:t>Maritide</a:t>
            </a:r>
            <a:r>
              <a:rPr dirty="0" sz="375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300">
                <a:solidFill>
                  <a:srgbClr val="FFFFFF"/>
                </a:solidFill>
                <a:latin typeface="Lucida Sans Unicode"/>
                <a:cs typeface="Lucida Sans Unicode"/>
              </a:rPr>
              <a:t>captures</a:t>
            </a:r>
            <a:r>
              <a:rPr dirty="0" sz="375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27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750" spc="-3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215">
                <a:solidFill>
                  <a:srgbClr val="DFA869"/>
                </a:solidFill>
                <a:latin typeface="Lucida Sans Unicode"/>
                <a:cs typeface="Lucida Sans Unicode"/>
              </a:rPr>
              <a:t>Maintenance</a:t>
            </a:r>
            <a:r>
              <a:rPr dirty="0" sz="3750" spc="-225">
                <a:solidFill>
                  <a:srgbClr val="DFA869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285">
                <a:solidFill>
                  <a:srgbClr val="EFB159"/>
                </a:solidFill>
                <a:latin typeface="Lucida Sans Unicode"/>
                <a:cs typeface="Lucida Sans Unicode"/>
              </a:rPr>
              <a:t>market</a:t>
            </a:r>
            <a:r>
              <a:rPr dirty="0" sz="3750" spc="-180">
                <a:solidFill>
                  <a:srgbClr val="EFB159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310">
                <a:solidFill>
                  <a:srgbClr val="C39C6B"/>
                </a:solidFill>
                <a:latin typeface="Lucida Sans Unicode"/>
                <a:cs typeface="Lucida Sans Unicode"/>
              </a:rPr>
              <a:t>from</a:t>
            </a:r>
            <a:r>
              <a:rPr dirty="0" sz="3750" spc="-475">
                <a:solidFill>
                  <a:srgbClr val="C39C6B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305">
                <a:solidFill>
                  <a:srgbClr val="EDBD75"/>
                </a:solidFill>
                <a:latin typeface="Lucida Sans Unicode"/>
                <a:cs typeface="Lucida Sans Unicode"/>
              </a:rPr>
              <a:t>Day</a:t>
            </a:r>
            <a:r>
              <a:rPr dirty="0" sz="3750" spc="-600">
                <a:solidFill>
                  <a:srgbClr val="EDBD75"/>
                </a:solidFill>
                <a:latin typeface="Lucida Sans Unicode"/>
                <a:cs typeface="Lucida Sans Unicode"/>
              </a:rPr>
              <a:t> </a:t>
            </a:r>
            <a:r>
              <a:rPr dirty="0" sz="3750" spc="-440">
                <a:solidFill>
                  <a:srgbClr val="EDCD9C"/>
                </a:solidFill>
                <a:latin typeface="Lucida Sans Unicode"/>
                <a:cs typeface="Lucida Sans Unicode"/>
              </a:rPr>
              <a:t>1.</a:t>
            </a:r>
            <a:endParaRPr sz="3750">
              <a:latin typeface="Lucida Sans Unicode"/>
              <a:cs typeface="Lucida Sans Unicode"/>
            </a:endParaRPr>
          </a:p>
          <a:p>
            <a:pPr algn="ctr" marR="8255">
              <a:lnSpc>
                <a:spcPct val="100000"/>
              </a:lnSpc>
              <a:spcBef>
                <a:spcPts val="2110"/>
              </a:spcBef>
            </a:pPr>
            <a:r>
              <a:rPr dirty="0" sz="4850" spc="-45">
                <a:solidFill>
                  <a:srgbClr val="EBC890"/>
                </a:solidFill>
                <a:latin typeface="Cambria"/>
                <a:cs typeface="Cambria"/>
              </a:rPr>
              <a:t>Ready</a:t>
            </a:r>
            <a:r>
              <a:rPr dirty="0" sz="4850" spc="-150">
                <a:solidFill>
                  <a:srgbClr val="EBC890"/>
                </a:solidFill>
                <a:latin typeface="Cambria"/>
                <a:cs typeface="Cambria"/>
              </a:rPr>
              <a:t> </a:t>
            </a:r>
            <a:r>
              <a:rPr dirty="0" sz="4850" spc="-250">
                <a:solidFill>
                  <a:srgbClr val="F2BC64"/>
                </a:solidFill>
                <a:latin typeface="Cambria"/>
                <a:cs typeface="Cambria"/>
              </a:rPr>
              <a:t>fÒr</a:t>
            </a:r>
            <a:r>
              <a:rPr dirty="0" sz="4850" spc="-80">
                <a:solidFill>
                  <a:srgbClr val="F2BC64"/>
                </a:solidFill>
                <a:latin typeface="Cambria"/>
                <a:cs typeface="Cambria"/>
              </a:rPr>
              <a:t> </a:t>
            </a:r>
            <a:r>
              <a:rPr dirty="0" sz="4850" spc="-10">
                <a:solidFill>
                  <a:srgbClr val="DDB570"/>
                </a:solidFill>
                <a:latin typeface="Cambria"/>
                <a:cs typeface="Cambria"/>
              </a:rPr>
              <a:t>Mobilization.</a:t>
            </a:r>
            <a:endParaRPr sz="4850">
              <a:latin typeface="Cambria"/>
              <a:cs typeface="Cambri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2700" y="9486900"/>
            <a:ext cx="17462500" cy="152400"/>
            <a:chOff x="12700" y="9486900"/>
            <a:chExt cx="17462500" cy="15240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00" y="9486900"/>
              <a:ext cx="17462500" cy="152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2026-02-10T08:09:10Z</dcterms:created>
  <dcterms:modified xsi:type="dcterms:W3CDTF">2026-02-10T08:09:10Z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